
<file path=[Content_Types].xml><?xml version="1.0" encoding="utf-8"?>
<Types xmlns="http://schemas.openxmlformats.org/package/2006/content-types">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slides/slide26.xml" Type="http://schemas.openxmlformats.org/officeDocument/2006/relationships/slide"/><Relationship Id="rId35" Target="slides/slide27.xml" Type="http://schemas.openxmlformats.org/officeDocument/2006/relationships/slide"/><Relationship Id="rId36" Target="slides/slide28.xml" Type="http://schemas.openxmlformats.org/officeDocument/2006/relationships/slide"/><Relationship Id="rId37" Target="slides/slide29.xml" Type="http://schemas.openxmlformats.org/officeDocument/2006/relationships/slide"/><Relationship Id="rId38" Target="slides/slide30.xml" Type="http://schemas.openxmlformats.org/officeDocument/2006/relationships/slide"/><Relationship Id="rId39" Target="slides/slide31.xml" Type="http://schemas.openxmlformats.org/officeDocument/2006/relationships/slide"/><Relationship Id="rId4" Target="slideMasters/slideMaster1.xml" Type="http://schemas.openxmlformats.org/officeDocument/2006/relationships/slideMaster"/><Relationship Id="rId40" Target="slides/slide32.xml" Type="http://schemas.openxmlformats.org/officeDocument/2006/relationships/slide"/><Relationship Id="rId41" Target="slides/slide33.xml" Type="http://schemas.openxmlformats.org/officeDocument/2006/relationships/slide"/><Relationship Id="rId42" Target="slides/slide34.xml" Type="http://schemas.openxmlformats.org/officeDocument/2006/relationships/slide"/><Relationship Id="rId43" Target="slides/slide35.xml" Type="http://schemas.openxmlformats.org/officeDocument/2006/relationships/slide"/><Relationship Id="rId44" Target="slides/slide36.xml" Type="http://schemas.openxmlformats.org/officeDocument/2006/relationships/slide"/><Relationship Id="rId45" Target="slides/slide37.xml" Type="http://schemas.openxmlformats.org/officeDocument/2006/relationships/slide"/><Relationship Id="rId46" Target="slides/slide38.xml" Type="http://schemas.openxmlformats.org/officeDocument/2006/relationships/slide"/><Relationship Id="rId47" Target="slides/slide39.xml" Type="http://schemas.openxmlformats.org/officeDocument/2006/relationships/slide"/><Relationship Id="rId48" Target="slides/slide40.xml" Type="http://schemas.openxmlformats.org/officeDocument/2006/relationships/slide"/><Relationship Id="rId49" Target="slides/slide41.xml" Type="http://schemas.openxmlformats.org/officeDocument/2006/relationships/slide"/><Relationship Id="rId50" Target="slides/slide42.xml" Type="http://schemas.openxmlformats.org/officeDocument/2006/relationships/slide"/><Relationship Id="rId51" Target="slides/slide43.xml" Type="http://schemas.openxmlformats.org/officeDocument/2006/relationships/slide"/><Relationship Id="rId52" Target="notesSlides/notesSlide1.xml" Type="http://schemas.openxmlformats.org/officeDocument/2006/relationships/notesSlide"/><Relationship Id="rId53" Target="notesSlides/notesSlide2.xml" Type="http://schemas.openxmlformats.org/officeDocument/2006/relationships/notesSlide"/><Relationship Id="rId54" Target="notesSlides/notesSlide3.xml" Type="http://schemas.openxmlformats.org/officeDocument/2006/relationships/notesSlide"/><Relationship Id="rId55" Target="notesSlides/notesSlide4.xml" Type="http://schemas.openxmlformats.org/officeDocument/2006/relationships/notesSlide"/><Relationship Id="rId56" Target="notesSlides/notesSlide5.xml" Type="http://schemas.openxmlformats.org/officeDocument/2006/relationships/notesSlide"/><Relationship Id="rId57" Target="notesSlides/notesSlide6.xml" Type="http://schemas.openxmlformats.org/officeDocument/2006/relationships/notesSlide"/><Relationship Id="rId58" Target="notesSlides/notesSlide7.xml" Type="http://schemas.openxmlformats.org/officeDocument/2006/relationships/notesSlide"/><Relationship Id="rId59" Target="notesSlides/notesSlide8.xml" Type="http://schemas.openxmlformats.org/officeDocument/2006/relationships/notesSlide"/><Relationship Id="rId6" Target="notesMasters/notesMaster1.xml" Type="http://schemas.openxmlformats.org/officeDocument/2006/relationships/notesMaster"/><Relationship Id="rId60" Target="notesSlides/notesSlide9.xml" Type="http://schemas.openxmlformats.org/officeDocument/2006/relationships/notesSlide"/><Relationship Id="rId61" Target="notesSlides/notesSlide10.xml" Type="http://schemas.openxmlformats.org/officeDocument/2006/relationships/notesSlide"/><Relationship Id="rId62" Target="notesSlides/notesSlide11.xml" Type="http://schemas.openxmlformats.org/officeDocument/2006/relationships/notesSlide"/><Relationship Id="rId63" Target="notesSlides/notesSlide12.xml" Type="http://schemas.openxmlformats.org/officeDocument/2006/relationships/notesSlide"/><Relationship Id="rId64" Target="notesSlides/notesSlide13.xml" Type="http://schemas.openxmlformats.org/officeDocument/2006/relationships/notesSlide"/><Relationship Id="rId65" Target="notesSlides/notesSlide14.xml" Type="http://schemas.openxmlformats.org/officeDocument/2006/relationships/notesSlide"/><Relationship Id="rId66" Target="notesSlides/notesSlide15.xml" Type="http://schemas.openxmlformats.org/officeDocument/2006/relationships/notesSlide"/><Relationship Id="rId67" Target="notesSlides/notesSlide16.xml" Type="http://schemas.openxmlformats.org/officeDocument/2006/relationships/notesSlide"/><Relationship Id="rId68" Target="notesSlides/notesSlide17.xml" Type="http://schemas.openxmlformats.org/officeDocument/2006/relationships/notesSlide"/><Relationship Id="rId69" Target="notesSlides/notesSlide18.xml" Type="http://schemas.openxmlformats.org/officeDocument/2006/relationships/notesSlide"/><Relationship Id="rId7" Target="theme/theme2.xml" Type="http://schemas.openxmlformats.org/officeDocument/2006/relationships/theme"/><Relationship Id="rId70" Target="notesSlides/notesSlide19.xml" Type="http://schemas.openxmlformats.org/officeDocument/2006/relationships/notesSlide"/><Relationship Id="rId71" Target="notesSlides/notesSlide20.xml" Type="http://schemas.openxmlformats.org/officeDocument/2006/relationships/notesSlide"/><Relationship Id="rId72" Target="notesSlides/notesSlide21.xml" Type="http://schemas.openxmlformats.org/officeDocument/2006/relationships/notesSlide"/><Relationship Id="rId73" Target="notesSlides/notesSlide22.xml" Type="http://schemas.openxmlformats.org/officeDocument/2006/relationships/notesSlide"/><Relationship Id="rId74" Target="notesSlides/notesSlide23.xml" Type="http://schemas.openxmlformats.org/officeDocument/2006/relationships/notesSlide"/><Relationship Id="rId75" Target="notesSlides/notesSlide24.xml" Type="http://schemas.openxmlformats.org/officeDocument/2006/relationships/notesSlide"/><Relationship Id="rId76" Target="notesSlides/notesSlide25.xml" Type="http://schemas.openxmlformats.org/officeDocument/2006/relationships/notesSlide"/><Relationship Id="rId77" Target="notesSlides/notesSlide26.xml" Type="http://schemas.openxmlformats.org/officeDocument/2006/relationships/notesSlide"/><Relationship Id="rId78" Target="notesSlides/notesSlide27.xml" Type="http://schemas.openxmlformats.org/officeDocument/2006/relationships/notesSlide"/><Relationship Id="rId79" Target="notesSlides/notesSlide28.xml" Type="http://schemas.openxmlformats.org/officeDocument/2006/relationships/notesSlide"/><Relationship Id="rId8" Target="slideMasters/slideMaster2.xml" Type="http://schemas.openxmlformats.org/officeDocument/2006/relationships/slideMaster"/><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notesSlides/notesSlide32.xml" Type="http://schemas.openxmlformats.org/officeDocument/2006/relationships/notesSlide"/><Relationship Id="rId84" Target="notesSlides/notesSlide33.xml" Type="http://schemas.openxmlformats.org/officeDocument/2006/relationships/notesSlide"/><Relationship Id="rId85" Target="notesSlides/notesSlide34.xml" Type="http://schemas.openxmlformats.org/officeDocument/2006/relationships/notesSlide"/><Relationship Id="rId86" Target="notesSlides/notesSlide35.xml" Type="http://schemas.openxmlformats.org/officeDocument/2006/relationships/notesSlide"/><Relationship Id="rId87" Target="notesSlides/notesSlide36.xml" Type="http://schemas.openxmlformats.org/officeDocument/2006/relationships/notesSlide"/><Relationship Id="rId88" Target="notesSlides/notesSlide37.xml" Type="http://schemas.openxmlformats.org/officeDocument/2006/relationships/notesSlide"/><Relationship Id="rId89" Target="notesSlides/notesSlide38.xml" Type="http://schemas.openxmlformats.org/officeDocument/2006/relationships/notesSlide"/><Relationship Id="rId9" Target="slides/slide1.xml" Type="http://schemas.openxmlformats.org/officeDocument/2006/relationships/slide"/><Relationship Id="rId90" Target="notesSlides/notesSlide39.xml" Type="http://schemas.openxmlformats.org/officeDocument/2006/relationships/notesSlide"/><Relationship Id="rId91" Target="notesSlides/notesSlide40.xml" Type="http://schemas.openxmlformats.org/officeDocument/2006/relationships/notesSlide"/><Relationship Id="rId92" Target="notesSlides/notesSlide41.xml" Type="http://schemas.openxmlformats.org/officeDocument/2006/relationships/notesSlide"/><Relationship Id="rId93" Target="notesSlides/notesSlide42.xml" Type="http://schemas.openxmlformats.org/officeDocument/2006/relationships/notesSlide"/><Relationship Id="rId94" Target="notesSlides/notesSlide43.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MelBeacon灯塔系统的封面页。设计采用了深蓝色与金色的经典商务配色，左侧通过几何图形构建了抽象的“灯塔”视觉符号，象征指引与方向；右侧排版严谨大气，突出了核心主题。整体风格旨在传达专业、稳重且具有前瞻性的战略形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这是PPT的目录页，采用了简洁清晰的两列布局。</a:t>
            </a:r>
          </a:p>
          <a:p>
            <a:pPr algn="l" marL="0" indent="0">
              <a:lnSpc>
                <a:spcPct val="100000"/>
              </a:lnSpc>
            </a:pPr>
            <a:r>
              <a:rPr lang="en-US" b="false" i="false" strike="noStrike" u="none" sz="1400">
                <a:solidFill>
                  <a:srgbClr val="000000"/>
                </a:solidFill>
              </a:rPr>
              <a:t>页面左侧展示了战略背景、定位和运营架构，这是企业发展的基础支撑；右侧则聚焦于组织、资金和愿景，这是企业可持续发展的保障与指引。</a:t>
            </a:r>
          </a:p>
          <a:p>
            <a:pPr algn="l" marL="0" indent="0">
              <a:lnSpc>
                <a:spcPct val="100000"/>
              </a:lnSpc>
            </a:pPr>
            <a:r>
              <a:rPr lang="en-US" b="false" i="false" strike="noStrike" u="none" sz="1400">
                <a:solidFill>
                  <a:srgbClr val="000000"/>
                </a:solidFill>
              </a:rPr>
              <a:t>设计上使用了深蓝色作为主色调，搭配深灰色文字，营造出专业、稳重的视觉感受。每个章节都配有简短的核心概述，帮助观众快速理解章节内容的重点。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这是第一章的过渡页，主要目的是引出本章的核心主题：战略背景与核心判断。</a:t>
            </a:r>
          </a:p>
          <a:p>
            <a:pPr algn="l" marL="0" indent="0">
              <a:lnSpc>
                <a:spcPct val="100000"/>
              </a:lnSpc>
            </a:pPr>
            <a:r>
              <a:rPr lang="en-US" b="false" i="false" strike="noStrike" u="none" sz="1400">
                <a:solidFill>
                  <a:srgbClr val="000000"/>
                </a:solidFill>
              </a:rPr>
              <a:t>在设计上，采用了深蓝色的商务风格背景，营造出沉稳、专业的氛围。左侧通过巨大的“01”数字和装饰线条强化章节感，右侧则清晰展示了中英文标题和核心引言。</a:t>
            </a:r>
          </a:p>
          <a:p>
            <a:pPr algn="l" marL="0" indent="0">
              <a:lnSpc>
                <a:spcPct val="100000"/>
              </a:lnSpc>
            </a:pPr>
            <a:r>
              <a:rPr lang="en-US" b="false" i="false" strike="noStrike" u="none" sz="1400">
                <a:solidFill>
                  <a:srgbClr val="000000"/>
                </a:solidFill>
              </a:rPr>
              <a:t>本章我们将重点探讨宏观环境的变化、行业的发展周期以及我们对未来趋势的核心判断，这是制定后续战略的基石。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这一页我们重点探讨时代的根本性改变，这是我们调整策略的基石。</a:t>
            </a:r>
          </a:p>
          <a:p>
            <a:pPr algn="l" marL="0" indent="0">
              <a:lnSpc>
                <a:spcPct val="100000"/>
              </a:lnSpc>
            </a:pPr>
            <a:r>
              <a:rPr lang="en-US" b="false" i="false" strike="noStrike" u="none" sz="1400">
                <a:solidFill>
                  <a:srgbClr val="000000"/>
                </a:solidFill>
              </a:rPr>
              <a:t>首先，传统的落地方法已经失效。过去我们依赖的名单邀约、一对一分享、线下聚会等方式，在当下的社会环境中越来越难以为继。因为用户获取信息的方式变了，他们不再被动接受信息，而是有了更多自主选择的路径。</a:t>
            </a:r>
          </a:p>
          <a:p>
            <a:pPr algn="l" marL="0" indent="0">
              <a:lnSpc>
                <a:spcPct val="100000"/>
              </a:lnSpc>
            </a:pPr>
            <a:r>
              <a:rPr lang="en-US" b="false" i="false" strike="noStrike" u="none" sz="1400">
                <a:solidFill>
                  <a:srgbClr val="000000"/>
                </a:solidFill>
              </a:rPr>
              <a:t>其次，过去的“前戏”模式也不足够了。3-5年前，我们通过优质内容和付费社群就能吸引用户，但现在这已经成了基础配置。我们需要围绕“在美乐家赚钱”这个核心，去打造更丰富的“配套设施”，提供超出用户想象的体验和价值，才能真正留住用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这一页我们重点分析竞争环境的结构性改变。</a:t>
            </a:r>
          </a:p>
          <a:p>
            <a:pPr algn="l" marL="0" indent="0">
              <a:lnSpc>
                <a:spcPct val="100000"/>
              </a:lnSpc>
            </a:pPr>
            <a:r>
              <a:rPr lang="en-US" b="false" i="false" strike="noStrike" u="none" sz="1400">
                <a:solidFill>
                  <a:srgbClr val="000000"/>
                </a:solidFill>
              </a:rPr>
              <a:t>首先看上方的两个核心问题：第一，外部环境上，中国大陆完整的全产业链和极高的工业效率，已经抹平了美乐家过去在产品品质和价格上的优势；第二，内部运营上，虽然R3是很好的用户池，但目前的留存和转化率都很低，大家本质上还是在吃老本，没有新的增长点。</a:t>
            </a:r>
          </a:p>
          <a:p>
            <a:pPr algn="l" marL="0" indent="0">
              <a:lnSpc>
                <a:spcPct val="100000"/>
              </a:lnSpc>
            </a:pPr>
            <a:r>
              <a:rPr lang="en-US" b="false" i="false" strike="noStrike" u="none" sz="1400">
                <a:solidFill>
                  <a:srgbClr val="000000"/>
                </a:solidFill>
              </a:rPr>
              <a:t>针对这些问题，我们提出的解决方案在页面下方：必须进行战略升级。核心思路是“以产品和系统为基石，向外构建丰富的生态配套”。就像盖房子一样，核心是地基，但吸引人入住的是周边的商业、娱乐等配套。我们需要引入更多元的内容和体验，这样才能提升用户粘性，最终实现队伍的稳定和快速壮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这一页我们重点探讨当前消费环境的三大核心变化。</a:t>
            </a:r>
          </a:p>
          <a:p>
            <a:pPr algn="l" marL="0" indent="0">
              <a:lnSpc>
                <a:spcPct val="100000"/>
              </a:lnSpc>
            </a:pPr>
            <a:r>
              <a:rPr lang="en-US" b="false" i="false" strike="noStrike" u="none" sz="1400">
                <a:solidFill>
                  <a:srgbClr val="000000"/>
                </a:solidFill>
              </a:rPr>
              <a:t>第一，消费两极分化。现在的市场呈现出绝对理性和绝对冲动并存的状态。短视频带货往往是基于性价比的理性消费，而有信任背书的主播则能激发用户的冲动消费。</a:t>
            </a:r>
          </a:p>
          <a:p>
            <a:pPr algn="l" marL="0" indent="0">
              <a:lnSpc>
                <a:spcPct val="100000"/>
              </a:lnSpc>
            </a:pPr>
            <a:r>
              <a:rPr lang="en-US" b="false" i="false" strike="noStrike" u="none" sz="1400">
                <a:solidFill>
                  <a:srgbClr val="000000"/>
                </a:solidFill>
              </a:rPr>
              <a:t>第二，信任建立难度增大。在互联网上，单纯的口播已经很难建立信任了。用户需要看到真实的人，真实的场景，才能产生信任，进而产生付费行为和社群粘性。</a:t>
            </a:r>
          </a:p>
          <a:p>
            <a:pPr algn="l" marL="0" indent="0">
              <a:lnSpc>
                <a:spcPct val="100000"/>
              </a:lnSpc>
            </a:pPr>
            <a:r>
              <a:rPr lang="en-US" b="false" i="false" strike="noStrike" u="none" sz="1400">
                <a:solidFill>
                  <a:srgbClr val="000000"/>
                </a:solidFill>
              </a:rPr>
              <a:t>第三，AI带来的效率革命。无论是账号运营还是团队管理，AI工具都极大提升了效率，让我们的经营更加系统化和智能化。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这一页我们重点探讨美乐家底层商业逻辑的恒定性。</a:t>
            </a:r>
          </a:p>
          <a:p>
            <a:pPr algn="l" marL="0" indent="0">
              <a:lnSpc>
                <a:spcPct val="100000"/>
              </a:lnSpc>
            </a:pPr>
            <a:r>
              <a:rPr lang="en-US" b="false" i="false" strike="noStrike" u="none" sz="1400">
                <a:solidFill>
                  <a:srgbClr val="000000"/>
                </a:solidFill>
              </a:rPr>
              <a:t>首先看左侧，核心观点非常明确：尽管外部环境发生了翻天覆地的变化，但美乐家的底层逻辑不仅没有失效，反而因为其前瞻性，完美契合了当今的互联网商业趋势。早在37年前，美乐家就确立了会员订阅、直复营销等高度互联网化的模式。</a:t>
            </a:r>
          </a:p>
          <a:p>
            <a:pPr algn="l" marL="0" indent="0">
              <a:lnSpc>
                <a:spcPct val="100000"/>
              </a:lnSpc>
            </a:pPr>
            <a:r>
              <a:rPr lang="en-US" b="false" i="false" strike="noStrike" u="none" sz="1400">
                <a:solidFill>
                  <a:srgbClr val="000000"/>
                </a:solidFill>
              </a:rPr>
              <a:t>再看右侧，我们拆解了系统的五大核心模块：变量、因果链、增强回路、调节回路和滞后效应。在这五个模块中，前四个以及滞后效应的底层逻辑都是恒定不变的，它们构成了系统的基石。</a:t>
            </a:r>
          </a:p>
          <a:p>
            <a:pPr algn="l" marL="0" indent="0">
              <a:lnSpc>
                <a:spcPct val="100000"/>
              </a:lnSpc>
            </a:pPr>
            <a:r>
              <a:rPr lang="en-US" b="false" i="false" strike="noStrike" u="none" sz="1400">
                <a:solidFill>
                  <a:srgbClr val="000000"/>
                </a:solidFill>
              </a:rPr>
              <a:t>唯一需要迭代升级的，是“增强回路”。我们从底部的蓝色区域可以看到，增强回路已经从传统的“影响力商法”，全面升级为“全域IP+善意起心动念+付费筛选+社群递进转化+线下体验闭环”的现代化组合拳，这让系统的增长动力更加强劲和可持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这是第二章的过渡页。这一章我们将重点探讨企业的战略定位以及支撑这一定位的核心方法论。</a:t>
            </a:r>
          </a:p>
          <a:p>
            <a:pPr algn="l" marL="0" indent="0">
              <a:lnSpc>
                <a:spcPct val="100000"/>
              </a:lnSpc>
            </a:pPr>
            <a:r>
              <a:rPr lang="en-US" b="false" i="false" strike="noStrike" u="none" sz="1400">
                <a:solidFill>
                  <a:srgbClr val="000000"/>
                </a:solidFill>
              </a:rPr>
              <a:t>战略定位是企业发展的指南针，决定了我们“做什么”和“不做什么”；而核心方法论则是我们实现战略目标的工具和路径，确保战略能够落地执行。</a:t>
            </a:r>
          </a:p>
          <a:p>
            <a:pPr algn="l" marL="0" indent="0">
              <a:lnSpc>
                <a:spcPct val="100000"/>
              </a:lnSpc>
            </a:pPr>
            <a:r>
              <a:rPr lang="en-US" b="false" i="false" strike="noStrike" u="none" sz="1400">
                <a:solidFill>
                  <a:srgbClr val="000000"/>
                </a:solidFill>
              </a:rPr>
              <a:t>在接下来的内容中，我们将深入分析如何通过科学的方法进行市场洞察、价值提炼，并最终形成指导业务发展的系统性框架。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这一页展示了MelBeacon团队的核心定位声明。</a:t>
            </a:r>
          </a:p>
          <a:p>
            <a:pPr algn="l" marL="0" indent="0">
              <a:lnSpc>
                <a:spcPct val="100000"/>
              </a:lnSpc>
            </a:pPr>
            <a:r>
              <a:rPr lang="en-US" b="false" i="false" strike="noStrike" u="none" sz="1400">
                <a:solidFill>
                  <a:srgbClr val="000000"/>
                </a:solidFill>
              </a:rPr>
              <a:t>首先，在顶部我们拆解了团队名称的含义：Mel代表美乐家的品牌基石，Beacon代表灯塔指引，Peak Team代表巅峰系统的支撑。</a:t>
            </a:r>
          </a:p>
          <a:p>
            <a:pPr algn="l" marL="0" indent="0">
              <a:lnSpc>
                <a:spcPct val="100000"/>
              </a:lnSpc>
            </a:pPr>
            <a:r>
              <a:rPr lang="en-US" b="false" i="false" strike="noStrike" u="none" sz="1400">
                <a:solidFill>
                  <a:srgbClr val="000000"/>
                </a:solidFill>
              </a:rPr>
              <a:t>中部是我们的核心定位：我们不仅仅是在做美乐家的一个团队，而是要打造一套符合中国互联网环境的现代化运营系统。同时，我们致力于在美乐家的产品周围，建造完善的配套设施，让用户体验超出预期。</a:t>
            </a:r>
          </a:p>
          <a:p>
            <a:pPr algn="l" marL="0" indent="0">
              <a:lnSpc>
                <a:spcPct val="100000"/>
              </a:lnSpc>
            </a:pPr>
            <a:r>
              <a:rPr lang="en-US" b="false" i="false" strike="noStrike" u="none" sz="1400">
                <a:solidFill>
                  <a:srgbClr val="000000"/>
                </a:solidFill>
              </a:rPr>
              <a:t>底部的核心洞察来自于对母亲经营历程的观察。这份深刻的共情让我们意识到，个人的热情需要系统化的支撑才能持久，这也是我们整个战略的出发点。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本页重点展示了MelBeacon在核心方法论上对传统模式的五大模块升级。</a:t>
            </a:r>
          </a:p>
          <a:p>
            <a:pPr algn="l" marL="0" indent="0">
              <a:lnSpc>
                <a:spcPct val="100000"/>
              </a:lnSpc>
            </a:pPr>
            <a:r>
              <a:rPr lang="en-US" b="false" i="false" strike="noStrike" u="none" sz="1400">
                <a:solidFill>
                  <a:srgbClr val="000000"/>
                </a:solidFill>
              </a:rPr>
              <a:t>1. 变量重构：从个人社交圈的“点”扩展到全域流量池的“面”，关注活跃度与参与率。</a:t>
            </a:r>
          </a:p>
          <a:p>
            <a:pPr algn="l" marL="0" indent="0">
              <a:lnSpc>
                <a:spcPct val="100000"/>
              </a:lnSpc>
            </a:pPr>
            <a:r>
              <a:rPr lang="en-US" b="false" i="false" strike="noStrike" u="none" sz="1400">
                <a:solidFill>
                  <a:srgbClr val="000000"/>
                </a:solidFill>
              </a:rPr>
              <a:t>2. 因果链路：从简单的“信任-推荐”升级为“价值-筛选-培育-转化”的系统化链路。</a:t>
            </a:r>
          </a:p>
          <a:p>
            <a:pPr algn="l" marL="0" indent="0">
              <a:lnSpc>
                <a:spcPct val="100000"/>
              </a:lnSpc>
            </a:pPr>
            <a:r>
              <a:rPr lang="en-US" b="false" i="false" strike="noStrike" u="none" sz="1400">
                <a:solidFill>
                  <a:srgbClr val="000000"/>
                </a:solidFill>
              </a:rPr>
              <a:t>3. 增强回路：用全域IP和善意起心动念替代单纯的影响力商法，形成可持续的自增长。</a:t>
            </a:r>
          </a:p>
          <a:p>
            <a:pPr algn="l" marL="0" indent="0">
              <a:lnSpc>
                <a:spcPct val="100000"/>
              </a:lnSpc>
            </a:pPr>
            <a:r>
              <a:rPr lang="en-US" b="false" i="false" strike="noStrike" u="none" sz="1400">
                <a:solidFill>
                  <a:srgbClr val="000000"/>
                </a:solidFill>
              </a:rPr>
              <a:t>4. 调节回路：建立了针对躺平和过度核心化的制衡机制，保障团队稳定性。</a:t>
            </a:r>
          </a:p>
          <a:p>
            <a:pPr algn="l" marL="0" indent="0">
              <a:lnSpc>
                <a:spcPct val="100000"/>
              </a:lnSpc>
            </a:pPr>
            <a:r>
              <a:rPr lang="en-US" b="false" i="false" strike="noStrike" u="none" sz="1400">
                <a:solidFill>
                  <a:srgbClr val="000000"/>
                </a:solidFill>
              </a:rPr>
              <a:t>5. 滞后效应：通过核心班底和忠实用户群，突破了传统管道收入见效慢的瓶颈。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这一页我们重点对比了MelBeacon系统与传统美乐家体系的八大核心差异。</a:t>
            </a:r>
          </a:p>
          <a:p>
            <a:pPr algn="l" marL="0" indent="0">
              <a:lnSpc>
                <a:spcPct val="100000"/>
              </a:lnSpc>
            </a:pPr>
            <a:r>
              <a:rPr lang="en-US" b="false" i="false" strike="noStrike" u="none" sz="1400">
                <a:solidFill>
                  <a:srgbClr val="000000"/>
                </a:solidFill>
              </a:rPr>
              <a:t>1. 获客方式上，我们实现了从私域到公域的跨越，利用IP矩阵解决流量瓶颈。</a:t>
            </a:r>
          </a:p>
          <a:p>
            <a:pPr algn="l" marL="0" indent="0">
              <a:lnSpc>
                <a:spcPct val="100000"/>
              </a:lnSpc>
            </a:pPr>
            <a:r>
              <a:rPr lang="en-US" b="false" i="false" strike="noStrike" u="none" sz="1400">
                <a:solidFill>
                  <a:srgbClr val="000000"/>
                </a:solidFill>
              </a:rPr>
              <a:t>2. 信任建立上，通过内容价值输出和付费社群筛选，极大降低了信任成本。</a:t>
            </a:r>
          </a:p>
          <a:p>
            <a:pPr algn="l" marL="0" indent="0">
              <a:lnSpc>
                <a:spcPct val="100000"/>
              </a:lnSpc>
            </a:pPr>
            <a:r>
              <a:rPr lang="en-US" b="false" i="false" strike="noStrike" u="none" sz="1400">
                <a:solidFill>
                  <a:srgbClr val="000000"/>
                </a:solidFill>
              </a:rPr>
              <a:t>3. 在筛选机制上，我们用付费行为自动过滤，锁定高价值用户，提升效率。</a:t>
            </a:r>
          </a:p>
          <a:p>
            <a:pPr algn="l" marL="0" indent="0">
              <a:lnSpc>
                <a:spcPct val="100000"/>
              </a:lnSpc>
            </a:pPr>
            <a:r>
              <a:rPr lang="en-US" b="false" i="false" strike="noStrike" u="none" sz="1400">
                <a:solidFill>
                  <a:srgbClr val="000000"/>
                </a:solidFill>
              </a:rPr>
              <a:t>4. 会员留存和经营者培育方面，我们强调系统化和精细化，注重思维培养而非简单的动作模仿。</a:t>
            </a:r>
          </a:p>
          <a:p>
            <a:pPr algn="l" marL="0" indent="0">
              <a:lnSpc>
                <a:spcPct val="100000"/>
              </a:lnSpc>
            </a:pPr>
            <a:r>
              <a:rPr lang="en-US" b="false" i="false" strike="noStrike" u="none" sz="1400">
                <a:solidFill>
                  <a:srgbClr val="000000"/>
                </a:solidFill>
              </a:rPr>
              <a:t>5. 最终在团队结构和增长模式上，我们实现了从松散到矩阵化、从线性到指数级的跃迁。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这是第三章的过渡页，主题是“核心运营架构”。</a:t>
            </a:r>
          </a:p>
          <a:p>
            <a:pPr algn="l" marL="0" indent="0">
              <a:lnSpc>
                <a:spcPct val="100000"/>
              </a:lnSpc>
            </a:pPr>
            <a:r>
              <a:rPr lang="en-US" b="false" i="false" strike="noStrike" u="none" sz="1400">
                <a:solidFill>
                  <a:srgbClr val="000000"/>
                </a:solidFill>
              </a:rPr>
              <a:t>在这一章节中，我们将深入探讨如何搭建支撑业务发展的核心运营体系。运营架构不仅是流程的梳理，更是资源的整合与效率的提升。</a:t>
            </a:r>
          </a:p>
          <a:p>
            <a:pPr algn="l" marL="0" indent="0">
              <a:lnSpc>
                <a:spcPct val="100000"/>
              </a:lnSpc>
            </a:pPr>
            <a:r>
              <a:rPr lang="en-US" b="false" i="false" strike="noStrike" u="none" sz="1400">
                <a:solidFill>
                  <a:srgbClr val="000000"/>
                </a:solidFill>
              </a:rPr>
              <a:t>我们将从组织架构、流程机制、资源配置以及数据驱动四个维度展开，解析如何构建一个高效、稳健且具备弹性的运营框架，以应对复杂多变的市场环境。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这一页重点展示了我们获客端的核心策略——全域IP垂直矩阵。</a:t>
            </a:r>
          </a:p>
          <a:p>
            <a:pPr algn="l" marL="0" indent="0">
              <a:lnSpc>
                <a:spcPct val="100000"/>
              </a:lnSpc>
            </a:pPr>
            <a:r>
              <a:rPr lang="en-US" b="false" i="false" strike="noStrike" u="none" sz="1400">
                <a:solidFill>
                  <a:srgbClr val="000000"/>
                </a:solidFill>
              </a:rPr>
              <a:t>首先看左侧的战略逻辑。我们彻底摒弃了传统直销“名单邀约+一对一分享”的陈旧模式。利用互联网公域流量，通过内容输出实现规模化获客。更重要的是，内容本身就起到了“信任预筛选”的作用，让认可我们专业价值的用户主动来找我们，极大降低了沟通成本。</a:t>
            </a:r>
          </a:p>
          <a:p>
            <a:pPr algn="l" marL="0" indent="0">
              <a:lnSpc>
                <a:spcPct val="100000"/>
              </a:lnSpc>
            </a:pPr>
            <a:r>
              <a:rPr lang="en-US" b="false" i="false" strike="noStrike" u="none" sz="1400">
                <a:solidFill>
                  <a:srgbClr val="000000"/>
                </a:solidFill>
              </a:rPr>
              <a:t>我们的底层逻辑是“获客无界化”。不依赖地理位置，不依赖你的熟人社交圈，也不依赖烧钱打广告。我们坚信，在互联网时代，“内容即渠道，信任即入口”。</a:t>
            </a:r>
          </a:p>
          <a:p>
            <a:pPr algn="l" marL="0" indent="0">
              <a:lnSpc>
                <a:spcPct val="100000"/>
              </a:lnSpc>
            </a:pPr>
            <a:r>
              <a:rPr lang="en-US" b="false" i="false" strike="noStrike" u="none" sz="1400">
                <a:solidFill>
                  <a:srgbClr val="000000"/>
                </a:solidFill>
              </a:rPr>
              <a:t>再看右侧，我们布局了五大垂直赛道，每一个赛道都由专业的个人IP进行操盘：</a:t>
            </a:r>
          </a:p>
          <a:p>
            <a:pPr algn="l" marL="0" indent="0">
              <a:lnSpc>
                <a:spcPct val="100000"/>
              </a:lnSpc>
            </a:pPr>
            <a:r>
              <a:rPr lang="en-US" b="false" i="false" strike="noStrike" u="none" sz="1400">
                <a:solidFill>
                  <a:srgbClr val="000000"/>
                </a:solidFill>
              </a:rPr>
              <a:t>1. 科学营养学：以营养师身份做科普，建立健康领域的权威。</a:t>
            </a:r>
          </a:p>
          <a:p>
            <a:pPr algn="l" marL="0" indent="0">
              <a:lnSpc>
                <a:spcPct val="100000"/>
              </a:lnSpc>
            </a:pPr>
            <a:r>
              <a:rPr lang="en-US" b="false" i="false" strike="noStrike" u="none" sz="1400">
                <a:solidFill>
                  <a:srgbClr val="000000"/>
                </a:solidFill>
              </a:rPr>
              <a:t>2. 精油芳疗师：主打生活美学和情绪疗愈，吸引追求生活品质的女性用户。</a:t>
            </a:r>
          </a:p>
          <a:p>
            <a:pPr algn="l" marL="0" indent="0">
              <a:lnSpc>
                <a:spcPct val="100000"/>
              </a:lnSpc>
            </a:pPr>
            <a:r>
              <a:rPr lang="en-US" b="false" i="false" strike="noStrike" u="none" sz="1400">
                <a:solidFill>
                  <a:srgbClr val="000000"/>
                </a:solidFill>
              </a:rPr>
              <a:t>3. 美妆护肤专家：做成分党、肤质护理的专业分享，解决用户实际皮肤问题。</a:t>
            </a:r>
          </a:p>
          <a:p>
            <a:pPr algn="l" marL="0" indent="0">
              <a:lnSpc>
                <a:spcPct val="100000"/>
              </a:lnSpc>
            </a:pPr>
            <a:r>
              <a:rPr lang="en-US" b="false" i="false" strike="noStrike" u="none" sz="1400">
                <a:solidFill>
                  <a:srgbClr val="000000"/>
                </a:solidFill>
              </a:rPr>
              <a:t>4. 居家清洁管家：提供环保、高效的家庭清洁方案，切中宝妈群体的痛点。</a:t>
            </a:r>
          </a:p>
          <a:p>
            <a:pPr algn="l" marL="0" indent="0">
              <a:lnSpc>
                <a:spcPct val="100000"/>
              </a:lnSpc>
            </a:pPr>
            <a:r>
              <a:rPr lang="en-US" b="false" i="false" strike="noStrike" u="none" sz="1400">
                <a:solidFill>
                  <a:srgbClr val="000000"/>
                </a:solidFill>
              </a:rPr>
              <a:t>5. 商业知识IP：这是我本人亲自操盘的赛道，通过输出商业思维和认知，吸引高净值的创业者和合作伙伴。</a:t>
            </a:r>
          </a:p>
          <a:p>
            <a:pPr algn="l" marL="0" indent="0">
              <a:lnSpc>
                <a:spcPct val="100000"/>
              </a:lnSpc>
            </a:pPr>
            <a:r>
              <a:rPr lang="en-US" b="false" i="false" strike="noStrike" u="none" sz="1400">
                <a:solidFill>
                  <a:srgbClr val="000000"/>
                </a:solidFill>
              </a:rPr>
              <a:t>所有这些IP在公域运营中，全程不提及美乐家品牌，而是纯粹以个人专业身份建立信任。当信任关系建立后，再进行价值传递，转化率和留存率会非常高。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这一页我们详细解析MelBeacon系统的核心引擎——三层社群递进体系。这是美乐家传统体系中所没有的关键环节。</a:t>
            </a:r>
          </a:p>
          <a:p>
            <a:pPr algn="l" marL="0" indent="0">
              <a:lnSpc>
                <a:spcPct val="100000"/>
              </a:lnSpc>
            </a:pPr>
            <a:r>
              <a:rPr lang="en-US" b="false" i="false" strike="noStrike" u="none" sz="1400">
                <a:solidFill>
                  <a:srgbClr val="000000"/>
                </a:solidFill>
              </a:rPr>
              <a:t>第一层是付费知识社群，周期1个月。我们通过付费门槛进行筛选，建立信任并对齐认知，确保进来的用户都是高意向的。</a:t>
            </a:r>
          </a:p>
          <a:p>
            <a:pPr algn="l" marL="0" indent="0">
              <a:lnSpc>
                <a:spcPct val="100000"/>
              </a:lnSpc>
            </a:pPr>
            <a:r>
              <a:rPr lang="en-US" b="false" i="false" strike="noStrike" u="none" sz="1400">
                <a:solidFill>
                  <a:srgbClr val="000000"/>
                </a:solidFill>
              </a:rPr>
              <a:t>第二层是美乐家会员社群，这是一个长期的过程。重点在于消费习惯的养成和产品忠诚度的建立，这是留存的关键。</a:t>
            </a:r>
          </a:p>
          <a:p>
            <a:pPr algn="l" marL="0" indent="0">
              <a:lnSpc>
                <a:spcPct val="100000"/>
              </a:lnSpc>
            </a:pPr>
            <a:r>
              <a:rPr lang="en-US" b="false" i="false" strike="noStrike" u="none" sz="1400">
                <a:solidFill>
                  <a:srgbClr val="000000"/>
                </a:solidFill>
              </a:rPr>
              <a:t>第三层是经营者培育社群，针对有潜力的会员进行进阶孵化。我们帮助他们完成身份的转变，培育经营者思维，并匹配相应的职能分工。</a:t>
            </a:r>
          </a:p>
          <a:p>
            <a:pPr algn="l" marL="0" indent="0">
              <a:lnSpc>
                <a:spcPct val="100000"/>
              </a:lnSpc>
            </a:pPr>
            <a:r>
              <a:rPr lang="en-US" b="false" i="false" strike="noStrike" u="none" sz="1400">
                <a:solidFill>
                  <a:srgbClr val="000000"/>
                </a:solidFill>
              </a:rPr>
              <a:t>这套体系形成了“筛选-沉淀-孵化”的完整闭环，有效解决了传统模式中留存难、经营者断层的问题。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这一页主要介绍第一层“付费知识社群”的核心策略。</a:t>
            </a:r>
          </a:p>
          <a:p>
            <a:pPr algn="l" marL="0" indent="0">
              <a:lnSpc>
                <a:spcPct val="100000"/>
              </a:lnSpc>
            </a:pPr>
            <a:r>
              <a:rPr lang="en-US" b="false" i="false" strike="noStrike" u="none" sz="1400">
                <a:solidFill>
                  <a:srgbClr val="000000"/>
                </a:solidFill>
              </a:rPr>
              <a:t>左侧我们看到战略定位的三个关键点：信任建立、认知对齐和付费筛选。付费入群不仅仅是为了营收，更是一种高效的筛选机制，能过滤掉低意愿用户，降低后续的沟通成本。核心内容以垂直知识科普打卡为主，通过一个月的高质量交付，建立专业权威。</a:t>
            </a:r>
          </a:p>
          <a:p>
            <a:pPr algn="l" marL="0" indent="0">
              <a:lnSpc>
                <a:spcPct val="100000"/>
              </a:lnSpc>
            </a:pPr>
            <a:r>
              <a:rPr lang="en-US" b="false" i="false" strike="noStrike" u="none" sz="1400">
                <a:solidFill>
                  <a:srgbClr val="000000"/>
                </a:solidFill>
              </a:rPr>
              <a:t>右侧是我们独特的退费机制设计，这也是我们商业模式的亮点。我们设计了三层递进的机制：入群即送宝典，满勤退还一半费用，以及最震撼的“半年试用全额兜底”。这种极致的善意和兜底策略，彻底打消了用户的顾虑，同时也筛选出了真正愿意投入的用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这一页我们深入探讨美乐家会员社群的长期运营策略。</a:t>
            </a:r>
          </a:p>
          <a:p>
            <a:pPr algn="l" marL="0" indent="0">
              <a:lnSpc>
                <a:spcPct val="100000"/>
              </a:lnSpc>
            </a:pPr>
            <a:r>
              <a:rPr lang="en-US" b="false" i="false" strike="noStrike" u="none" sz="1400">
                <a:solidFill>
                  <a:srgbClr val="000000"/>
                </a:solidFill>
              </a:rPr>
              <a:t>首先，我们的核心战略定位非常明确，就是聚焦于“消费习惯养成”、“产品忠诚度建立”以及“会员留存加固”。这是社群存在的根本意义，不仅仅是卖货，更是培养用户的长期使用习惯。</a:t>
            </a:r>
          </a:p>
          <a:p>
            <a:pPr algn="l" marL="0" indent="0">
              <a:lnSpc>
                <a:spcPct val="100000"/>
              </a:lnSpc>
            </a:pPr>
            <a:r>
              <a:rPr lang="en-US" b="false" i="false" strike="noStrike" u="none" sz="1400">
                <a:solidFill>
                  <a:srgbClr val="000000"/>
                </a:solidFill>
              </a:rPr>
              <a:t>为了支撑这个战略，我们提出了“四维驱动”的运营模型：</a:t>
            </a:r>
          </a:p>
          <a:p>
            <a:pPr algn="l" marL="0" indent="0">
              <a:lnSpc>
                <a:spcPct val="100000"/>
              </a:lnSpc>
            </a:pPr>
            <a:r>
              <a:rPr lang="en-US" b="false" i="false" strike="noStrike" u="none" sz="1400">
                <a:solidFill>
                  <a:srgbClr val="000000"/>
                </a:solidFill>
              </a:rPr>
              <a:t>1. 有用：我们提供的是科学的消费指导，帮助用户正确使用产品，而不是空洞的推销。</a:t>
            </a:r>
          </a:p>
          <a:p>
            <a:pPr algn="l" marL="0" indent="0">
              <a:lnSpc>
                <a:spcPct val="100000"/>
              </a:lnSpc>
            </a:pPr>
            <a:r>
              <a:rPr lang="en-US" b="false" i="false" strike="noStrike" u="none" sz="1400">
                <a:solidFill>
                  <a:srgbClr val="000000"/>
                </a:solidFill>
              </a:rPr>
              <a:t>2. 有趣：通过互动让社群活跃起来，增加用户的归属感。</a:t>
            </a:r>
          </a:p>
          <a:p>
            <a:pPr algn="l" marL="0" indent="0">
              <a:lnSpc>
                <a:spcPct val="100000"/>
              </a:lnSpc>
            </a:pPr>
            <a:r>
              <a:rPr lang="en-US" b="false" i="false" strike="noStrike" u="none" sz="1400">
                <a:solidFill>
                  <a:srgbClr val="000000"/>
                </a:solidFill>
              </a:rPr>
              <a:t>3. 有温度：关注用户的个体感受，提供情感连接和人文关怀。</a:t>
            </a:r>
          </a:p>
          <a:p>
            <a:pPr algn="l" marL="0" indent="0">
              <a:lnSpc>
                <a:spcPct val="100000"/>
              </a:lnSpc>
            </a:pPr>
            <a:r>
              <a:rPr lang="en-US" b="false" i="false" strike="noStrike" u="none" sz="1400">
                <a:solidFill>
                  <a:srgbClr val="000000"/>
                </a:solidFill>
              </a:rPr>
              <a:t>4. 有收益：我们严格遵守官方规则，不搞违规促销，确保会员在合规的前提下获得价值，我们的底线是超越95%的回购率。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这一页我们进入第三层，也是进阶阶段的“经营者培育社群”。</a:t>
            </a:r>
          </a:p>
          <a:p>
            <a:pPr algn="l" marL="0" indent="0">
              <a:lnSpc>
                <a:spcPct val="100000"/>
              </a:lnSpc>
            </a:pPr>
            <a:r>
              <a:rPr lang="en-US" b="false" i="false" strike="noStrike" u="none" sz="1400">
                <a:solidFill>
                  <a:srgbClr val="000000"/>
                </a:solidFill>
              </a:rPr>
              <a:t>首先，在战略定位上，我们强调三个核心：一是身份孵化，帮助成员完成从消费者到经营者的认知转变；二是思维培育，建立长期主义的商业思维；三是职能分工，实现人尽其才。</a:t>
            </a:r>
          </a:p>
          <a:p>
            <a:pPr algn="l" marL="0" indent="0">
              <a:lnSpc>
                <a:spcPct val="100000"/>
              </a:lnSpc>
            </a:pPr>
            <a:r>
              <a:rPr lang="en-US" b="false" i="false" strike="noStrike" u="none" sz="1400">
                <a:solidFill>
                  <a:srgbClr val="000000"/>
                </a:solidFill>
              </a:rPr>
              <a:t>我们的核心理念是“认知决定财富”。所以我们不教简单的操作技巧，而是教商业模式、产品经理视角和系统化思维，从根本上提升大家的认知水平。</a:t>
            </a:r>
          </a:p>
          <a:p>
            <a:pPr algn="l" marL="0" indent="0">
              <a:lnSpc>
                <a:spcPct val="100000"/>
              </a:lnSpc>
            </a:pPr>
            <a:r>
              <a:rPr lang="en-US" b="false" i="false" strike="noStrike" u="none" sz="1400">
                <a:solidFill>
                  <a:srgbClr val="000000"/>
                </a:solidFill>
              </a:rPr>
              <a:t>在落地执行上，我们实行精细化的职能分工：</a:t>
            </a:r>
          </a:p>
          <a:p>
            <a:pPr algn="l" marL="0" indent="0">
              <a:lnSpc>
                <a:spcPct val="100000"/>
              </a:lnSpc>
            </a:pPr>
            <a:r>
              <a:rPr lang="en-US" b="false" i="false" strike="noStrike" u="none" sz="1400">
                <a:solidFill>
                  <a:srgbClr val="000000"/>
                </a:solidFill>
              </a:rPr>
              <a:t>1. 公域博主：负责外部流量的获取和价值输出；</a:t>
            </a:r>
          </a:p>
          <a:p>
            <a:pPr algn="l" marL="0" indent="0">
              <a:lnSpc>
                <a:spcPct val="100000"/>
              </a:lnSpc>
            </a:pPr>
            <a:r>
              <a:rPr lang="en-US" b="false" i="false" strike="noStrike" u="none" sz="1400">
                <a:solidFill>
                  <a:srgbClr val="000000"/>
                </a:solidFill>
              </a:rPr>
              <a:t>2. 社群运营：深耕私域，维护用户关系；</a:t>
            </a:r>
          </a:p>
          <a:p>
            <a:pPr algn="l" marL="0" indent="0">
              <a:lnSpc>
                <a:spcPct val="100000"/>
              </a:lnSpc>
            </a:pPr>
            <a:r>
              <a:rPr lang="en-US" b="false" i="false" strike="noStrike" u="none" sz="1400">
                <a:solidFill>
                  <a:srgbClr val="000000"/>
                </a:solidFill>
              </a:rPr>
              <a:t>3. 线下活动运营：通过线下活动深化信任；</a:t>
            </a:r>
          </a:p>
          <a:p>
            <a:pPr algn="l" marL="0" indent="0">
              <a:lnSpc>
                <a:spcPct val="100000"/>
              </a:lnSpc>
            </a:pPr>
            <a:r>
              <a:rPr lang="en-US" b="false" i="false" strike="noStrike" u="none" sz="1400">
                <a:solidFill>
                  <a:srgbClr val="000000"/>
                </a:solidFill>
              </a:rPr>
              <a:t>4. 物料内容制作：提供专业的内容和工具支持。</a:t>
            </a:r>
          </a:p>
          <a:p>
            <a:pPr algn="l" marL="0" indent="0">
              <a:lnSpc>
                <a:spcPct val="100000"/>
              </a:lnSpc>
            </a:pPr>
            <a:r>
              <a:rPr lang="en-US" b="false" i="false" strike="noStrike" u="none" sz="1400">
                <a:solidFill>
                  <a:srgbClr val="000000"/>
                </a:solidFill>
              </a:rPr>
              <a:t>每个人都可以根据自己的兴趣和特长找到位置，不再需要做全能型选手，而是通过团队协作实现共赢。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这一页我们深入探讨线下体验端的三层体验体系。</a:t>
            </a:r>
          </a:p>
          <a:p>
            <a:pPr algn="l" marL="0" indent="0">
              <a:lnSpc>
                <a:spcPct val="100000"/>
              </a:lnSpc>
            </a:pPr>
            <a:r>
              <a:rPr lang="en-US" b="false" i="false" strike="noStrike" u="none" sz="1400">
                <a:solidFill>
                  <a:srgbClr val="000000"/>
                </a:solidFill>
              </a:rPr>
              <a:t>首先，核心观点是：线下体验不再仅仅是新零售的“体验式特征”，而是承载了用户激活、价值感知、全域管控这三个截然不同的战略功能。</a:t>
            </a:r>
          </a:p>
          <a:p>
            <a:pPr algn="l" marL="0" indent="0">
              <a:lnSpc>
                <a:spcPct val="100000"/>
              </a:lnSpc>
            </a:pPr>
            <a:r>
              <a:rPr lang="en-US" b="false" i="false" strike="noStrike" u="none" sz="1400">
                <a:solidFill>
                  <a:srgbClr val="000000"/>
                </a:solidFill>
              </a:rPr>
              <a:t>第一层是“经营动机引发”。我们强调“会员竞争参加，而非被邀请经营”。通过设计具有竞技性和互动性的活动，让会员从被动接受服务转变为主动参与，甚至经营自己的权益，极大增强了用户粘性。</a:t>
            </a:r>
          </a:p>
          <a:p>
            <a:pPr algn="l" marL="0" indent="0">
              <a:lnSpc>
                <a:spcPct val="100000"/>
              </a:lnSpc>
            </a:pPr>
            <a:r>
              <a:rPr lang="en-US" b="false" i="false" strike="noStrike" u="none" sz="1400">
                <a:solidFill>
                  <a:srgbClr val="000000"/>
                </a:solidFill>
              </a:rPr>
              <a:t>第二层是“产品深度体验”。这是按产品类型定制的场景化空间。我们打破了传统的货架陈列，让用户在真实的生活场景中去试用、感受产品，从而深度理解产品的价值。</a:t>
            </a:r>
          </a:p>
          <a:p>
            <a:pPr algn="l" marL="0" indent="0">
              <a:lnSpc>
                <a:spcPct val="100000"/>
              </a:lnSpc>
            </a:pPr>
            <a:r>
              <a:rPr lang="en-US" b="false" i="false" strike="noStrike" u="none" sz="1400">
                <a:solidFill>
                  <a:srgbClr val="000000"/>
                </a:solidFill>
              </a:rPr>
              <a:t>第三层是“全域运营中枢”，也就是MelBeacon综合功能空间。它不仅是一个线下店，更是数据采集、物流调度和用户服务的核心节点，起到了连接线上线下、支撑全域业务的关键作用。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这一页我们重点探讨“经营动机引发型活动”的设计逻辑。</a:t>
            </a:r>
          </a:p>
          <a:p>
            <a:pPr algn="l" marL="0" indent="0">
              <a:lnSpc>
                <a:spcPct val="100000"/>
              </a:lnSpc>
            </a:pPr>
            <a:r>
              <a:rPr lang="en-US" b="false" i="false" strike="noStrike" u="none" sz="1400">
                <a:solidFill>
                  <a:srgbClr val="000000"/>
                </a:solidFill>
              </a:rPr>
              <a:t>首先看顶部的战略背景。传统模式的痛点非常明显：经营者往往处于“求着会员”的被动地位，这不仅效率低，更损害了经营者的价值感。我们的战略反转在于：把“了解经营机会”包装成稀缺资源，变被动推销为主动吸引。</a:t>
            </a:r>
          </a:p>
          <a:p>
            <a:pPr algn="l" marL="0" indent="0">
              <a:lnSpc>
                <a:spcPct val="100000"/>
              </a:lnSpc>
            </a:pPr>
            <a:r>
              <a:rPr lang="en-US" b="false" i="false" strike="noStrike" u="none" sz="1400">
                <a:solidFill>
                  <a:srgbClr val="000000"/>
                </a:solidFill>
              </a:rPr>
              <a:t>底部展示了我们具体的四大活动矩阵：</a:t>
            </a:r>
          </a:p>
          <a:p>
            <a:pPr algn="l" marL="0" indent="0">
              <a:lnSpc>
                <a:spcPct val="100000"/>
              </a:lnSpc>
            </a:pPr>
            <a:r>
              <a:rPr lang="en-US" b="false" i="false" strike="noStrike" u="none" sz="1400">
                <a:solidFill>
                  <a:srgbClr val="000000"/>
                </a:solidFill>
              </a:rPr>
              <a:t>1. 经营者闭门圆桌：通过高门槛筛选，让高意向用户近距离接触真实的成功案例。</a:t>
            </a:r>
          </a:p>
          <a:p>
            <a:pPr algn="l" marL="0" indent="0">
              <a:lnSpc>
                <a:spcPct val="100000"/>
              </a:lnSpc>
            </a:pPr>
            <a:r>
              <a:rPr lang="en-US" b="false" i="false" strike="noStrike" u="none" sz="1400">
                <a:solidFill>
                  <a:srgbClr val="000000"/>
                </a:solidFill>
              </a:rPr>
              <a:t>2. 一日经营者体验：让用户亲身参与，消除对经营的陌生感和畏惧感。</a:t>
            </a:r>
          </a:p>
          <a:p>
            <a:pPr algn="l" marL="0" indent="0">
              <a:lnSpc>
                <a:spcPct val="100000"/>
              </a:lnSpc>
            </a:pPr>
            <a:r>
              <a:rPr lang="en-US" b="false" i="false" strike="noStrike" u="none" sz="1400">
                <a:solidFill>
                  <a:srgbClr val="000000"/>
                </a:solidFill>
              </a:rPr>
              <a:t>3. 事业拆解分享会：利用稀缺名额，系统化地输出专业知识，建立信任。</a:t>
            </a:r>
          </a:p>
          <a:p>
            <a:pPr algn="l" marL="0" indent="0">
              <a:lnSpc>
                <a:spcPct val="100000"/>
              </a:lnSpc>
            </a:pPr>
            <a:r>
              <a:rPr lang="en-US" b="false" i="false" strike="noStrike" u="none" sz="1400">
                <a:solidFill>
                  <a:srgbClr val="000000"/>
                </a:solidFill>
              </a:rPr>
              <a:t>4. FTT挑战观摩团：通过实地观摩，用氛围和实力感染用户，激发他们的成就动机。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这一页展示了第二层“产品深度体验馆”的核心规划，我们通过场景化的空间设计，将产品与用户需求深度结合。</a:t>
            </a:r>
          </a:p>
          <a:p>
            <a:pPr algn="l" marL="0" indent="0">
              <a:lnSpc>
                <a:spcPct val="100000"/>
              </a:lnSpc>
            </a:pPr>
            <a:r>
              <a:rPr lang="en-US" b="false" i="false" strike="noStrike" u="none" sz="1400">
                <a:solidFill>
                  <a:srgbClr val="000000"/>
                </a:solidFill>
              </a:rPr>
              <a:t>1. 香氛与精油体验馆：聚焦女性用户，通过DIY和课程建立情感连接。</a:t>
            </a:r>
          </a:p>
          <a:p>
            <a:pPr algn="l" marL="0" indent="0">
              <a:lnSpc>
                <a:spcPct val="100000"/>
              </a:lnSpc>
            </a:pPr>
            <a:r>
              <a:rPr lang="en-US" b="false" i="false" strike="noStrike" u="none" sz="1400">
                <a:solidFill>
                  <a:srgbClr val="000000"/>
                </a:solidFill>
              </a:rPr>
              <a:t>2. 美妆护肤科技体验馆：利用科技手段提供专业检测，吸引抗衰需求的成熟用户。</a:t>
            </a:r>
          </a:p>
          <a:p>
            <a:pPr algn="l" marL="0" indent="0">
              <a:lnSpc>
                <a:spcPct val="100000"/>
              </a:lnSpc>
            </a:pPr>
            <a:r>
              <a:rPr lang="en-US" b="false" i="false" strike="noStrike" u="none" sz="1400">
                <a:solidFill>
                  <a:srgbClr val="000000"/>
                </a:solidFill>
              </a:rPr>
              <a:t>3. 健康生活与运动营养馆：覆盖全性别用户，提供科学的营养与运动方案。</a:t>
            </a:r>
          </a:p>
          <a:p>
            <a:pPr algn="l" marL="0" indent="0">
              <a:lnSpc>
                <a:spcPct val="100000"/>
              </a:lnSpc>
            </a:pPr>
            <a:r>
              <a:rPr lang="en-US" b="false" i="false" strike="noStrike" u="none" sz="1400">
                <a:solidFill>
                  <a:srgbClr val="000000"/>
                </a:solidFill>
              </a:rPr>
              <a:t>4. 居家清洁与生活美学馆：以家庭为单位，展示清洁产品的实际效能与生活美学。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这一页展示了MelBeacon的核心——第三层运营中枢。</a:t>
            </a:r>
          </a:p>
          <a:p>
            <a:pPr algn="l" marL="0" indent="0">
              <a:lnSpc>
                <a:spcPct val="100000"/>
              </a:lnSpc>
            </a:pPr>
            <a:r>
              <a:rPr lang="en-US" b="false" i="false" strike="noStrike" u="none" sz="1400">
                <a:solidFill>
                  <a:srgbClr val="000000"/>
                </a:solidFill>
              </a:rPr>
              <a:t>我们首先明确了它的战略定位：它不是传统的办公室，而是整个灯塔系统的“总部”，承载了决策、学习、社交、创作和体验五大核心功能。</a:t>
            </a:r>
          </a:p>
          <a:p>
            <a:pPr algn="l" marL="0" indent="0">
              <a:lnSpc>
                <a:spcPct val="100000"/>
              </a:lnSpc>
            </a:pPr>
            <a:r>
              <a:rPr lang="en-US" b="false" i="false" strike="noStrike" u="none" sz="1400">
                <a:solidFill>
                  <a:srgbClr val="000000"/>
                </a:solidFill>
              </a:rPr>
              <a:t>在功能区的设计上，我们非常注重场景化和实用性：</a:t>
            </a:r>
          </a:p>
          <a:p>
            <a:pPr algn="l" marL="0" indent="0">
              <a:lnSpc>
                <a:spcPct val="100000"/>
              </a:lnSpc>
            </a:pPr>
            <a:r>
              <a:rPr lang="en-US" b="false" i="false" strike="noStrike" u="none" sz="1400">
                <a:solidFill>
                  <a:srgbClr val="000000"/>
                </a:solidFill>
              </a:rPr>
              <a:t>1. 会议与培训空间：解决了团队规模化沟通的需求。</a:t>
            </a:r>
          </a:p>
          <a:p>
            <a:pPr algn="l" marL="0" indent="0">
              <a:lnSpc>
                <a:spcPct val="100000"/>
              </a:lnSpc>
            </a:pPr>
            <a:r>
              <a:rPr lang="en-US" b="false" i="false" strike="noStrike" u="none" sz="1400">
                <a:solidFill>
                  <a:srgbClr val="000000"/>
                </a:solidFill>
              </a:rPr>
              <a:t>2. 阅读与学习区：为伙伴提供了知识沉淀的场所。</a:t>
            </a:r>
          </a:p>
          <a:p>
            <a:pPr algn="l" marL="0" indent="0">
              <a:lnSpc>
                <a:spcPct val="100000"/>
              </a:lnSpc>
            </a:pPr>
            <a:r>
              <a:rPr lang="en-US" b="false" i="false" strike="noStrike" u="none" sz="1400">
                <a:solidFill>
                  <a:srgbClr val="000000"/>
                </a:solidFill>
              </a:rPr>
              <a:t>3. 饮品甜品吧台：用我们自己的产品创造轻松的社交氛围。</a:t>
            </a:r>
          </a:p>
          <a:p>
            <a:pPr algn="l" marL="0" indent="0">
              <a:lnSpc>
                <a:spcPct val="100000"/>
              </a:lnSpc>
            </a:pPr>
            <a:r>
              <a:rPr lang="en-US" b="false" i="false" strike="noStrike" u="none" sz="1400">
                <a:solidFill>
                  <a:srgbClr val="000000"/>
                </a:solidFill>
              </a:rPr>
              <a:t>4. 内容创作中心：为内容团队提供专业支持，确保高质量内容输出。</a:t>
            </a:r>
          </a:p>
          <a:p>
            <a:pPr algn="l" marL="0" indent="0">
              <a:lnSpc>
                <a:spcPct val="100000"/>
              </a:lnSpc>
            </a:pPr>
            <a:r>
              <a:rPr lang="en-US" b="false" i="false" strike="noStrike" u="none" sz="1400">
                <a:solidFill>
                  <a:srgbClr val="000000"/>
                </a:solidFill>
              </a:rPr>
              <a:t>5. 场景化产品体验墙：让访客身临其境感受产品价值。</a:t>
            </a:r>
          </a:p>
          <a:p>
            <a:pPr algn="l" marL="0" indent="0">
              <a:lnSpc>
                <a:spcPct val="100000"/>
              </a:lnSpc>
            </a:pPr>
            <a:r>
              <a:rPr lang="en-US" b="false" i="false" strike="noStrike" u="none" sz="1400">
                <a:solidFill>
                  <a:srgbClr val="000000"/>
                </a:solidFill>
              </a:rPr>
              <a:t>右侧的战略价值部分，我们强调了实体空间带来的心理认同，以及它作为线下转化和信任建立的关键锚点作用。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这一页我们对线下体验的战略闭环进行总结。</a:t>
            </a:r>
          </a:p>
          <a:p>
            <a:pPr algn="l" marL="0" indent="0">
              <a:lnSpc>
                <a:spcPct val="100000"/>
              </a:lnSpc>
            </a:pPr>
            <a:r>
              <a:rPr lang="en-US" b="false" i="false" strike="noStrike" u="none" sz="1400">
                <a:solidFill>
                  <a:srgbClr val="000000"/>
                </a:solidFill>
              </a:rPr>
              <a:t>核心观点非常明确：我们通过三层线下体验，分别对应了筛选经营者、建立产品信任、凝聚团队归属这三个战略目标，成功实现了从“品牌求用户”到“体验吸引用户”的关系逆转。</a:t>
            </a:r>
          </a:p>
          <a:p>
            <a:pPr algn="l" marL="0" indent="0">
              <a:lnSpc>
                <a:spcPct val="100000"/>
              </a:lnSpc>
            </a:pPr>
            <a:r>
              <a:rPr lang="en-US" b="false" i="false" strike="noStrike" u="none" sz="1400">
                <a:solidFill>
                  <a:srgbClr val="000000"/>
                </a:solidFill>
              </a:rPr>
              <a:t>第一，经营动机引发活动，核心是筛选。我们不再是求着会员来，而是让会员主动竞争参与经营，筛选出真正有意愿的伙伴。</a:t>
            </a:r>
          </a:p>
          <a:p>
            <a:pPr algn="l" marL="0" indent="0">
              <a:lnSpc>
                <a:spcPct val="100000"/>
              </a:lnSpc>
            </a:pPr>
            <a:r>
              <a:rPr lang="en-US" b="false" i="false" strike="noStrike" u="none" sz="1400">
                <a:solidFill>
                  <a:srgbClr val="000000"/>
                </a:solidFill>
              </a:rPr>
              <a:t>第二，产品深度体验馆，核心是信任。我们不再是单纯说教产品好，而是让用户亲手触摸、亲身感受，用体验建立忠诚度和口碑。</a:t>
            </a:r>
          </a:p>
          <a:p>
            <a:pPr algn="l" marL="0" indent="0">
              <a:lnSpc>
                <a:spcPct val="100000"/>
              </a:lnSpc>
            </a:pPr>
            <a:r>
              <a:rPr lang="en-US" b="false" i="false" strike="noStrike" u="none" sz="1400">
                <a:solidFill>
                  <a:srgbClr val="000000"/>
                </a:solidFill>
              </a:rPr>
              <a:t>第三，运营中枢空间，核心是归属。我们将线上的虚拟团队落地为实体的事业根据地，让事业更真实，团队更凝聚。</a:t>
            </a:r>
          </a:p>
          <a:p>
            <a:pPr algn="l" marL="0" indent="0">
              <a:lnSpc>
                <a:spcPct val="100000"/>
              </a:lnSpc>
            </a:pPr>
            <a:r>
              <a:rPr lang="en-US" b="false" i="false" strike="noStrike" u="none" sz="1400">
                <a:solidFill>
                  <a:srgbClr val="000000"/>
                </a:solidFill>
              </a:rPr>
              <a:t>总而言之，这三者共同构成了MelBeacon系统的强大配套，以产品和系统为核，用丰富的线下体验作为吸引物，构建了稳固的战略护城河。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这是第四章的过渡页。这一章我们将重点探讨组织架构与流量分配体系。</a:t>
            </a:r>
          </a:p>
          <a:p>
            <a:pPr algn="l" marL="0" indent="0">
              <a:lnSpc>
                <a:spcPct val="100000"/>
              </a:lnSpc>
            </a:pPr>
            <a:r>
              <a:rPr lang="en-US" b="false" i="false" strike="noStrike" u="none" sz="1400">
                <a:solidFill>
                  <a:srgbClr val="000000"/>
                </a:solidFill>
              </a:rPr>
              <a:t>首先，组织架构是业务运转的骨架，我们需要设计出高效协同、权责清晰的架构，确保信息流转顺畅。</a:t>
            </a:r>
          </a:p>
          <a:p>
            <a:pPr algn="l" marL="0" indent="0">
              <a:lnSpc>
                <a:spcPct val="100000"/>
              </a:lnSpc>
            </a:pPr>
            <a:r>
              <a:rPr lang="en-US" b="false" i="false" strike="noStrike" u="none" sz="1400">
                <a:solidFill>
                  <a:srgbClr val="000000"/>
                </a:solidFill>
              </a:rPr>
              <a:t>其次，流量是业务的血液，建立科学的流量分配机制至关重要。我们将通过数据驱动的方式，优化流量调度，让每一份流量价值都得到最大化释放。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这一页我们详细解读MelBeacon系统的四大业务板块及其“组织线源头”的定位。</a:t>
            </a:r>
          </a:p>
          <a:p>
            <a:pPr algn="l" marL="0" indent="0">
              <a:lnSpc>
                <a:spcPct val="100000"/>
              </a:lnSpc>
            </a:pPr>
            <a:r>
              <a:rPr lang="en-US" b="false" i="false" strike="noStrike" u="none" sz="1400">
                <a:solidFill>
                  <a:srgbClr val="000000"/>
                </a:solidFill>
              </a:rPr>
              <a:t>首先，系统由线上线下两大维度、四个核心板块构成，31位核心经营者分别坐镇，各司其职。</a:t>
            </a:r>
          </a:p>
          <a:p>
            <a:pPr algn="l" marL="0" indent="0">
              <a:lnSpc>
                <a:spcPct val="100000"/>
              </a:lnSpc>
            </a:pPr>
            <a:r>
              <a:rPr lang="en-US" b="false" i="false" strike="noStrike" u="none" sz="1400">
                <a:solidFill>
                  <a:srgbClr val="000000"/>
                </a:solidFill>
              </a:rPr>
              <a:t>1. 自媒体博主：作为线上获客端，核心任务是在公域获取流量，建立IP信任，这是系统的“水源”。</a:t>
            </a:r>
          </a:p>
          <a:p>
            <a:pPr algn="l" marL="0" indent="0">
              <a:lnSpc>
                <a:spcPct val="100000"/>
              </a:lnSpc>
            </a:pPr>
            <a:r>
              <a:rPr lang="en-US" b="false" i="false" strike="noStrike" u="none" sz="1400">
                <a:solidFill>
                  <a:srgbClr val="000000"/>
                </a:solidFill>
              </a:rPr>
              <a:t>2. 社群运营：作为线上转化留存端，通过社群的递进运营，完成用户转化和留存，同时孵化新人，这是系统的“蓄水池”。</a:t>
            </a:r>
          </a:p>
          <a:p>
            <a:pPr algn="l" marL="0" indent="0">
              <a:lnSpc>
                <a:spcPct val="100000"/>
              </a:lnSpc>
            </a:pPr>
            <a:r>
              <a:rPr lang="en-US" b="false" i="false" strike="noStrike" u="none" sz="1400">
                <a:solidFill>
                  <a:srgbClr val="000000"/>
                </a:solidFill>
              </a:rPr>
              <a:t>3. 体验馆：作为线下产品体验端，提供沉浸式体验，强化消费动机，生产口碑，这是系统的“信任锚点”。</a:t>
            </a:r>
          </a:p>
          <a:p>
            <a:pPr algn="l" marL="0" indent="0">
              <a:lnSpc>
                <a:spcPct val="100000"/>
              </a:lnSpc>
            </a:pPr>
            <a:r>
              <a:rPr lang="en-US" b="false" i="false" strike="noStrike" u="none" sz="1400">
                <a:solidFill>
                  <a:srgbClr val="000000"/>
                </a:solidFill>
              </a:rPr>
              <a:t>4. 线下活动：作为线下经营筛选端，通过稀缺性活动筛选高意向经营者，凝聚团队，这是系统的“筛选器”。</a:t>
            </a:r>
          </a:p>
          <a:p>
            <a:pPr algn="l" marL="0" indent="0">
              <a:lnSpc>
                <a:spcPct val="100000"/>
              </a:lnSpc>
            </a:pPr>
            <a:r>
              <a:rPr lang="en-US" b="false" i="false" strike="noStrike" u="none" sz="1400">
                <a:solidFill>
                  <a:srgbClr val="000000"/>
                </a:solidFill>
              </a:rPr>
              <a:t>总结来说，线上提供流量的广度和规模，线下提供信任的深度和质量，二者互为因果，缺一不可，共同构建了稳健的商业闭环。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这一页我们详细解读五大职能领域及其对应的岗位职责。</a:t>
            </a:r>
          </a:p>
          <a:p>
            <a:pPr algn="l" marL="0" indent="0">
              <a:lnSpc>
                <a:spcPct val="100000"/>
              </a:lnSpc>
            </a:pPr>
            <a:r>
              <a:rPr lang="en-US" b="false" i="false" strike="noStrike" u="none" sz="1400">
                <a:solidFill>
                  <a:srgbClr val="000000"/>
                </a:solidFill>
              </a:rPr>
              <a:t>核心观点是：系统内的每一位经营者，无论处于什么位置，都可以根据自己的能力和兴趣，在这五大领域中找到适合自己的岗位。</a:t>
            </a:r>
          </a:p>
          <a:p>
            <a:pPr algn="l" marL="0" indent="0">
              <a:lnSpc>
                <a:spcPct val="100000"/>
              </a:lnSpc>
            </a:pPr>
            <a:r>
              <a:rPr lang="en-US" b="false" i="false" strike="noStrike" u="none" sz="1400">
                <a:solidFill>
                  <a:srgbClr val="000000"/>
                </a:solidFill>
              </a:rPr>
              <a:t>1. 自媒体博主团队：这是我们的流量入口，负责对外发声，包括内容创作、视频制作和账号运营等。</a:t>
            </a:r>
          </a:p>
          <a:p>
            <a:pPr algn="l" marL="0" indent="0">
              <a:lnSpc>
                <a:spcPct val="100000"/>
              </a:lnSpc>
            </a:pPr>
            <a:r>
              <a:rPr lang="en-US" b="false" i="false" strike="noStrike" u="none" sz="1400">
                <a:solidFill>
                  <a:srgbClr val="000000"/>
                </a:solidFill>
              </a:rPr>
              <a:t>2. 社群运营团队：这是我们的用户沉淀池，通过精细化的服务和互动，维护用户关系，提升活跃度。</a:t>
            </a:r>
          </a:p>
          <a:p>
            <a:pPr algn="l" marL="0" indent="0">
              <a:lnSpc>
                <a:spcPct val="100000"/>
              </a:lnSpc>
            </a:pPr>
            <a:r>
              <a:rPr lang="en-US" b="false" i="false" strike="noStrike" u="none" sz="1400">
                <a:solidFill>
                  <a:srgbClr val="000000"/>
                </a:solidFill>
              </a:rPr>
              <a:t>3. 体验馆运营团队：这是我们的线下实体触点，提供沉浸式的产品体验，让用户真实感知价值。</a:t>
            </a:r>
          </a:p>
          <a:p>
            <a:pPr algn="l" marL="0" indent="0">
              <a:lnSpc>
                <a:spcPct val="100000"/>
              </a:lnSpc>
            </a:pPr>
            <a:r>
              <a:rPr lang="en-US" b="false" i="false" strike="noStrike" u="none" sz="1400">
                <a:solidFill>
                  <a:srgbClr val="000000"/>
                </a:solidFill>
              </a:rPr>
              <a:t>4. 线下活动运营团队：通过各类活动，增强用户间的链接，提升品牌影响力。</a:t>
            </a:r>
          </a:p>
          <a:p>
            <a:pPr algn="l" marL="0" indent="0">
              <a:lnSpc>
                <a:spcPct val="100000"/>
              </a:lnSpc>
            </a:pPr>
            <a:r>
              <a:rPr lang="en-US" b="false" i="false" strike="noStrike" u="none" sz="1400">
                <a:solidFill>
                  <a:srgbClr val="000000"/>
                </a:solidFill>
              </a:rPr>
              <a:t>5. 运营中枢团队：这是整个系统的大脑，负责战略规划、数据支持和资源协调，确保各团队高效运转。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这一页的核心是介绍我们分配体系的核心理念，即“松弛感下的成长驱动”。</a:t>
            </a:r>
          </a:p>
          <a:p>
            <a:pPr algn="l" marL="0" indent="0">
              <a:lnSpc>
                <a:spcPct val="100000"/>
              </a:lnSpc>
            </a:pPr>
            <a:r>
              <a:rPr lang="en-US" b="false" i="false" strike="noStrike" u="none" sz="1400">
                <a:solidFill>
                  <a:srgbClr val="000000"/>
                </a:solidFill>
              </a:rPr>
              <a:t>首先，左侧展示了我们为什么摒弃高压KPI。因为KPI容易引发焦虑，破坏善意的起心动念，与我们“助人达成目标”的使命相悖。我们提倡的“松弛”并不是放任不管，而是通过正向激励、轻度问责和同伴影响来引导成员自我驱动。</a:t>
            </a:r>
          </a:p>
          <a:p>
            <a:pPr algn="l" marL="0" indent="0">
              <a:lnSpc>
                <a:spcPct val="100000"/>
              </a:lnSpc>
            </a:pPr>
            <a:r>
              <a:rPr lang="en-US" b="false" i="false" strike="noStrike" u="none" sz="1400">
                <a:solidFill>
                  <a:srgbClr val="000000"/>
                </a:solidFill>
              </a:rPr>
              <a:t>我们的核心工具是“成长贡献卡”，通过自评的方式，让成员关注自己的行动、学习和突破，而不是盯着冷冰冰的数字。</a:t>
            </a:r>
          </a:p>
          <a:p>
            <a:pPr algn="l" marL="0" indent="0">
              <a:lnSpc>
                <a:spcPct val="100000"/>
              </a:lnSpc>
            </a:pPr>
            <a:r>
              <a:rPr lang="en-US" b="false" i="false" strike="noStrike" u="none" sz="1400">
                <a:solidFill>
                  <a:srgbClr val="000000"/>
                </a:solidFill>
              </a:rPr>
              <a:t>在右侧，我们展示了具体的三档评定标准：“持续精进”给予1.5倍的权重奖励创新和助人；“踏实前行”是基准，给予1.0倍权重；“需要滋养”则是对暂时状态不佳成员的包容，给予0.5倍权重并提供一对一陪谈支持。</a:t>
            </a:r>
          </a:p>
          <a:p>
            <a:pPr algn="l" marL="0" indent="0">
              <a:lnSpc>
                <a:spcPct val="100000"/>
              </a:lnSpc>
            </a:pPr>
            <a:r>
              <a:rPr lang="en-US" b="false" i="false" strike="noStrike" u="none" sz="1400">
                <a:solidFill>
                  <a:srgbClr val="000000"/>
                </a:solidFill>
              </a:rPr>
              <a:t>最后是我们的柔性问责机制，强调的是恢复和适配，而不是惩罚。即使连续三个月表现不佳，我们也是将其调整至弹性储备末端，依然保留了回归的通道。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本页详细介绍了月度新会员流量分配的核心规则，即ABCD体系。</a:t>
            </a:r>
          </a:p>
          <a:p>
            <a:pPr algn="l" marL="0" indent="0">
              <a:lnSpc>
                <a:spcPct val="100000"/>
              </a:lnSpc>
            </a:pPr>
            <a:r>
              <a:rPr lang="en-US" b="false" i="false" strike="noStrike" u="none" sz="1400">
                <a:solidFill>
                  <a:srgbClr val="000000"/>
                </a:solidFill>
              </a:rPr>
              <a:t>首先看顶部的总分配池结构：我们将流量分为两大部分，博主直推保留30%，这是为了保障博主自身业务的深耕；另外70%纳入系统分配池，面向全体在岗经营者进行普惠分配。</a:t>
            </a:r>
          </a:p>
          <a:p>
            <a:pPr algn="l" marL="0" indent="0">
              <a:lnSpc>
                <a:spcPct val="100000"/>
              </a:lnSpc>
            </a:pPr>
            <a:r>
              <a:rPr lang="en-US" b="false" i="false" strike="noStrike" u="none" sz="1400">
                <a:solidFill>
                  <a:srgbClr val="000000"/>
                </a:solidFill>
              </a:rPr>
              <a:t>再看下方的系统分配池内部构成，我们通过ABCD四类规则进行精细化分配：</a:t>
            </a:r>
          </a:p>
          <a:p>
            <a:pPr algn="l" marL="0" indent="0">
              <a:lnSpc>
                <a:spcPct val="100000"/>
              </a:lnSpc>
            </a:pPr>
            <a:r>
              <a:rPr lang="en-US" b="false" i="false" strike="noStrike" u="none" sz="1400">
                <a:solidFill>
                  <a:srgbClr val="000000"/>
                </a:solidFill>
              </a:rPr>
              <a:t>A类占比50%，是岗位尽职分配，这是流量分配的基石，保障尽责者有饭吃；</a:t>
            </a:r>
          </a:p>
          <a:p>
            <a:pPr algn="l" marL="0" indent="0">
              <a:lnSpc>
                <a:spcPct val="100000"/>
              </a:lnSpc>
            </a:pPr>
            <a:r>
              <a:rPr lang="en-US" b="false" i="false" strike="noStrike" u="none" sz="1400">
                <a:solidFill>
                  <a:srgbClr val="000000"/>
                </a:solidFill>
              </a:rPr>
              <a:t>B类占比20%，是晋升冲刺加权，鼓励大家向上发展；</a:t>
            </a:r>
          </a:p>
          <a:p>
            <a:pPr algn="l" marL="0" indent="0">
              <a:lnSpc>
                <a:spcPct val="100000"/>
              </a:lnSpc>
            </a:pPr>
            <a:r>
              <a:rPr lang="en-US" b="false" i="false" strike="noStrike" u="none" sz="1400">
                <a:solidFill>
                  <a:srgbClr val="000000"/>
                </a:solidFill>
              </a:rPr>
              <a:t>C类占比15%，是自驱努力奖励，谁更努力谁就获得更多；</a:t>
            </a:r>
          </a:p>
          <a:p>
            <a:pPr algn="l" marL="0" indent="0">
              <a:lnSpc>
                <a:spcPct val="100000"/>
              </a:lnSpc>
            </a:pPr>
            <a:r>
              <a:rPr lang="en-US" b="false" i="false" strike="noStrike" u="none" sz="1400">
                <a:solidFill>
                  <a:srgbClr val="000000"/>
                </a:solidFill>
              </a:rPr>
              <a:t>D类占比15%，用于弹性调控和新人扶持，确保生态平衡和新鲜血液的留存。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这一页重点介绍A类分配，即岗位尽职分配。这是我们系统中占比最大的分配池，占系统总分配池的50%，月度流量的35%。</a:t>
            </a:r>
          </a:p>
          <a:p>
            <a:pPr algn="l" marL="0" indent="0">
              <a:lnSpc>
                <a:spcPct val="100000"/>
              </a:lnSpc>
            </a:pPr>
            <a:r>
              <a:rPr lang="en-US" b="false" i="false" strike="noStrike" u="none" sz="1400">
                <a:solidFill>
                  <a:srgbClr val="000000"/>
                </a:solidFill>
              </a:rPr>
              <a:t>核心逻辑非常简单：大家不需要去琢磨怎么经营美乐家，你只需要在你选定的岗位上，比如博主、社群主理人、店长等，做好本职工作。系统会自动根据你的岗位价值，为你分配新会员。</a:t>
            </a:r>
          </a:p>
          <a:p>
            <a:pPr algn="l" marL="0" indent="0">
              <a:lnSpc>
                <a:spcPct val="100000"/>
              </a:lnSpc>
            </a:pPr>
            <a:r>
              <a:rPr lang="en-US" b="false" i="false" strike="noStrike" u="none" sz="1400">
                <a:solidFill>
                  <a:srgbClr val="000000"/>
                </a:solidFill>
              </a:rPr>
              <a:t>右侧是具体的岗位贡献系数，从3.0的博主本人到1.0的基础运营岗，我们根据岗位的重要性和源头价值进行了科学分级。同时，我们设置了最低保障机制，只要你达到“踏实前行”的评定，每个月至少能拿到1个新会员，保证了基础收益的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本页重点介绍B类晋升冲刺加权的分配机制。</a:t>
            </a:r>
          </a:p>
          <a:p>
            <a:pPr algn="l" marL="0" indent="0">
              <a:lnSpc>
                <a:spcPct val="100000"/>
              </a:lnSpc>
            </a:pPr>
            <a:r>
              <a:rPr lang="en-US" b="false" i="false" strike="noStrike" u="none" sz="1400">
                <a:solidFill>
                  <a:srgbClr val="000000"/>
                </a:solidFill>
              </a:rPr>
              <a:t>首先看左侧的核心原则：我们遵循“谁离晋升最近，谁优先”的逻辑。因为在系统中，一个人的晋升往往能带动其深度团队中一串人的成长，形成连锁反应。</a:t>
            </a:r>
          </a:p>
          <a:p>
            <a:pPr algn="l" marL="0" indent="0">
              <a:lnSpc>
                <a:spcPct val="100000"/>
              </a:lnSpc>
            </a:pPr>
            <a:r>
              <a:rPr lang="en-US" b="false" i="false" strike="noStrike" u="none" sz="1400">
                <a:solidFill>
                  <a:srgbClr val="000000"/>
                </a:solidFill>
              </a:rPr>
              <a:t>右侧是具体的优先级排序规则，资源分配会严格按照这个顺序进行，直到B类池用尽：</a:t>
            </a:r>
          </a:p>
          <a:p>
            <a:pPr algn="l" marL="0" indent="0">
              <a:lnSpc>
                <a:spcPct val="100000"/>
              </a:lnSpc>
            </a:pPr>
            <a:r>
              <a:rPr lang="en-US" b="false" i="false" strike="noStrike" u="none" sz="1400">
                <a:solidFill>
                  <a:srgbClr val="000000"/>
                </a:solidFill>
              </a:rPr>
              <a:t>1. 亲推B/D缺口最小：这是最直接的晋升指标，优先满足。</a:t>
            </a:r>
          </a:p>
          <a:p>
            <a:pPr algn="l" marL="0" indent="0">
              <a:lnSpc>
                <a:spcPct val="100000"/>
              </a:lnSpc>
            </a:pPr>
            <a:r>
              <a:rPr lang="en-US" b="false" i="false" strike="noStrike" u="none" sz="1400">
                <a:solidFill>
                  <a:srgbClr val="000000"/>
                </a:solidFill>
              </a:rPr>
              <a:t>2. 消费额缺口最小：补齐业绩短板，是晋升的基础。</a:t>
            </a:r>
          </a:p>
          <a:p>
            <a:pPr algn="l" marL="0" indent="0">
              <a:lnSpc>
                <a:spcPct val="100000"/>
              </a:lnSpc>
            </a:pPr>
            <a:r>
              <a:rPr lang="en-US" b="false" i="false" strike="noStrike" u="none" sz="1400">
                <a:solidFill>
                  <a:srgbClr val="000000"/>
                </a:solidFill>
              </a:rPr>
              <a:t>3. 深度与培育加权：给予深度层级和人才培育者额外权重，鼓励团队深耕。</a:t>
            </a:r>
          </a:p>
          <a:p>
            <a:pPr algn="l" marL="0" indent="0">
              <a:lnSpc>
                <a:spcPct val="100000"/>
              </a:lnSpc>
            </a:pPr>
            <a:r>
              <a:rPr lang="en-US" b="false" i="false" strike="noStrike" u="none" sz="1400">
                <a:solidFill>
                  <a:srgbClr val="000000"/>
                </a:solidFill>
              </a:rPr>
              <a:t>4. 实质进展与关键节点：鼓励有行动、有进展，以及临近关键奖金节点的伙伴，帮助他们快速达成目标。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本页介绍了C类奖励，即自驱努力奖励。这部分奖励占系统分配池的15%，月度总流量的10.5%。</a:t>
            </a:r>
          </a:p>
          <a:p>
            <a:pPr algn="l" marL="0" indent="0">
              <a:lnSpc>
                <a:spcPct val="100000"/>
              </a:lnSpc>
            </a:pPr>
            <a:r>
              <a:rPr lang="en-US" b="false" i="false" strike="noStrike" u="none" sz="1400">
                <a:solidFill>
                  <a:srgbClr val="000000"/>
                </a:solidFill>
              </a:rPr>
              <a:t>核心原则是“主动推荐，加倍回报”。系统不强制要求推荐，但对于主动拓展市场的经营者给予丰厚回报。</a:t>
            </a:r>
          </a:p>
          <a:p>
            <a:pPr algn="l" marL="0" indent="0">
              <a:lnSpc>
                <a:spcPct val="100000"/>
              </a:lnSpc>
            </a:pPr>
            <a:r>
              <a:rPr lang="en-US" b="false" i="false" strike="noStrike" u="none" sz="1400">
                <a:solidFill>
                  <a:srgbClr val="000000"/>
                </a:solidFill>
              </a:rPr>
              <a:t>常规激励包含三个方面：一是推荐即得额外名额；二是连续推荐可永久提升A类贡献系数；三是达成里程碑有一次性加成。</a:t>
            </a:r>
          </a:p>
          <a:p>
            <a:pPr algn="l" marL="0" indent="0">
              <a:lnSpc>
                <a:spcPct val="100000"/>
              </a:lnSpc>
            </a:pPr>
            <a:r>
              <a:rPr lang="en-US" b="false" i="false" strike="noStrike" u="none" sz="1400">
                <a:solidFill>
                  <a:srgbClr val="000000"/>
                </a:solidFill>
              </a:rPr>
              <a:t>特别强调新经营者的首月冲刺，这是对能力和意愿的验证，更重要的是能让他们快速获得收入正反馈，建立信心。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这一页我们重点介绍D类流量分配策略，它占据了系统分配池的15%，月度总流量的10.5%。这部分流量主要用于两个核心目的：</a:t>
            </a:r>
          </a:p>
          <a:p>
            <a:pPr algn="l" marL="0" indent="0">
              <a:lnSpc>
                <a:spcPct val="100000"/>
              </a:lnSpc>
            </a:pPr>
            <a:r>
              <a:rPr lang="en-US" b="false" i="false" strike="noStrike" u="none" sz="1400">
                <a:solidFill>
                  <a:srgbClr val="000000"/>
                </a:solidFill>
              </a:rPr>
              <a:t>首先是左侧的D1新人持续扶持计划，权重占比60%。我们关注新人入职第2-3个月的关键窗口期，每月选拔2-3名潜力新人，给予稳定的流量支持。这不仅是为了帮助新人完成业绩，更是为了帮助他们建立信心，沉淀基础获客能力，降低流失率。</a:t>
            </a:r>
          </a:p>
          <a:p>
            <a:pPr algn="l" marL="0" indent="0">
              <a:lnSpc>
                <a:spcPct val="100000"/>
              </a:lnSpc>
            </a:pPr>
            <a:r>
              <a:rPr lang="en-US" b="false" i="false" strike="noStrike" u="none" sz="1400">
                <a:solidFill>
                  <a:srgbClr val="000000"/>
                </a:solidFill>
              </a:rPr>
              <a:t>其次是右侧的D2战略弹性调配机制，权重占比40%。这部分流量更具灵活性，主要用于：新赛道的冷启动，快速验证市场；承接线下活动的溢出红利；奖励特殊贡献；以及作为合规调控的缓冲池，确保业务安全稳健运行。</a:t>
            </a:r>
          </a:p>
          <a:p>
            <a:pPr algn="l" marL="0" indent="0">
              <a:lnSpc>
                <a:spcPct val="100000"/>
              </a:lnSpc>
            </a:pPr>
            <a:r>
              <a:rPr lang="en-US" b="false" i="false" strike="noStrike" u="none" sz="1400">
                <a:solidFill>
                  <a:srgbClr val="000000"/>
                </a:solidFill>
              </a:rPr>
              <a:t>通过D类的分配，我们实现了组织“造血”（新人扶持）与“活血”（战略弹性）的双重保障。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这一页我们重点讲解分配制度背后的文化建设，主要遵循三大原则：</a:t>
            </a:r>
          </a:p>
          <a:p>
            <a:pPr algn="l" marL="0" indent="0">
              <a:lnSpc>
                <a:spcPct val="100000"/>
              </a:lnSpc>
            </a:pPr>
            <a:r>
              <a:rPr lang="en-US" b="false" i="false" strike="noStrike" u="none" sz="1400">
                <a:solidFill>
                  <a:srgbClr val="000000"/>
                </a:solidFill>
              </a:rPr>
              <a:t>1. 透明规则，不透明个人：我们将规则、系数、总量全部公开，让大家看到努力的方向；但严格保护个人隐私，不公开具体金额和档位，减少内部攀比，保护伙伴关系。</a:t>
            </a:r>
          </a:p>
          <a:p>
            <a:pPr algn="l" marL="0" indent="0">
              <a:lnSpc>
                <a:spcPct val="100000"/>
              </a:lnSpc>
            </a:pPr>
            <a:r>
              <a:rPr lang="en-US" b="false" i="false" strike="noStrike" u="none" sz="1400">
                <a:solidFill>
                  <a:srgbClr val="000000"/>
                </a:solidFill>
              </a:rPr>
              <a:t>2. 杜绝“等分配”心态：通过C类自驱奖励的设计，打破大锅饭。合格者有保障，优秀者有超额，鼓励大家在做好本职的基础上主动拓展，实现“松弛但不躺平”的健康状态。</a:t>
            </a:r>
          </a:p>
          <a:p>
            <a:pPr algn="l" marL="0" indent="0">
              <a:lnSpc>
                <a:spcPct val="100000"/>
              </a:lnSpc>
            </a:pPr>
            <a:r>
              <a:rPr lang="en-US" b="false" i="false" strike="noStrike" u="none" sz="1400">
                <a:solidFill>
                  <a:srgbClr val="000000"/>
                </a:solidFill>
              </a:rPr>
              <a:t>3. 鼓励深度培育：我们在B类和C类分配中都设置了明确的加权机制，鼓励大家去培养深度人才。这符合美乐家“宽5深7”的底层逻辑，确保团队不是浮在表面，而是有扎实的深度根基。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这一页我们重点讲解组织成长的五个关键阶段，这是一个从0到31人的自然涌现过程。</a:t>
            </a:r>
          </a:p>
          <a:p>
            <a:pPr algn="l" marL="0" indent="0">
              <a:lnSpc>
                <a:spcPct val="100000"/>
              </a:lnSpc>
            </a:pPr>
            <a:r>
              <a:rPr lang="en-US" b="false" i="false" strike="noStrike" u="none" sz="1400">
                <a:solidFill>
                  <a:srgbClr val="000000"/>
                </a:solidFill>
              </a:rPr>
              <a:t>第一阶段是“创始人单核验证期”。这个阶段创始人必须亲力亲为，跑通闭环，这是最好的教材。</a:t>
            </a:r>
          </a:p>
          <a:p>
            <a:pPr algn="l" marL="0" indent="0">
              <a:lnSpc>
                <a:spcPct val="100000"/>
              </a:lnSpc>
            </a:pPr>
            <a:r>
              <a:rPr lang="en-US" b="false" i="false" strike="noStrike" u="none" sz="1400">
                <a:solidFill>
                  <a:srgbClr val="000000"/>
                </a:solidFill>
              </a:rPr>
              <a:t>第二阶段是“核心经营者涌现”。我们要从社群中筛选种子选手，一对一陪跑，完成第一个核心的孵化。</a:t>
            </a:r>
          </a:p>
          <a:p>
            <a:pPr algn="l" marL="0" indent="0">
              <a:lnSpc>
                <a:spcPct val="100000"/>
              </a:lnSpc>
            </a:pPr>
            <a:r>
              <a:rPr lang="en-US" b="false" i="false" strike="noStrike" u="none" sz="1400">
                <a:solidFill>
                  <a:srgbClr val="000000"/>
                </a:solidFill>
              </a:rPr>
              <a:t>第三阶段是“小团队成形”。3-5人的核心团队，职能分工开始明确，规则开始制度化。</a:t>
            </a:r>
          </a:p>
          <a:p>
            <a:pPr algn="l" marL="0" indent="0">
              <a:lnSpc>
                <a:spcPct val="100000"/>
              </a:lnSpc>
            </a:pPr>
            <a:r>
              <a:rPr lang="en-US" b="false" i="false" strike="noStrike" u="none" sz="1400">
                <a:solidFill>
                  <a:srgbClr val="000000"/>
                </a:solidFill>
              </a:rPr>
              <a:t>第四阶段是“矩阵化扩展”。核心成员达到10人以上，形成十三钗雏形，批量复制SD。</a:t>
            </a:r>
          </a:p>
          <a:p>
            <a:pPr algn="l" marL="0" indent="0">
              <a:lnSpc>
                <a:spcPct val="100000"/>
              </a:lnSpc>
            </a:pPr>
            <a:r>
              <a:rPr lang="en-US" b="false" i="false" strike="noStrike" u="none" sz="1400">
                <a:solidFill>
                  <a:srgbClr val="000000"/>
                </a:solidFill>
              </a:rPr>
              <a:t>第五阶段是“完整矩阵生态”。系统半自动化，多层网络形成，实现ND到PD的跨越。</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各位好，这一页是第五章的过渡页。在前面的章节中，我们详细探讨了产品、市场和运营策略。现在进入第五章，我们将聚焦于项目的核心——收入模型与资金策略。</a:t>
            </a:r>
          </a:p>
          <a:p>
            <a:pPr algn="l" marL="0" indent="0">
              <a:lnSpc>
                <a:spcPct val="100000"/>
              </a:lnSpc>
            </a:pPr>
            <a:r>
              <a:rPr lang="en-US" b="false" i="false" strike="noStrike" u="none" sz="1400">
                <a:solidFill>
                  <a:srgbClr val="000000"/>
                </a:solidFill>
              </a:rPr>
              <a:t>这一章节将重点回答两个关键问题：第一，我们如何赚钱？即构建可持续的收入模型；第二，我们如何管钱？即制定稳健的资金规划与风险控制策略。这是保障项目生存和长远发展的基石。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这一页我们重点解读项目的两大核心收入来源，它们共同构成了稳健的商业闭环。</a:t>
            </a:r>
          </a:p>
          <a:p>
            <a:pPr algn="l" marL="0" indent="0">
              <a:lnSpc>
                <a:spcPct val="100000"/>
              </a:lnSpc>
            </a:pPr>
            <a:r>
              <a:rPr lang="en-US" b="false" i="false" strike="noStrike" u="none" sz="1400">
                <a:solidFill>
                  <a:srgbClr val="000000"/>
                </a:solidFill>
              </a:rPr>
              <a:t>首先看左侧的美乐家佣金，这是我们的核心持续收入。依托美乐家成熟的46阶晋阶体系，从D到PD的晋升路径清晰明确。我们通过构建深度的组织架构，不仅获得直接顾客的基础收入，更能通过矩阵收入实现倍增。同时，还有晋阶奖、培育奖、年终分红等8项额外奖励叠加，为收入增长提供了强大动力。</a:t>
            </a:r>
          </a:p>
          <a:p>
            <a:pPr algn="l" marL="0" indent="0">
              <a:lnSpc>
                <a:spcPct val="100000"/>
              </a:lnSpc>
            </a:pPr>
            <a:r>
              <a:rPr lang="en-US" b="false" i="false" strike="noStrike" u="none" sz="1400">
                <a:solidFill>
                  <a:srgbClr val="000000"/>
                </a:solidFill>
              </a:rPr>
              <a:t>再看右侧的付费社群收入，这是我们的系统运营资金。我们采取“独立核算、专款专用”的原则，承诺“投入多少花多少，每年账面无盈利”。这些资金全部用于自媒体内容产出、社群精细化运营以及线下体验馆的维护。这种模式确保了我们的社群内容始终保持纯粹性，不受短期商业变现压力的干扰，从而赢得用户的长期信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这一页我们详细梳理了六大阶衔晋升的核心门槛，这是业务发展的基石。</a:t>
            </a:r>
          </a:p>
          <a:p>
            <a:pPr algn="l" marL="0" indent="0">
              <a:lnSpc>
                <a:spcPct val="100000"/>
              </a:lnSpc>
            </a:pPr>
            <a:r>
              <a:rPr lang="en-US" b="false" i="false" strike="noStrike" u="none" sz="1400">
                <a:solidFill>
                  <a:srgbClr val="000000"/>
                </a:solidFill>
              </a:rPr>
              <a:t>1. 从D到SD、ED，门槛逐步提升，重点在于亲推B和D的数量积累，以及市场消费额的稳步增长。</a:t>
            </a:r>
          </a:p>
          <a:p>
            <a:pPr algn="l" marL="0" indent="0">
              <a:lnSpc>
                <a:spcPct val="100000"/>
              </a:lnSpc>
            </a:pPr>
            <a:r>
              <a:rPr lang="en-US" b="false" i="false" strike="noStrike" u="none" sz="1400">
                <a:solidFill>
                  <a:srgbClr val="000000"/>
                </a:solidFill>
              </a:rPr>
              <a:t>2. 到了ND和CD阶段，对高阶衔人才的培养成为关键，分别要求亲推SD和ED的数量，这是团队裂变能力的体现。</a:t>
            </a:r>
          </a:p>
          <a:p>
            <a:pPr algn="l" marL="0" indent="0">
              <a:lnSpc>
                <a:spcPct val="100000"/>
              </a:lnSpc>
            </a:pPr>
            <a:r>
              <a:rPr lang="en-US" b="false" i="false" strike="noStrike" u="none" sz="1400">
                <a:solidFill>
                  <a:srgbClr val="000000"/>
                </a:solidFill>
              </a:rPr>
              <a:t>3. 最高阶PD，考核维度转向了综合系数和庞大的市场消费额（960万/月），这代表了顶级的市场运营能力。同时，PD的晋升奖励非常丰厚，包含10%的PEG和650万的现金奖励，极具吸引力。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这一页我们重点强调团队管理中的“负面清单”，也就是我们坚决不做的事情。</a:t>
            </a:r>
          </a:p>
          <a:p>
            <a:pPr algn="l" marL="0" indent="0">
              <a:lnSpc>
                <a:spcPct val="100000"/>
              </a:lnSpc>
            </a:pPr>
            <a:r>
              <a:rPr lang="en-US" b="false" i="false" strike="noStrike" u="none" sz="1400">
                <a:solidFill>
                  <a:srgbClr val="000000"/>
                </a:solidFill>
              </a:rPr>
              <a:t>1. 严守边界：我们团队层面坚决不带货、不卖课。这是为了保持团队的纯粹性，让大家聚焦美乐家主业，不被外部诱惑分散精力。</a:t>
            </a:r>
          </a:p>
          <a:p>
            <a:pPr algn="l" marL="0" indent="0">
              <a:lnSpc>
                <a:spcPct val="100000"/>
              </a:lnSpc>
            </a:pPr>
            <a:r>
              <a:rPr lang="en-US" b="false" i="false" strike="noStrike" u="none" sz="1400">
                <a:solidFill>
                  <a:srgbClr val="000000"/>
                </a:solidFill>
              </a:rPr>
              <a:t>2. 善意初心：新人培训必须免费。这不仅是降低门槛，更是体现我们“助人达成目标”的使命，让伙伴感受到事业的善意。</a:t>
            </a:r>
          </a:p>
          <a:p>
            <a:pPr algn="l" marL="0" indent="0">
              <a:lnSpc>
                <a:spcPct val="100000"/>
              </a:lnSpc>
            </a:pPr>
            <a:r>
              <a:rPr lang="en-US" b="false" i="false" strike="noStrike" u="none" sz="1400">
                <a:solidFill>
                  <a:srgbClr val="000000"/>
                </a:solidFill>
              </a:rPr>
              <a:t>3. 维护秩序：不做任何形式的自主促销。严格遵守公司规则，保护品牌形象，维护公平的价格体系，这是对所有会员的负责。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这是第六章的过渡页，主题是“核心理念与终极愿景”。</a:t>
            </a:r>
          </a:p>
          <a:p>
            <a:pPr algn="l" marL="0" indent="0">
              <a:lnSpc>
                <a:spcPct val="100000"/>
              </a:lnSpc>
            </a:pPr>
            <a:r>
              <a:rPr lang="en-US" b="false" i="false" strike="noStrike" u="none" sz="1400">
                <a:solidFill>
                  <a:srgbClr val="000000"/>
                </a:solidFill>
              </a:rPr>
              <a:t>页面设计采用了深蓝色调，体现沉稳与深邃，契合“核心理念”与“终极愿景”的庄重感。</a:t>
            </a:r>
          </a:p>
          <a:p>
            <a:pPr algn="l" marL="0" indent="0">
              <a:lnSpc>
                <a:spcPct val="100000"/>
              </a:lnSpc>
            </a:pPr>
            <a:r>
              <a:rPr lang="en-US" b="false" i="false" strike="noStrike" u="none" sz="1400">
                <a:solidFill>
                  <a:srgbClr val="000000"/>
                </a:solidFill>
              </a:rPr>
              <a:t>左侧巨大的数字“06”作为视觉引导，强化章节序号；右侧通过层级分明的排版，突出章节主题，并辅以简短的阐述，让观众快速了解本章的核心目的：明确精神内核，锚定未来方向。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这一页我们探讨“利他即增强回路”。</a:t>
            </a:r>
          </a:p>
          <a:p>
            <a:pPr algn="l" marL="0" indent="0">
              <a:lnSpc>
                <a:spcPct val="100000"/>
              </a:lnSpc>
            </a:pPr>
            <a:r>
              <a:rPr lang="en-US" b="false" i="false" strike="noStrike" u="none" sz="1400">
                <a:solidFill>
                  <a:srgbClr val="000000"/>
                </a:solidFill>
              </a:rPr>
              <a:t>首先，请看顶部的这段引用，它揭示了推荐的本质：无论是推荐产品还是推荐事业，都必须带有善意。这种善意体现在希望他人获得健康、平价的产品，以及实现认知的突破和进入BI象限的职业发展。</a:t>
            </a:r>
          </a:p>
          <a:p>
            <a:pPr algn="l" marL="0" indent="0">
              <a:lnSpc>
                <a:spcPct val="100000"/>
              </a:lnSpc>
            </a:pPr>
            <a:r>
              <a:rPr lang="en-US" b="false" i="false" strike="noStrike" u="none" sz="1400">
                <a:solidFill>
                  <a:srgbClr val="000000"/>
                </a:solidFill>
              </a:rPr>
              <a:t>中间部分我们拆解了核心观点：</a:t>
            </a:r>
          </a:p>
          <a:p>
            <a:pPr algn="l" marL="0" indent="0">
              <a:lnSpc>
                <a:spcPct val="100000"/>
              </a:lnSpc>
            </a:pPr>
            <a:r>
              <a:rPr lang="en-US" b="false" i="false" strike="noStrike" u="none" sz="1400">
                <a:solidFill>
                  <a:srgbClr val="000000"/>
                </a:solidFill>
              </a:rPr>
              <a:t>1. 善意的起心动念是行动的原点。我们不是为了利益去推销，而是真心实意地帮助他人解决问题。</a:t>
            </a:r>
          </a:p>
          <a:p>
            <a:pPr algn="l" marL="0" indent="0">
              <a:lnSpc>
                <a:spcPct val="100000"/>
              </a:lnSpc>
            </a:pPr>
            <a:r>
              <a:rPr lang="en-US" b="false" i="false" strike="noStrike" u="none" sz="1400">
                <a:solidFill>
                  <a:srgbClr val="000000"/>
                </a:solidFill>
              </a:rPr>
              <a:t>2. 全域IP与利他结合形成了系统的增强回路。当我们用IP去传播善意，帮助的人越多，IP的影响力就越大；而更大的影响力又能让我们帮助更多的人，从而形成正向循环。</a:t>
            </a:r>
          </a:p>
          <a:p>
            <a:pPr algn="l" marL="0" indent="0">
              <a:lnSpc>
                <a:spcPct val="100000"/>
              </a:lnSpc>
            </a:pPr>
            <a:r>
              <a:rPr lang="en-US" b="false" i="false" strike="noStrike" u="none" sz="1400">
                <a:solidFill>
                  <a:srgbClr val="000000"/>
                </a:solidFill>
              </a:rPr>
              <a:t>最后总结：在这个系统中，我们不需要功利性地盯着结果，只要坚持善意的初心，早晚幸福和成功会来敲门。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这一页我们探讨系统思维的核心：整体大于部分之和。</a:t>
            </a:r>
          </a:p>
          <a:p>
            <a:pPr algn="l" marL="0" indent="0">
              <a:lnSpc>
                <a:spcPct val="100000"/>
              </a:lnSpc>
            </a:pPr>
            <a:r>
              <a:rPr lang="en-US" b="false" i="false" strike="noStrike" u="none" sz="1400">
                <a:solidFill>
                  <a:srgbClr val="000000"/>
                </a:solidFill>
              </a:rPr>
              <a:t>首先，核心观点是：基于关系的商业模式本质上是一种指数思维，它是“时间的朋友”。在传统商业中，我们强调拥有资产；但在新商业时代，拥有关系比拥有资产更重要。</a:t>
            </a:r>
          </a:p>
          <a:p>
            <a:pPr algn="l" marL="0" indent="0">
              <a:lnSpc>
                <a:spcPct val="100000"/>
              </a:lnSpc>
            </a:pPr>
            <a:r>
              <a:rPr lang="en-US" b="false" i="false" strike="noStrike" u="none" sz="1400">
                <a:solidFill>
                  <a:srgbClr val="000000"/>
                </a:solidFill>
              </a:rPr>
              <a:t>左侧我们阐述了新零售完全体的底层逻辑：美乐家以个体为核心资产，注重双向价值流动，配合大数据和深度物流，形成了闭环。同时，制度的简单性决定了它的可行性——零投资、可积累，让普通人也能参与。</a:t>
            </a:r>
          </a:p>
          <a:p>
            <a:pPr algn="l" marL="0" indent="0">
              <a:lnSpc>
                <a:spcPct val="100000"/>
              </a:lnSpc>
            </a:pPr>
            <a:r>
              <a:rPr lang="en-US" b="false" i="false" strike="noStrike" u="none" sz="1400">
                <a:solidFill>
                  <a:srgbClr val="000000"/>
                </a:solidFill>
              </a:rPr>
              <a:t>右侧我们看三个经典案例：</a:t>
            </a:r>
          </a:p>
          <a:p>
            <a:pPr algn="l" marL="0" indent="0">
              <a:lnSpc>
                <a:spcPct val="100000"/>
              </a:lnSpc>
            </a:pPr>
            <a:r>
              <a:rPr lang="en-US" b="false" i="false" strike="noStrike" u="none" sz="1400">
                <a:solidFill>
                  <a:srgbClr val="000000"/>
                </a:solidFill>
              </a:rPr>
              <a:t>1. UBER：全球最大的出租车公司，却不拥有任何一辆车，它只做连接。</a:t>
            </a:r>
          </a:p>
          <a:p>
            <a:pPr algn="l" marL="0" indent="0">
              <a:lnSpc>
                <a:spcPct val="100000"/>
              </a:lnSpc>
            </a:pPr>
            <a:r>
              <a:rPr lang="en-US" b="false" i="false" strike="noStrike" u="none" sz="1400">
                <a:solidFill>
                  <a:srgbClr val="000000"/>
                </a:solidFill>
              </a:rPr>
              <a:t>2. Facebook：全球最热门的媒体，却不拥有内容，它只做平台。</a:t>
            </a:r>
          </a:p>
          <a:p>
            <a:pPr algn="l" marL="0" indent="0">
              <a:lnSpc>
                <a:spcPct val="100000"/>
              </a:lnSpc>
            </a:pPr>
            <a:r>
              <a:rPr lang="en-US" b="false" i="false" strike="noStrike" u="none" sz="1400">
                <a:solidFill>
                  <a:srgbClr val="000000"/>
                </a:solidFill>
              </a:rPr>
              <a:t>3. 美乐家：它更进一步，不仅不拥有传统的重资产，更将用户关系深度绑定，构建了新零售的完全体。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这一页我们深入探讨美乐家去中心化结构下的核心价值。</a:t>
            </a:r>
          </a:p>
          <a:p>
            <a:pPr algn="l" marL="0" indent="0">
              <a:lnSpc>
                <a:spcPct val="100000"/>
              </a:lnSpc>
            </a:pPr>
            <a:r>
              <a:rPr lang="en-US" b="false" i="false" strike="noStrike" u="none" sz="1400">
                <a:solidFill>
                  <a:srgbClr val="000000"/>
                </a:solidFill>
              </a:rPr>
              <a:t>首先看左侧的引用，它揭示了一个核心真相：在去中心化的体系中，每个节点的价值是内生的、沉淀的，不会因为外部环境或层级变化而归零。这是对职业生涯安全感的最大保障。</a:t>
            </a:r>
          </a:p>
          <a:p>
            <a:pPr algn="l" marL="0" indent="0">
              <a:lnSpc>
                <a:spcPct val="100000"/>
              </a:lnSpc>
            </a:pPr>
            <a:r>
              <a:rPr lang="en-US" b="false" i="false" strike="noStrike" u="none" sz="1400">
                <a:solidFill>
                  <a:srgbClr val="000000"/>
                </a:solidFill>
              </a:rPr>
              <a:t>在右侧，我们将其拆解为三个关键点：</a:t>
            </a:r>
          </a:p>
          <a:p>
            <a:pPr algn="l" marL="0" indent="0">
              <a:lnSpc>
                <a:spcPct val="100000"/>
              </a:lnSpc>
            </a:pPr>
            <a:r>
              <a:rPr lang="en-US" b="false" i="false" strike="noStrike" u="none" sz="1400">
                <a:solidFill>
                  <a:srgbClr val="000000"/>
                </a:solidFill>
              </a:rPr>
              <a:t>第一，重塑节点价值。不同于传统模式，这里的每一个“我”都是核心，具备不可替代的作用。</a:t>
            </a:r>
          </a:p>
          <a:p>
            <a:pPr algn="l" marL="0" indent="0">
              <a:lnSpc>
                <a:spcPct val="100000"/>
              </a:lnSpc>
            </a:pPr>
            <a:r>
              <a:rPr lang="en-US" b="false" i="false" strike="noStrike" u="none" sz="1400">
                <a:solidFill>
                  <a:srgbClr val="000000"/>
                </a:solidFill>
              </a:rPr>
              <a:t>第二，系统赋能。MelBeacon系统通过技术手段分担了经营压力，让普通人也能上手。</a:t>
            </a:r>
          </a:p>
          <a:p>
            <a:pPr algn="l" marL="0" indent="0">
              <a:lnSpc>
                <a:spcPct val="100000"/>
              </a:lnSpc>
            </a:pPr>
            <a:r>
              <a:rPr lang="en-US" b="false" i="false" strike="noStrike" u="none" sz="1400">
                <a:solidFill>
                  <a:srgbClr val="000000"/>
                </a:solidFill>
              </a:rPr>
              <a:t>第三，机制驱动。通过科学的奖励机制，既防止了核心层的固化，又避免了底层的消极躺平，实现了生态的动态平衡。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这一页我们来阐述MelBeacon的终极愿景，我们将其拆解为层层递进的三个核心维度：</a:t>
            </a:r>
          </a:p>
          <a:p>
            <a:pPr algn="l" marL="0" indent="0">
              <a:lnSpc>
                <a:spcPct val="100000"/>
              </a:lnSpc>
            </a:pPr>
            <a:r>
              <a:rPr lang="en-US" b="false" i="false" strike="noStrike" u="none" sz="1400">
                <a:solidFill>
                  <a:srgbClr val="000000"/>
                </a:solidFill>
              </a:rPr>
              <a:t>1. 基石层：效率革新。我们首先要打造的是一套可复制、可规模化的现代化运营方案。这是基础，目的是打破传统直销或零售模式在互联网时代的效率天花板，让业务增长有迹可循、有法可依。</a:t>
            </a:r>
          </a:p>
          <a:p>
            <a:pPr algn="l" marL="0" indent="0">
              <a:lnSpc>
                <a:spcPct val="100000"/>
              </a:lnSpc>
            </a:pPr>
            <a:r>
              <a:rPr lang="en-US" b="false" i="false" strike="noStrike" u="none" sz="1400">
                <a:solidFill>
                  <a:srgbClr val="000000"/>
                </a:solidFill>
              </a:rPr>
              <a:t>2. 核心层：价值凝聚。有了好的方案，我们需要人。我们要汇聚核心班底，包括“十三钗”和“十八罗汉”这样的关键人才，以及构建多层级的经营者网络。更重要的是，我们要沉淀出一群忠实用户，他们不仅是消费者，更是系统价值的认同者和传播者。</a:t>
            </a:r>
          </a:p>
          <a:p>
            <a:pPr algn="l" marL="0" indent="0">
              <a:lnSpc>
                <a:spcPct val="100000"/>
              </a:lnSpc>
            </a:pPr>
            <a:r>
              <a:rPr lang="en-US" b="false" i="false" strike="noStrike" u="none" sz="1400">
                <a:solidFill>
                  <a:srgbClr val="000000"/>
                </a:solidFill>
              </a:rPr>
              <a:t>3. 终极层：系统共生。这是我们的最高追求。建立一个不受单一平台约束的核心团队，实现“去中心化之下的核心价值”。企业为经营者提供底层系统，而MelBeacon则提供上层的各类“配套设施”，让每一个参与者都能在这个生态中找到依靠，实现价值最大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这是演示文稿的结尾页，旨在升华主题，传递美乐家“助人达成目标，共创美好未来”的核心使命。</a:t>
            </a:r>
          </a:p>
          <a:p>
            <a:pPr algn="l" marL="0" indent="0">
              <a:lnSpc>
                <a:spcPct val="100000"/>
              </a:lnSpc>
            </a:pPr>
            <a:r>
              <a:rPr lang="en-US" b="false" i="false" strike="noStrike" u="none" sz="1400">
                <a:solidFill>
                  <a:srgbClr val="000000"/>
                </a:solidFill>
              </a:rPr>
              <a:t>页面采用深蓝色调呼应“灯塔”的视觉主题，象征着指引与希望。中心的灯塔图标强化了“灯塔团队”的身份，寓意团队在事业道路上为伙伴指引方向。</a:t>
            </a:r>
          </a:p>
          <a:p>
            <a:pPr algn="l" marL="0" indent="0">
              <a:lnSpc>
                <a:spcPct val="100000"/>
              </a:lnSpc>
            </a:pPr>
            <a:r>
              <a:rPr lang="en-US" b="false" i="false" strike="noStrike" u="none" sz="1400">
                <a:solidFill>
                  <a:srgbClr val="000000"/>
                </a:solidFill>
              </a:rPr>
              <a:t>文字排版上采用居中对称式布局，主标题醒目有力，副标题优雅内敛，底部的团队信息则增强了归属感和专业感。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notesSlides/notesSlide5.xml" Type="http://schemas.openxmlformats.org/officeDocument/2006/relationships/notesSlid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notesSlides/notesSlide7.xml" Type="http://schemas.openxmlformats.org/officeDocument/2006/relationships/notesSlid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14" Target="../notesSlides/notesSlide9.xml" Type="http://schemas.openxmlformats.org/officeDocument/2006/relationships/notesSlide"/><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 Id="rId7" Target="../media/image38.svg" Type="http://schemas.openxmlformats.org/officeDocument/2006/relationships/image"/><Relationship Id="rId8" Target="../media/image39.png" Type="http://schemas.openxmlformats.org/officeDocument/2006/relationships/image"/><Relationship Id="rId9" Target="../media/image4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notesSlides/notesSlide13.xml" Type="http://schemas.openxmlformats.org/officeDocument/2006/relationships/notesSlide"/><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4.xml" Type="http://schemas.openxmlformats.org/officeDocument/2006/relationships/notesSlide"/><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65.png" Type="http://schemas.openxmlformats.org/officeDocument/2006/relationships/image"/><Relationship Id="rId7" Target="../media/image66.sv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7.png" Type="http://schemas.openxmlformats.org/officeDocument/2006/relationships/image"/><Relationship Id="rId11" Target="../media/image78.svg" Type="http://schemas.openxmlformats.org/officeDocument/2006/relationships/image"/><Relationship Id="rId12" Target="../media/image79.png" Type="http://schemas.openxmlformats.org/officeDocument/2006/relationships/image"/><Relationship Id="rId13" Target="../media/image80.svg" Type="http://schemas.openxmlformats.org/officeDocument/2006/relationships/image"/><Relationship Id="rId14" Target="../notesSlides/notesSlide15.xml" Type="http://schemas.openxmlformats.org/officeDocument/2006/relationships/notesSlide"/><Relationship Id="rId2" Target="../media/image69.png" Type="http://schemas.openxmlformats.org/officeDocument/2006/relationships/image"/><Relationship Id="rId3" Target="../media/image70.sv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75.png" Type="http://schemas.openxmlformats.org/officeDocument/2006/relationships/image"/><Relationship Id="rId9" Target="../media/image7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16.xml" Type="http://schemas.openxmlformats.org/officeDocument/2006/relationships/notesSlide"/><Relationship Id="rId2" Target="../media/image81.png" Type="http://schemas.openxmlformats.org/officeDocument/2006/relationships/image"/><Relationship Id="rId3" Target="../media/image82.svg" Type="http://schemas.openxmlformats.org/officeDocument/2006/relationships/image"/><Relationship Id="rId4" Target="../media/image83.png" Type="http://schemas.openxmlformats.org/officeDocument/2006/relationships/image"/><Relationship Id="rId5" Target="../media/image84.svg" Type="http://schemas.openxmlformats.org/officeDocument/2006/relationships/image"/><Relationship Id="rId6" Target="../media/image85.png" Type="http://schemas.openxmlformats.org/officeDocument/2006/relationships/image"/><Relationship Id="rId7" Target="../media/image86.svg" Type="http://schemas.openxmlformats.org/officeDocument/2006/relationships/image"/><Relationship Id="rId8" Target="../media/image87.png" Type="http://schemas.openxmlformats.org/officeDocument/2006/relationships/image"/><Relationship Id="rId9" Target="../media/image8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97.png" Type="http://schemas.openxmlformats.org/officeDocument/2006/relationships/image"/><Relationship Id="rId11" Target="../media/image98.svg" Type="http://schemas.openxmlformats.org/officeDocument/2006/relationships/image"/><Relationship Id="rId12" Target="../media/image99.png" Type="http://schemas.openxmlformats.org/officeDocument/2006/relationships/image"/><Relationship Id="rId13" Target="../media/image100.svg" Type="http://schemas.openxmlformats.org/officeDocument/2006/relationships/image"/><Relationship Id="rId14" Target="../media/image101.png" Type="http://schemas.openxmlformats.org/officeDocument/2006/relationships/image"/><Relationship Id="rId15" Target="../media/image102.svg" Type="http://schemas.openxmlformats.org/officeDocument/2006/relationships/image"/><Relationship Id="rId16" Target="../notesSlides/notesSlide17.xml" Type="http://schemas.openxmlformats.org/officeDocument/2006/relationships/notesSlide"/><Relationship Id="rId2" Target="../media/image89.png" Type="http://schemas.openxmlformats.org/officeDocument/2006/relationships/image"/><Relationship Id="rId3" Target="../media/image90.svg" Type="http://schemas.openxmlformats.org/officeDocument/2006/relationships/image"/><Relationship Id="rId4" Target="../media/image91.png" Type="http://schemas.openxmlformats.org/officeDocument/2006/relationships/image"/><Relationship Id="rId5" Target="../media/image92.svg" Type="http://schemas.openxmlformats.org/officeDocument/2006/relationships/image"/><Relationship Id="rId6" Target="../media/image93.png" Type="http://schemas.openxmlformats.org/officeDocument/2006/relationships/image"/><Relationship Id="rId7" Target="../media/image94.svg" Type="http://schemas.openxmlformats.org/officeDocument/2006/relationships/image"/><Relationship Id="rId8" Target="../media/image95.png" Type="http://schemas.openxmlformats.org/officeDocument/2006/relationships/image"/><Relationship Id="rId9" Target="../media/image9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media/image105.png" Type="http://schemas.openxmlformats.org/officeDocument/2006/relationships/image"/><Relationship Id="rId5" Target="../media/image106.svg" Type="http://schemas.openxmlformats.org/officeDocument/2006/relationships/image"/><Relationship Id="rId6" Target="../media/image107.png" Type="http://schemas.openxmlformats.org/officeDocument/2006/relationships/image"/><Relationship Id="rId7" Target="../media/image108.svg" Type="http://schemas.openxmlformats.org/officeDocument/2006/relationships/image"/><Relationship Id="rId8"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17.png" Type="http://schemas.openxmlformats.org/officeDocument/2006/relationships/image"/><Relationship Id="rId11" Target="../media/image118.svg" Type="http://schemas.openxmlformats.org/officeDocument/2006/relationships/image"/><Relationship Id="rId12" Target="../media/image99.png" Type="http://schemas.openxmlformats.org/officeDocument/2006/relationships/image"/><Relationship Id="rId13" Target="../media/image100.svg" Type="http://schemas.openxmlformats.org/officeDocument/2006/relationships/image"/><Relationship Id="rId14" Target="../notesSlides/notesSlide19.xml" Type="http://schemas.openxmlformats.org/officeDocument/2006/relationships/notesSlide"/><Relationship Id="rId2" Target="../media/image109.png" Type="http://schemas.openxmlformats.org/officeDocument/2006/relationships/image"/><Relationship Id="rId3" Target="../media/image110.svg" Type="http://schemas.openxmlformats.org/officeDocument/2006/relationships/image"/><Relationship Id="rId4" Target="../media/image111.png" Type="http://schemas.openxmlformats.org/officeDocument/2006/relationships/image"/><Relationship Id="rId5" Target="../media/image112.svg" Type="http://schemas.openxmlformats.org/officeDocument/2006/relationships/image"/><Relationship Id="rId6" Target="../media/image113.png" Type="http://schemas.openxmlformats.org/officeDocument/2006/relationships/image"/><Relationship Id="rId7" Target="../media/image114.svg" Type="http://schemas.openxmlformats.org/officeDocument/2006/relationships/image"/><Relationship Id="rId8" Target="../media/image115.png" Type="http://schemas.openxmlformats.org/officeDocument/2006/relationships/image"/><Relationship Id="rId9" Target="../media/image11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20.xml" Type="http://schemas.openxmlformats.org/officeDocument/2006/relationships/notesSlide"/><Relationship Id="rId2" Target="../media/image119.png" Type="http://schemas.openxmlformats.org/officeDocument/2006/relationships/image"/><Relationship Id="rId3" Target="../media/image120.svg" Type="http://schemas.openxmlformats.org/officeDocument/2006/relationships/image"/><Relationship Id="rId4" Target="../media/image121.png" Type="http://schemas.openxmlformats.org/officeDocument/2006/relationships/image"/><Relationship Id="rId5" Target="../media/image122.svg" Type="http://schemas.openxmlformats.org/officeDocument/2006/relationships/image"/><Relationship Id="rId6" Target="../media/image123.png" Type="http://schemas.openxmlformats.org/officeDocument/2006/relationships/image"/><Relationship Id="rId7" Target="../media/image124.svg" Type="http://schemas.openxmlformats.org/officeDocument/2006/relationships/image"/><Relationship Id="rId8" Target="../media/image125.png" Type="http://schemas.openxmlformats.org/officeDocument/2006/relationships/image"/><Relationship Id="rId9" Target="../media/image12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5.png" Type="http://schemas.openxmlformats.org/officeDocument/2006/relationships/image"/><Relationship Id="rId11" Target="../media/image136.svg" Type="http://schemas.openxmlformats.org/officeDocument/2006/relationships/image"/><Relationship Id="rId12" Target="../media/image137.png" Type="http://schemas.openxmlformats.org/officeDocument/2006/relationships/image"/><Relationship Id="rId13" Target="../media/image138.svg" Type="http://schemas.openxmlformats.org/officeDocument/2006/relationships/image"/><Relationship Id="rId14" Target="../media/image139.png" Type="http://schemas.openxmlformats.org/officeDocument/2006/relationships/image"/><Relationship Id="rId15" Target="../media/image140.svg" Type="http://schemas.openxmlformats.org/officeDocument/2006/relationships/image"/><Relationship Id="rId16" Target="../notesSlides/notesSlide21.xml" Type="http://schemas.openxmlformats.org/officeDocument/2006/relationships/notesSlide"/><Relationship Id="rId2" Target="../media/image127.png" Type="http://schemas.openxmlformats.org/officeDocument/2006/relationships/image"/><Relationship Id="rId3" Target="../media/image128.svg" Type="http://schemas.openxmlformats.org/officeDocument/2006/relationships/image"/><Relationship Id="rId4" Target="../media/image129.png" Type="http://schemas.openxmlformats.org/officeDocument/2006/relationships/image"/><Relationship Id="rId5" Target="../media/image130.svg" Type="http://schemas.openxmlformats.org/officeDocument/2006/relationships/image"/><Relationship Id="rId6" Target="../media/image131.png" Type="http://schemas.openxmlformats.org/officeDocument/2006/relationships/image"/><Relationship Id="rId7" Target="../media/image132.svg" Type="http://schemas.openxmlformats.org/officeDocument/2006/relationships/image"/><Relationship Id="rId8" Target="../media/image133.png" Type="http://schemas.openxmlformats.org/officeDocument/2006/relationships/image"/><Relationship Id="rId9" Target="../media/image13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41.png" Type="http://schemas.openxmlformats.org/officeDocument/2006/relationships/image"/><Relationship Id="rId3" Target="../media/image142.svg" Type="http://schemas.openxmlformats.org/officeDocument/2006/relationships/image"/><Relationship Id="rId4" Target="../media/image143.png" Type="http://schemas.openxmlformats.org/officeDocument/2006/relationships/image"/><Relationship Id="rId5" Target="../media/image144.svg" Type="http://schemas.openxmlformats.org/officeDocument/2006/relationships/image"/><Relationship Id="rId6" Target="../media/image145.png" Type="http://schemas.openxmlformats.org/officeDocument/2006/relationships/image"/><Relationship Id="rId7" Target="../media/image146.svg" Type="http://schemas.openxmlformats.org/officeDocument/2006/relationships/image"/><Relationship Id="rId8"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55.png" Type="http://schemas.openxmlformats.org/officeDocument/2006/relationships/image"/><Relationship Id="rId11" Target="../media/image156.svg" Type="http://schemas.openxmlformats.org/officeDocument/2006/relationships/image"/><Relationship Id="rId12" Target="../media/image157.png" Type="http://schemas.openxmlformats.org/officeDocument/2006/relationships/image"/><Relationship Id="rId13" Target="../media/image158.svg" Type="http://schemas.openxmlformats.org/officeDocument/2006/relationships/image"/><Relationship Id="rId14" Target="../notesSlides/notesSlide24.xml" Type="http://schemas.openxmlformats.org/officeDocument/2006/relationships/notesSlide"/><Relationship Id="rId2" Target="../media/image147.png" Type="http://schemas.openxmlformats.org/officeDocument/2006/relationships/image"/><Relationship Id="rId3" Target="../media/image148.svg" Type="http://schemas.openxmlformats.org/officeDocument/2006/relationships/image"/><Relationship Id="rId4" Target="../media/image149.png" Type="http://schemas.openxmlformats.org/officeDocument/2006/relationships/image"/><Relationship Id="rId5" Target="../media/image150.svg" Type="http://schemas.openxmlformats.org/officeDocument/2006/relationships/image"/><Relationship Id="rId6" Target="../media/image151.png" Type="http://schemas.openxmlformats.org/officeDocument/2006/relationships/image"/><Relationship Id="rId7" Target="../media/image152.svg" Type="http://schemas.openxmlformats.org/officeDocument/2006/relationships/image"/><Relationship Id="rId8" Target="../media/image153.png" Type="http://schemas.openxmlformats.org/officeDocument/2006/relationships/image"/><Relationship Id="rId9" Target="../media/image154.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5.png" Type="http://schemas.openxmlformats.org/officeDocument/2006/relationships/image"/><Relationship Id="rId11" Target="../media/image166.svg" Type="http://schemas.openxmlformats.org/officeDocument/2006/relationships/image"/><Relationship Id="rId12" Target="../notesSlides/notesSlide25.xml" Type="http://schemas.openxmlformats.org/officeDocument/2006/relationships/notesSlide"/><Relationship Id="rId2" Target="../media/image159.png" Type="http://schemas.openxmlformats.org/officeDocument/2006/relationships/image"/><Relationship Id="rId3" Target="../media/image160.svg" Type="http://schemas.openxmlformats.org/officeDocument/2006/relationships/image"/><Relationship Id="rId4" Target="../media/image161.png" Type="http://schemas.openxmlformats.org/officeDocument/2006/relationships/image"/><Relationship Id="rId5" Target="../media/image162.sv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 Id="rId8" Target="../media/image163.png" Type="http://schemas.openxmlformats.org/officeDocument/2006/relationships/image"/><Relationship Id="rId9" Target="../media/image164.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73.png" Type="http://schemas.openxmlformats.org/officeDocument/2006/relationships/image"/><Relationship Id="rId11" Target="../media/image174.svg" Type="http://schemas.openxmlformats.org/officeDocument/2006/relationships/image"/><Relationship Id="rId12" Target="../media/image175.png" Type="http://schemas.openxmlformats.org/officeDocument/2006/relationships/image"/><Relationship Id="rId13" Target="../media/image176.svg" Type="http://schemas.openxmlformats.org/officeDocument/2006/relationships/image"/><Relationship Id="rId14" Target="../media/image177.png" Type="http://schemas.openxmlformats.org/officeDocument/2006/relationships/image"/><Relationship Id="rId15" Target="../media/image178.svg" Type="http://schemas.openxmlformats.org/officeDocument/2006/relationships/image"/><Relationship Id="rId16" Target="../media/image179.png" Type="http://schemas.openxmlformats.org/officeDocument/2006/relationships/image"/><Relationship Id="rId17" Target="../media/image180.svg" Type="http://schemas.openxmlformats.org/officeDocument/2006/relationships/image"/><Relationship Id="rId18" Target="../notesSlides/notesSlide26.xml" Type="http://schemas.openxmlformats.org/officeDocument/2006/relationships/notesSlide"/><Relationship Id="rId2" Target="../media/image167.png" Type="http://schemas.openxmlformats.org/officeDocument/2006/relationships/image"/><Relationship Id="rId3" Target="../media/image168.svg" Type="http://schemas.openxmlformats.org/officeDocument/2006/relationships/image"/><Relationship Id="rId4" Target="../media/image169.png" Type="http://schemas.openxmlformats.org/officeDocument/2006/relationships/image"/><Relationship Id="rId5" Target="../media/image170.svg" Type="http://schemas.openxmlformats.org/officeDocument/2006/relationships/image"/><Relationship Id="rId6" Target="../media/image171.png" Type="http://schemas.openxmlformats.org/officeDocument/2006/relationships/image"/><Relationship Id="rId7" Target="../media/image172.svg" Type="http://schemas.openxmlformats.org/officeDocument/2006/relationships/image"/><Relationship Id="rId8" Target="../media/image37.png" Type="http://schemas.openxmlformats.org/officeDocument/2006/relationships/image"/><Relationship Id="rId9" Target="../media/image38.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1.png" Type="http://schemas.openxmlformats.org/officeDocument/2006/relationships/image"/><Relationship Id="rId3" Target="../media/image182.svg" Type="http://schemas.openxmlformats.org/officeDocument/2006/relationships/image"/><Relationship Id="rId4" Target="../media/image183.png" Type="http://schemas.openxmlformats.org/officeDocument/2006/relationships/image"/><Relationship Id="rId5" Target="../media/image184.svg" Type="http://schemas.openxmlformats.org/officeDocument/2006/relationships/image"/><Relationship Id="rId6" Target="../media/image185.png" Type="http://schemas.openxmlformats.org/officeDocument/2006/relationships/image"/><Relationship Id="rId7"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6.png" Type="http://schemas.openxmlformats.org/officeDocument/2006/relationships/image"/><Relationship Id="rId3" Target="../media/image187.svg" Type="http://schemas.openxmlformats.org/officeDocument/2006/relationships/image"/><Relationship Id="rId4" Target="../media/image188.png" Type="http://schemas.openxmlformats.org/officeDocument/2006/relationships/image"/><Relationship Id="rId5" Target="../media/image189.svg" Type="http://schemas.openxmlformats.org/officeDocument/2006/relationships/image"/><Relationship Id="rId6"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96.png" Type="http://schemas.openxmlformats.org/officeDocument/2006/relationships/image"/><Relationship Id="rId11" Target="../media/image197.svg" Type="http://schemas.openxmlformats.org/officeDocument/2006/relationships/image"/><Relationship Id="rId12" Target="../media/image198.png" Type="http://schemas.openxmlformats.org/officeDocument/2006/relationships/image"/><Relationship Id="rId13" Target="../media/image199.svg" Type="http://schemas.openxmlformats.org/officeDocument/2006/relationships/image"/><Relationship Id="rId14" Target="../notesSlides/notesSlide29.xml" Type="http://schemas.openxmlformats.org/officeDocument/2006/relationships/notesSlide"/><Relationship Id="rId2" Target="../media/image103.png" Type="http://schemas.openxmlformats.org/officeDocument/2006/relationships/image"/><Relationship Id="rId3" Target="../media/image104.svg" Type="http://schemas.openxmlformats.org/officeDocument/2006/relationships/image"/><Relationship Id="rId4" Target="../media/image190.png" Type="http://schemas.openxmlformats.org/officeDocument/2006/relationships/image"/><Relationship Id="rId5" Target="../media/image191.svg" Type="http://schemas.openxmlformats.org/officeDocument/2006/relationships/image"/><Relationship Id="rId6" Target="../media/image192.png" Type="http://schemas.openxmlformats.org/officeDocument/2006/relationships/image"/><Relationship Id="rId7" Target="../media/image193.svg" Type="http://schemas.openxmlformats.org/officeDocument/2006/relationships/image"/><Relationship Id="rId8" Target="../media/image194.png" Type="http://schemas.openxmlformats.org/officeDocument/2006/relationships/image"/><Relationship Id="rId9" Target="../media/image19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06.png" Type="http://schemas.openxmlformats.org/officeDocument/2006/relationships/image"/><Relationship Id="rId11" Target="../media/image207.svg" Type="http://schemas.openxmlformats.org/officeDocument/2006/relationships/image"/><Relationship Id="rId12" Target="../media/image208.png" Type="http://schemas.openxmlformats.org/officeDocument/2006/relationships/image"/><Relationship Id="rId13" Target="../media/image209.svg" Type="http://schemas.openxmlformats.org/officeDocument/2006/relationships/image"/><Relationship Id="rId14" Target="../notesSlides/notesSlide30.xml" Type="http://schemas.openxmlformats.org/officeDocument/2006/relationships/notesSlide"/><Relationship Id="rId2" Target="../media/image103.png" Type="http://schemas.openxmlformats.org/officeDocument/2006/relationships/image"/><Relationship Id="rId3" Target="../media/image104.svg" Type="http://schemas.openxmlformats.org/officeDocument/2006/relationships/image"/><Relationship Id="rId4" Target="../media/image200.png" Type="http://schemas.openxmlformats.org/officeDocument/2006/relationships/image"/><Relationship Id="rId5" Target="../media/image201.svg" Type="http://schemas.openxmlformats.org/officeDocument/2006/relationships/image"/><Relationship Id="rId6" Target="../media/image202.png" Type="http://schemas.openxmlformats.org/officeDocument/2006/relationships/image"/><Relationship Id="rId7" Target="../media/image203.svg" Type="http://schemas.openxmlformats.org/officeDocument/2006/relationships/image"/><Relationship Id="rId8" Target="../media/image204.png" Type="http://schemas.openxmlformats.org/officeDocument/2006/relationships/image"/><Relationship Id="rId9" Target="../media/image20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3.png" Type="http://schemas.openxmlformats.org/officeDocument/2006/relationships/image"/><Relationship Id="rId11" Target="../media/image104.svg" Type="http://schemas.openxmlformats.org/officeDocument/2006/relationships/image"/><Relationship Id="rId12" Target="../media/image218.png" Type="http://schemas.openxmlformats.org/officeDocument/2006/relationships/image"/><Relationship Id="rId13" Target="../media/image219.svg" Type="http://schemas.openxmlformats.org/officeDocument/2006/relationships/image"/><Relationship Id="rId14" Target="../notesSlides/notesSlide31.xml" Type="http://schemas.openxmlformats.org/officeDocument/2006/relationships/notesSlide"/><Relationship Id="rId2" Target="../media/image210.png" Type="http://schemas.openxmlformats.org/officeDocument/2006/relationships/image"/><Relationship Id="rId3" Target="../media/image211.svg" Type="http://schemas.openxmlformats.org/officeDocument/2006/relationships/image"/><Relationship Id="rId4" Target="../media/image212.png" Type="http://schemas.openxmlformats.org/officeDocument/2006/relationships/image"/><Relationship Id="rId5" Target="../media/image213.svg" Type="http://schemas.openxmlformats.org/officeDocument/2006/relationships/image"/><Relationship Id="rId6" Target="../media/image214.png" Type="http://schemas.openxmlformats.org/officeDocument/2006/relationships/image"/><Relationship Id="rId7" Target="../media/image215.svg" Type="http://schemas.openxmlformats.org/officeDocument/2006/relationships/image"/><Relationship Id="rId8" Target="../media/image216.png" Type="http://schemas.openxmlformats.org/officeDocument/2006/relationships/image"/><Relationship Id="rId9" Target="../media/image217.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20.png" Type="http://schemas.openxmlformats.org/officeDocument/2006/relationships/image"/><Relationship Id="rId3" Target="../media/image221.svg" Type="http://schemas.openxmlformats.org/officeDocument/2006/relationships/image"/><Relationship Id="rId4" Target="../media/image222.png" Type="http://schemas.openxmlformats.org/officeDocument/2006/relationships/image"/><Relationship Id="rId5" Target="../media/image223.svg" Type="http://schemas.openxmlformats.org/officeDocument/2006/relationships/image"/><Relationship Id="rId6" Target="../media/image224.png" Type="http://schemas.openxmlformats.org/officeDocument/2006/relationships/image"/><Relationship Id="rId7" Target="../media/image225.svg" Type="http://schemas.openxmlformats.org/officeDocument/2006/relationships/image"/><Relationship Id="rId8"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32.png" Type="http://schemas.openxmlformats.org/officeDocument/2006/relationships/image"/><Relationship Id="rId11" Target="../media/image233.svg" Type="http://schemas.openxmlformats.org/officeDocument/2006/relationships/image"/><Relationship Id="rId12" Target="../notesSlides/notesSlide33.xml" Type="http://schemas.openxmlformats.org/officeDocument/2006/relationships/notesSlide"/><Relationship Id="rId2" Target="../media/image226.png" Type="http://schemas.openxmlformats.org/officeDocument/2006/relationships/image"/><Relationship Id="rId3" Target="../media/image227.svg" Type="http://schemas.openxmlformats.org/officeDocument/2006/relationships/image"/><Relationship Id="rId4" Target="../media/image228.png" Type="http://schemas.openxmlformats.org/officeDocument/2006/relationships/image"/><Relationship Id="rId5" Target="../media/image229.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230.png" Type="http://schemas.openxmlformats.org/officeDocument/2006/relationships/image"/><Relationship Id="rId9" Target="../media/image231.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notesSlides/notesSlide35.xml" Type="http://schemas.openxmlformats.org/officeDocument/2006/relationships/notesSlide"/><Relationship Id="rId2" Target="../media/image234.png" Type="http://schemas.openxmlformats.org/officeDocument/2006/relationships/image"/><Relationship Id="rId3" Target="../media/image235.svg" Type="http://schemas.openxmlformats.org/officeDocument/2006/relationships/image"/><Relationship Id="rId4" Target="../media/image236.png" Type="http://schemas.openxmlformats.org/officeDocument/2006/relationships/image"/><Relationship Id="rId5" Target="../media/image237.svg" Type="http://schemas.openxmlformats.org/officeDocument/2006/relationships/image"/><Relationship Id="rId6" Target="../media/image238.png" Type="http://schemas.openxmlformats.org/officeDocument/2006/relationships/image"/><Relationship Id="rId7" Target="../media/image239.svg" Type="http://schemas.openxmlformats.org/officeDocument/2006/relationships/image"/><Relationship Id="rId8" Target="../media/image149.png" Type="http://schemas.openxmlformats.org/officeDocument/2006/relationships/image"/><Relationship Id="rId9" Target="../media/image150.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03.png" Type="http://schemas.openxmlformats.org/officeDocument/2006/relationships/image"/><Relationship Id="rId3" Target="../media/image104.svg" Type="http://schemas.openxmlformats.org/officeDocument/2006/relationships/image"/><Relationship Id="rId4"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0.png" Type="http://schemas.openxmlformats.org/officeDocument/2006/relationships/image"/><Relationship Id="rId3" Target="../media/image241.svg" Type="http://schemas.openxmlformats.org/officeDocument/2006/relationships/image"/><Relationship Id="rId4" Target="../media/image216.png" Type="http://schemas.openxmlformats.org/officeDocument/2006/relationships/image"/><Relationship Id="rId5" Target="../media/image217.svg" Type="http://schemas.openxmlformats.org/officeDocument/2006/relationships/image"/><Relationship Id="rId6" Target="../media/image242.png" Type="http://schemas.openxmlformats.org/officeDocument/2006/relationships/image"/><Relationship Id="rId7" Target="../media/image243.svg" Type="http://schemas.openxmlformats.org/officeDocument/2006/relationships/image"/><Relationship Id="rId8"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4.png" Type="http://schemas.openxmlformats.org/officeDocument/2006/relationships/image"/><Relationship Id="rId3" Target="../media/image245.svg" Type="http://schemas.openxmlformats.org/officeDocument/2006/relationships/image"/><Relationship Id="rId4" Target="../media/image246.png" Type="http://schemas.openxmlformats.org/officeDocument/2006/relationships/image"/><Relationship Id="rId5" Target="../media/image247.svg" Type="http://schemas.openxmlformats.org/officeDocument/2006/relationships/image"/><Relationship Id="rId6" Target="../media/image248.png" Type="http://schemas.openxmlformats.org/officeDocument/2006/relationships/image"/><Relationship Id="rId7" Target="../media/image249.svg" Type="http://schemas.openxmlformats.org/officeDocument/2006/relationships/image"/><Relationship Id="rId8"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0.png" Type="http://schemas.openxmlformats.org/officeDocument/2006/relationships/image"/><Relationship Id="rId3" Target="../media/image251.svg" Type="http://schemas.openxmlformats.org/officeDocument/2006/relationships/image"/><Relationship Id="rId4" Target="../media/image252.png" Type="http://schemas.openxmlformats.org/officeDocument/2006/relationships/image"/><Relationship Id="rId5" Target="../media/image253.svg" Type="http://schemas.openxmlformats.org/officeDocument/2006/relationships/image"/><Relationship Id="rId6" Target="../media/image254.png" Type="http://schemas.openxmlformats.org/officeDocument/2006/relationships/image"/><Relationship Id="rId7" Target="../media/image255.svg" Type="http://schemas.openxmlformats.org/officeDocument/2006/relationships/image"/><Relationship Id="rId8"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8.png" Type="http://schemas.openxmlformats.org/officeDocument/2006/relationships/image"/><Relationship Id="rId3" Target="../media/image249.svg" Type="http://schemas.openxmlformats.org/officeDocument/2006/relationships/image"/><Relationship Id="rId4" Target="../media/image256.png" Type="http://schemas.openxmlformats.org/officeDocument/2006/relationships/image"/><Relationship Id="rId5" Target="../media/image257.svg" Type="http://schemas.openxmlformats.org/officeDocument/2006/relationships/image"/><Relationship Id="rId6" Target="../media/image103.png" Type="http://schemas.openxmlformats.org/officeDocument/2006/relationships/image"/><Relationship Id="rId7" Target="../media/image104.svg" Type="http://schemas.openxmlformats.org/officeDocument/2006/relationships/image"/><Relationship Id="rId8"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8.png" Type="http://schemas.openxmlformats.org/officeDocument/2006/relationships/image"/><Relationship Id="rId3" Target="../media/image259.svg" Type="http://schemas.openxmlformats.org/officeDocument/2006/relationships/image"/><Relationship Id="rId4" Target="../media/image260.png" Type="http://schemas.openxmlformats.org/officeDocument/2006/relationships/image"/><Relationship Id="rId5" Target="../media/image261.svg" Type="http://schemas.openxmlformats.org/officeDocument/2006/relationships/image"/><Relationship Id="rId6" Target="../media/image262.png" Type="http://schemas.openxmlformats.org/officeDocument/2006/relationships/image"/><Relationship Id="rId7" Target="../media/image263.svg" Type="http://schemas.openxmlformats.org/officeDocument/2006/relationships/image"/><Relationship Id="rId8"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64.png" Type="http://schemas.openxmlformats.org/officeDocument/2006/relationships/image"/><Relationship Id="rId3" Target="../media/image265.svg" Type="http://schemas.openxmlformats.org/officeDocument/2006/relationships/image"/><Relationship Id="rId4" Target="../notesSlides/notesSlide43.xml" Type="http://schemas.openxmlformats.org/officeDocument/2006/relationships/notesSlide"/><Relationship Id="rId5" Target="../media/image26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5F7FA">
                <a:alpha val="100000"/>
              </a:srgbClr>
            </a:gs>
            <a:gs pos="100000">
              <a:srgbClr val="E4E7EB">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102A54">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4445000"/>
            <a:ext cx="3810000" cy="3810000"/>
          </a:xfrm>
          <a:prstGeom prst="ellipse">
            <a:avLst/>
          </a:prstGeom>
          <a:solidFill>
            <a:srgbClr val="D4AF37">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1905000"/>
            <a:ext cx="3556000" cy="3302000"/>
          </a:xfrm>
          <a:prstGeom prst="roundRect">
            <a:avLst>
              <a:gd name="adj" fmla="val 0"/>
            </a:avLst>
          </a:prstGeom>
          <a:solidFill>
            <a:srgbClr val="102A5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35000" y="1905000"/>
            <a:ext cx="3556000" cy="1016000"/>
          </a:xfrm>
          <a:prstGeom prst="roundRect">
            <a:avLst>
              <a:gd name="adj" fmla="val 0"/>
            </a:avLst>
          </a:prstGeom>
          <a:solidFill>
            <a:srgbClr val="D4AF37">
              <a:alpha val="2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6" id="6"/>
          <p:cNvCxnSpPr/>
          <p:nvPr/>
        </p:nvCxnSpPr>
        <p:spPr>
          <a:xfrm rot="-12277" flipH="false" flipV="false">
            <a:off x="635011" y="4184650"/>
            <a:ext cx="3556000" cy="12700"/>
          </a:xfrm>
          <a:prstGeom prst="straightConnector1">
            <a:avLst/>
          </a:prstGeom>
          <a:solidFill>
            <a:srgbClr val="DEE0E3">
              <a:alpha val="100000"/>
            </a:srgbClr>
          </a:solidFill>
          <a:ln w="38100" cmpd="sng" cap="flat">
            <a:solidFill>
              <a:srgbClr val="D4AF37">
                <a:alpha val="100000"/>
              </a:srgbClr>
            </a:solidFill>
            <a:prstDash val="solid"/>
            <a:round/>
            <a:headEnd type="none" w="lg" len="lg"/>
            <a:tailEnd type="none" w="lg" len="lg"/>
          </a:ln>
        </p:spPr>
      </p:cxn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2006600" y="2921000"/>
            <a:ext cx="812800" cy="812800"/>
          </a:xfrm>
          <a:prstGeom prst="rect">
            <a:avLst/>
          </a:prstGeom>
        </p:spPr>
      </p:pic>
      <p:sp>
        <p:nvSpPr>
          <p:cNvPr name="AutoShape 8" id="8"/>
          <p:cNvSpPr/>
          <p:nvPr/>
        </p:nvSpPr>
        <p:spPr>
          <a:xfrm rot="0" flipH="false" flipV="false">
            <a:off x="635000" y="5461000"/>
            <a:ext cx="355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102A54">
                    <a:alpha val="70196"/>
                  </a:srgbClr>
                </a:solidFill>
                <a:latin typeface="Noto Sans SC"/>
                <a:ea typeface="Noto Sans SC"/>
                <a:cs typeface="Noto Sans SC"/>
                <a:sym typeface="Noto Sans SC"/>
              </a:rPr>
              <a:t>STRATEGIC VISION &amp; GROWTH</a:t>
            </a:r>
            <a:endParaRPr lang="en-US" sz="1100"/>
          </a:p>
        </p:txBody>
      </p:sp>
      <p:cxnSp>
        <p:nvCxnSpPr>
          <p:cNvPr name="Connector 9" id="9"/>
          <p:cNvCxnSpPr/>
          <p:nvPr/>
        </p:nvCxnSpPr>
        <p:spPr>
          <a:xfrm rot="5386777" flipH="false" flipV="false">
            <a:off x="3175000" y="3422662"/>
            <a:ext cx="3302000" cy="12700"/>
          </a:xfrm>
          <a:prstGeom prst="straightConnector1">
            <a:avLst/>
          </a:prstGeom>
          <a:solidFill>
            <a:srgbClr val="DEE0E3">
              <a:alpha val="100000"/>
            </a:srgbClr>
          </a:solidFill>
          <a:ln w="12700" cmpd="sng" cap="flat">
            <a:solidFill>
              <a:srgbClr val="D4AF37">
                <a:alpha val="50000"/>
              </a:srgbClr>
            </a:solidFill>
            <a:prstDash val="dash"/>
            <a:round/>
            <a:headEnd type="none" w="med" len="med"/>
            <a:tailEnd type="none" w="med" len="med"/>
          </a:ln>
        </p:spPr>
      </p:cxnSp>
      <p:sp>
        <p:nvSpPr>
          <p:cNvPr name="AutoShape 10" id="10"/>
          <p:cNvSpPr/>
          <p:nvPr/>
        </p:nvSpPr>
        <p:spPr>
          <a:xfrm rot="0" flipH="false" flipV="false">
            <a:off x="5207000" y="2286000"/>
            <a:ext cx="660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102A54"/>
                </a:solidFill>
                <a:latin typeface="Noto Sans SC"/>
                <a:ea typeface="Noto Sans SC"/>
                <a:cs typeface="Noto Sans SC"/>
                <a:sym typeface="Noto Sans SC"/>
              </a:rPr>
              <a:t>MelBeacon 灯塔系统</a:t>
            </a:r>
            <a:endParaRPr lang="en-US" sz="1100"/>
          </a:p>
        </p:txBody>
      </p:sp>
      <p:sp>
        <p:nvSpPr>
          <p:cNvPr name="AutoShape 11" id="11"/>
          <p:cNvSpPr/>
          <p:nvPr/>
        </p:nvSpPr>
        <p:spPr>
          <a:xfrm rot="0" flipH="false" flipV="false">
            <a:off x="5232400" y="3556000"/>
            <a:ext cx="1016000" cy="76200"/>
          </a:xfrm>
          <a:prstGeom prst="roundRect">
            <a:avLst>
              <a:gd name="adj" fmla="val 0"/>
            </a:avLst>
          </a:prstGeom>
          <a:solidFill>
            <a:srgbClr val="D4AF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207000" y="4064000"/>
            <a:ext cx="660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2000">
                <a:solidFill>
                  <a:srgbClr val="3C3C3C"/>
                </a:solidFill>
                <a:latin typeface="Noto Sans SC"/>
                <a:ea typeface="Noto Sans SC"/>
                <a:cs typeface="Noto Sans SC"/>
                <a:sym typeface="Noto Sans SC"/>
              </a:rPr>
              <a:t>美乐家现代化运营战略摘要 —— 构建可持续发展的商业增长新范式</a:t>
            </a:r>
            <a:endParaRPr lang="en-US" sz="1100"/>
          </a:p>
        </p:txBody>
      </p:sp>
      <p:cxnSp>
        <p:nvCxnSpPr>
          <p:cNvPr name="Connector 13" id="13"/>
          <p:cNvCxnSpPr/>
          <p:nvPr/>
        </p:nvCxnSpPr>
        <p:spPr>
          <a:xfrm rot="-3997" flipH="false" flipV="false">
            <a:off x="635004" y="6089650"/>
            <a:ext cx="10922000" cy="12700"/>
          </a:xfrm>
          <a:prstGeom prst="straightConnector1">
            <a:avLst/>
          </a:prstGeom>
          <a:solidFill>
            <a:srgbClr val="DEE0E3">
              <a:alpha val="100000"/>
            </a:srgbClr>
          </a:solidFill>
          <a:ln w="12700" cmpd="sng" cap="flat">
            <a:solidFill>
              <a:srgbClr val="102A54">
                <a:alpha val="15000"/>
              </a:srgbClr>
            </a:solidFill>
            <a:prstDash val="solid"/>
            <a:round/>
            <a:headEnd type="none" w="med" len="med"/>
            <a:tailEnd type="none" w="med" len="med"/>
          </a:ln>
        </p:spPr>
      </p:cxnSp>
      <p:sp>
        <p:nvSpPr>
          <p:cNvPr name="AutoShape 14" id="14"/>
          <p:cNvSpPr/>
          <p:nvPr/>
        </p:nvSpPr>
        <p:spPr>
          <a:xfrm rot="0" flipH="false" flipV="false">
            <a:off x="635000" y="6223000"/>
            <a:ext cx="1092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46464"/>
                </a:solidFill>
                <a:latin typeface="Noto Sans SC"/>
                <a:ea typeface="Noto Sans SC"/>
                <a:cs typeface="Noto Sans SC"/>
                <a:sym typeface="Noto Sans SC"/>
              </a:rPr>
              <a:t>MelBeacon Division By Peak Team —— 出自巅峰系统的灯塔团队 | 聚焦用户价值 · 驱动组织效能 · 引领行业标准</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C375D"/>
                </a:solidFill>
                <a:latin typeface="Noto Sans SC"/>
                <a:ea typeface="Noto Sans SC"/>
                <a:cs typeface="Noto Sans SC"/>
                <a:sym typeface="Noto Sans SC"/>
              </a:rPr>
              <a:t>目录</a:t>
            </a:r>
            <a:r>
              <a:rPr lang="en-US" b="false" i="false" strike="noStrike" u="none" sz="2000">
                <a:solidFill>
                  <a:srgbClr val="808080"/>
                </a:solidFill>
                <a:latin typeface="Noto Sans SC"/>
                <a:ea typeface="Noto Sans SC"/>
                <a:cs typeface="Noto Sans SC"/>
                <a:sym typeface="Noto Sans SC"/>
              </a:rPr>
              <a:t>CONTENTS</a:t>
            </a:r>
            <a:endParaRPr lang="en-US" sz="1100"/>
          </a:p>
        </p:txBody>
      </p:sp>
      <p:cxnSp>
        <p:nvCxnSpPr>
          <p:cNvPr name="Connector 3" id="3"/>
          <p:cNvCxnSpPr/>
          <p:nvPr/>
        </p:nvCxnSpPr>
        <p:spPr>
          <a:xfrm rot="-3906" flipH="false" flipV="false">
            <a:off x="508004" y="1390650"/>
            <a:ext cx="11176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508000" y="1905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905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68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01</a:t>
            </a:r>
            <a:endParaRPr lang="en-US" sz="1100"/>
          </a:p>
        </p:txBody>
      </p:sp>
      <p:cxnSp>
        <p:nvCxnSpPr>
          <p:cNvPr name="Connector 7" id="7"/>
          <p:cNvCxnSpPr/>
          <p:nvPr/>
        </p:nvCxnSpPr>
        <p:spPr>
          <a:xfrm rot="5359557" flipH="false" flipV="false">
            <a:off x="1238250" y="2565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8" id="8"/>
          <p:cNvSpPr/>
          <p:nvPr/>
        </p:nvSpPr>
        <p:spPr>
          <a:xfrm rot="0" flipH="false" flipV="false">
            <a:off x="1968500" y="2032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战略背景与核心判断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深度剖析宏观市场环境与行业发展趋势，结合企业自身资源禀赋，确立业务发展的底层逻辑与核心战略判断依据。</a:t>
            </a:r>
          </a:p>
        </p:txBody>
      </p:sp>
      <p:sp>
        <p:nvSpPr>
          <p:cNvPr name="AutoShape 9" id="9"/>
          <p:cNvSpPr/>
          <p:nvPr/>
        </p:nvSpPr>
        <p:spPr>
          <a:xfrm rot="0" flipH="false" flipV="false">
            <a:off x="508000" y="3556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08000" y="3556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619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02</a:t>
            </a:r>
            <a:endParaRPr lang="en-US" sz="1100"/>
          </a:p>
        </p:txBody>
      </p:sp>
      <p:cxnSp>
        <p:nvCxnSpPr>
          <p:cNvPr name="Connector 12" id="12"/>
          <p:cNvCxnSpPr/>
          <p:nvPr/>
        </p:nvCxnSpPr>
        <p:spPr>
          <a:xfrm rot="5359557" flipH="false" flipV="false">
            <a:off x="1238250" y="4216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13" id="13"/>
          <p:cNvSpPr/>
          <p:nvPr/>
        </p:nvSpPr>
        <p:spPr>
          <a:xfrm rot="0" flipH="false" flipV="false">
            <a:off x="1968500" y="3683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战略定位与核心方法论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明确企业在产业链中的市场占位与用户价值主张，构建适配业务场景的战略分析框架，形成可落地的核心方法论体系。</a:t>
            </a:r>
          </a:p>
        </p:txBody>
      </p:sp>
      <p:sp>
        <p:nvSpPr>
          <p:cNvPr name="AutoShape 14" id="14"/>
          <p:cNvSpPr/>
          <p:nvPr/>
        </p:nvSpPr>
        <p:spPr>
          <a:xfrm rot="0" flipH="false" flipV="false">
            <a:off x="508000" y="5207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08000" y="5207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5270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03</a:t>
            </a:r>
            <a:endParaRPr lang="en-US" sz="1100"/>
          </a:p>
        </p:txBody>
      </p:sp>
      <p:cxnSp>
        <p:nvCxnSpPr>
          <p:cNvPr name="Connector 17" id="17"/>
          <p:cNvCxnSpPr/>
          <p:nvPr/>
        </p:nvCxnSpPr>
        <p:spPr>
          <a:xfrm rot="5359557" flipH="false" flipV="false">
            <a:off x="1238250" y="5867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18" id="18"/>
          <p:cNvSpPr/>
          <p:nvPr/>
        </p:nvSpPr>
        <p:spPr>
          <a:xfrm rot="0" flipH="false" flipV="false">
            <a:off x="1968500" y="5334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核心运营架构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搭建高效协同的业务全链路运营流程，整合产品、渠道、服务等关键资源，形成闭环式、可迭代的精细化运营管理架构。</a:t>
            </a:r>
          </a:p>
        </p:txBody>
      </p:sp>
      <p:sp>
        <p:nvSpPr>
          <p:cNvPr name="AutoShape 19" id="19"/>
          <p:cNvSpPr/>
          <p:nvPr/>
        </p:nvSpPr>
        <p:spPr>
          <a:xfrm rot="0" flipH="false" flipV="false">
            <a:off x="6350000" y="1905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350000" y="1905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604000" y="1968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04</a:t>
            </a:r>
            <a:endParaRPr lang="en-US" sz="1100"/>
          </a:p>
        </p:txBody>
      </p:sp>
      <p:cxnSp>
        <p:nvCxnSpPr>
          <p:cNvPr name="Connector 22" id="22"/>
          <p:cNvCxnSpPr/>
          <p:nvPr/>
        </p:nvCxnSpPr>
        <p:spPr>
          <a:xfrm rot="5359557" flipH="false" flipV="false">
            <a:off x="7080250" y="2565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23" id="23"/>
          <p:cNvSpPr/>
          <p:nvPr/>
        </p:nvSpPr>
        <p:spPr>
          <a:xfrm rot="0" flipH="false" flipV="false">
            <a:off x="7810500" y="2032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组织架构与流量分配体系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优化内部职能分工与协作机制，建立以数据为驱动的流量获取、转化与分层分配体系，最大化流量资产的商业价值。</a:t>
            </a:r>
          </a:p>
        </p:txBody>
      </p:sp>
      <p:sp>
        <p:nvSpPr>
          <p:cNvPr name="AutoShape 24" id="24"/>
          <p:cNvSpPr/>
          <p:nvPr/>
        </p:nvSpPr>
        <p:spPr>
          <a:xfrm rot="0" flipH="false" flipV="false">
            <a:off x="6350000" y="3556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6350000" y="3556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604000" y="3619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05</a:t>
            </a:r>
            <a:endParaRPr lang="en-US" sz="1100"/>
          </a:p>
        </p:txBody>
      </p:sp>
      <p:cxnSp>
        <p:nvCxnSpPr>
          <p:cNvPr name="Connector 27" id="27"/>
          <p:cNvCxnSpPr/>
          <p:nvPr/>
        </p:nvCxnSpPr>
        <p:spPr>
          <a:xfrm rot="5359557" flipH="false" flipV="false">
            <a:off x="7080250" y="4216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28" id="28"/>
          <p:cNvSpPr/>
          <p:nvPr/>
        </p:nvSpPr>
        <p:spPr>
          <a:xfrm rot="0" flipH="false" flipV="false">
            <a:off x="7810500" y="3683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收入模型与资金策略</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设计多元化、可持续的收入增长模型，平衡短期收益与长期投入；制定稳健的资金运作计划与风险控制策略，保障现金流安全。</a:t>
            </a:r>
          </a:p>
        </p:txBody>
      </p:sp>
      <p:sp>
        <p:nvSpPr>
          <p:cNvPr name="AutoShape 29" id="29"/>
          <p:cNvSpPr/>
          <p:nvPr/>
        </p:nvSpPr>
        <p:spPr>
          <a:xfrm rot="0" flipH="false" flipV="false">
            <a:off x="6350000" y="5207000"/>
            <a:ext cx="5461000" cy="1333500"/>
          </a:xfrm>
          <a:prstGeom prst="roundRect">
            <a:avLst>
              <a:gd name="adj" fmla="val 0"/>
            </a:avLst>
          </a:prstGeom>
          <a:solidFill>
            <a:srgbClr val="F8FAFC">
              <a:alpha val="100000"/>
            </a:srgbClr>
          </a:solidFill>
          <a:ln cmpd="sng" cap="flat">
            <a:solidFill>
              <a:srgbClr val="C8D5E3">
                <a:alpha val="10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350000" y="5207000"/>
            <a:ext cx="76200" cy="1333500"/>
          </a:xfrm>
          <a:prstGeom prst="roundRect">
            <a:avLst>
              <a:gd name="adj" fmla="val 0"/>
            </a:avLst>
          </a:prstGeom>
          <a:solidFill>
            <a:srgbClr val="1C375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604000" y="5270500"/>
            <a:ext cx="88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1C375D"/>
                </a:solidFill>
                <a:latin typeface="Noto Sans SC"/>
                <a:ea typeface="Noto Sans SC"/>
                <a:cs typeface="Noto Sans SC"/>
                <a:sym typeface="Noto Sans SC"/>
              </a:rPr>
              <a:t>06</a:t>
            </a:r>
            <a:endParaRPr lang="en-US" sz="1100"/>
          </a:p>
        </p:txBody>
      </p:sp>
      <p:cxnSp>
        <p:nvCxnSpPr>
          <p:cNvPr name="Connector 32" id="32"/>
          <p:cNvCxnSpPr/>
          <p:nvPr/>
        </p:nvCxnSpPr>
        <p:spPr>
          <a:xfrm rot="5359557" flipH="false" flipV="false">
            <a:off x="7080250" y="5867437"/>
            <a:ext cx="1079500" cy="12700"/>
          </a:xfrm>
          <a:prstGeom prst="line">
            <a:avLst/>
          </a:prstGeom>
          <a:solidFill>
            <a:srgbClr val="DEE0E3">
              <a:alpha val="100000"/>
            </a:srgbClr>
          </a:solidFill>
          <a:ln w="12700" cmpd="sng" cap="flat">
            <a:solidFill>
              <a:srgbClr val="1C375D">
                <a:alpha val="20000"/>
              </a:srgbClr>
            </a:solidFill>
            <a:prstDash val="solid"/>
            <a:round/>
            <a:headEnd type="none" w="med" len="med"/>
            <a:tailEnd type="none" w="med" len="med"/>
          </a:ln>
        </p:spPr>
      </p:cxnSp>
      <p:sp>
        <p:nvSpPr>
          <p:cNvPr name="AutoShape 33" id="33"/>
          <p:cNvSpPr/>
          <p:nvPr/>
        </p:nvSpPr>
        <p:spPr>
          <a:xfrm rot="0" flipH="false" flipV="false">
            <a:off x="7810500" y="5334000"/>
            <a:ext cx="374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核心理念与终极愿景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666666"/>
                </a:solidFill>
                <a:latin typeface="Noto Sans SC"/>
                <a:ea typeface="Noto Sans SC"/>
                <a:cs typeface="Noto Sans SC"/>
                <a:sym typeface="Noto Sans SC"/>
              </a:rPr>
              <a:t>凝练驱动企业持续前行的核心价值观，描绘长远的品牌发展蓝图，明确企业承担的社会责任与终极发展愿景。</a:t>
            </a:r>
          </a:p>
        </p:txBody>
      </p:sp>
    </p:spTree>
  </p:cSld>
  <p:clrMapOvr>
    <a:masterClrMapping/>
  </p:clrMapOvr>
</p:sld>
</file>

<file path=ppt/slides/slide3.xml><?xml version="1.0" encoding="utf-8"?>
<p:sld xmlns:p="http://schemas.openxmlformats.org/presentationml/2006/main" xmlns:a="http://schemas.openxmlformats.org/drawingml/2006/main">
  <p:cSld>
    <p:bg>
      <p:bgPr>
        <a:gradFill rotWithShape="true">
          <a:gsLst>
            <a:gs pos="0">
              <a:srgbClr val="0A192F">
                <a:alpha val="100000"/>
              </a:srgbClr>
            </a:gs>
            <a:gs pos="100000">
              <a:srgbClr val="172A45">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1270000" y="1905000"/>
            <a:ext cx="5080000" cy="5080000"/>
          </a:xfrm>
          <a:prstGeom prst="ellipse">
            <a:avLst/>
          </a:prstGeom>
          <a:solidFill>
            <a:srgbClr val="FFFFFF">
              <a:alpha val="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2700000" flipH="false" flipV="false">
            <a:off x="10795000" y="-635000"/>
            <a:ext cx="2540000" cy="2540000"/>
          </a:xfrm>
          <a:prstGeom prst="roundRect">
            <a:avLst>
              <a:gd name="adj" fmla="val 0"/>
            </a:avLst>
          </a:prstGeom>
          <a:solidFill>
            <a:srgbClr val="38BDF8">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09600" y="2921000"/>
            <a:ext cx="76200" cy="17780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2667000"/>
            <a:ext cx="3556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0">
                <a:solidFill>
                  <a:srgbClr val="FFFFFF">
                    <a:alpha val="12157"/>
                  </a:srgbClr>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609600" y="55880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94A3B8">
                    <a:alpha val="70196"/>
                  </a:srgbClr>
                </a:solidFill>
                <a:latin typeface="Noto Sans SC"/>
                <a:ea typeface="Noto Sans SC"/>
                <a:cs typeface="Noto Sans SC"/>
                <a:sym typeface="Noto Sans SC"/>
              </a:rPr>
              <a:t>从宏观视角切入，以数据为支撑，构建清晰的战略认知框架，明确发展方向。</a:t>
            </a:r>
            <a:endParaRPr lang="en-US" sz="1100"/>
          </a:p>
        </p:txBody>
      </p:sp>
      <p:cxnSp>
        <p:nvCxnSpPr>
          <p:cNvPr name="Connector 7" id="7"/>
          <p:cNvCxnSpPr/>
          <p:nvPr/>
        </p:nvCxnSpPr>
        <p:spPr>
          <a:xfrm rot="5387722" flipH="false" flipV="false">
            <a:off x="3429000" y="3803661"/>
            <a:ext cx="35560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8" id="8"/>
          <p:cNvSpPr/>
          <p:nvPr/>
        </p:nvSpPr>
        <p:spPr>
          <a:xfrm rot="0" flipH="false" flipV="false">
            <a:off x="5715000" y="2413000"/>
            <a:ext cx="584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200" spc="300">
                <a:solidFill>
                  <a:srgbClr val="BAE6FD"/>
                </a:solidFill>
                <a:latin typeface="Noto Sans SC"/>
                <a:ea typeface="Noto Sans SC"/>
                <a:cs typeface="Noto Sans SC"/>
                <a:sym typeface="Noto Sans SC"/>
              </a:rPr>
              <a:t>CHAPTER 01</a:t>
            </a:r>
            <a:endParaRPr lang="en-US" sz="1100"/>
          </a:p>
        </p:txBody>
      </p:sp>
      <p:sp>
        <p:nvSpPr>
          <p:cNvPr name="AutoShape 9" id="9"/>
          <p:cNvSpPr/>
          <p:nvPr/>
        </p:nvSpPr>
        <p:spPr>
          <a:xfrm rot="0" flipH="false" flipV="false">
            <a:off x="5715000" y="3429000"/>
            <a:ext cx="596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600">
                <a:solidFill>
                  <a:srgbClr val="FFFFFF"/>
                </a:solidFill>
                <a:latin typeface="Noto Sans SC"/>
                <a:ea typeface="Noto Sans SC"/>
                <a:cs typeface="Noto Sans SC"/>
                <a:sym typeface="Noto Sans SC"/>
              </a:rPr>
              <a:t>战略背景与核心判断</a:t>
            </a:r>
            <a:endParaRPr lang="en-US" sz="1100"/>
          </a:p>
        </p:txBody>
      </p:sp>
      <p:sp>
        <p:nvSpPr>
          <p:cNvPr name="AutoShape 10" id="10"/>
          <p:cNvSpPr/>
          <p:nvPr/>
        </p:nvSpPr>
        <p:spPr>
          <a:xfrm rot="0" flipH="false" flipV="false">
            <a:off x="5715000" y="5080000"/>
            <a:ext cx="889000" cy="508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715000" y="5461000"/>
            <a:ext cx="5842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E2E8F0">
                    <a:alpha val="85098"/>
                  </a:srgbClr>
                </a:solidFill>
                <a:latin typeface="Noto Sans SC"/>
                <a:ea typeface="Noto Sans SC"/>
                <a:cs typeface="Noto Sans SC"/>
                <a:sym typeface="Noto Sans SC"/>
              </a:rPr>
              <a:t>深度剖析宏观经济趋势与行业竞争格局，识别关键驱动因素与潜在风险点，为企业的长远战略布局奠定坚实的认知基础与价值锚点。</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3556000" cy="6858000"/>
          </a:xfrm>
          <a:prstGeom prst="roundRect">
            <a:avLst>
              <a:gd name="adj" fmla="val 0"/>
            </a:avLst>
          </a:prstGeom>
          <a:solidFill>
            <a:srgbClr val="0F4C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2286000"/>
            <a:ext cx="76200" cy="2286000"/>
          </a:xfrm>
          <a:prstGeom prst="roundRect">
            <a:avLst>
              <a:gd name="adj" fmla="val 0"/>
            </a:avLst>
          </a:prstGeom>
          <a:solidFill>
            <a:srgbClr val="0F4C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286000"/>
            <a:ext cx="2667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3600">
                <a:solidFill>
                  <a:srgbClr val="0F4C81"/>
                </a:solidFill>
                <a:latin typeface="Noto Sans SC"/>
                <a:ea typeface="Noto Sans SC"/>
                <a:cs typeface="Noto Sans SC"/>
                <a:sym typeface="Noto Sans SC"/>
              </a:rPr>
              <a:t>1.1 时代已经</a:t>
            </a:r>
            <a:r>
              <a:rPr lang="en-US" b="true" i="false" strike="noStrike" u="none" sz="3600">
                <a:solidFill>
                  <a:srgbClr val="0F4C81"/>
                </a:solidFill>
                <a:latin typeface="Noto Sans SC"/>
                <a:ea typeface="Noto Sans SC"/>
                <a:cs typeface="Noto Sans SC"/>
                <a:sym typeface="Noto Sans SC"/>
              </a:rPr>
              <a:t/>
            </a:r>
            <a:br>
              <a:rPr lang="en-US" b="true" i="false" strike="noStrike" u="none" sz="3600">
                <a:solidFill>
                  <a:srgbClr val="0F4C81"/>
                </a:solidFill>
                <a:latin typeface="Noto Sans SC"/>
                <a:ea typeface="Noto Sans SC"/>
                <a:cs typeface="Noto Sans SC"/>
                <a:sym typeface="Noto Sans SC"/>
              </a:rPr>
            </a:br>
            <a:r>
              <a:rPr lang="en-US" b="true" i="false" strike="noStrike" u="none" sz="3600">
                <a:solidFill>
                  <a:srgbClr val="0F4C81"/>
                </a:solidFill>
                <a:latin typeface="Noto Sans SC"/>
                <a:ea typeface="Noto Sans SC"/>
                <a:cs typeface="Noto Sans SC"/>
                <a:sym typeface="Noto Sans SC"/>
              </a:rPr>
              <a:t>根本性改变</a:t>
            </a:r>
            <a:endParaRPr lang="en-US" sz="1100"/>
          </a:p>
        </p:txBody>
      </p:sp>
      <p:sp>
        <p:nvSpPr>
          <p:cNvPr name="AutoShape 5" id="5"/>
          <p:cNvSpPr/>
          <p:nvPr/>
        </p:nvSpPr>
        <p:spPr>
          <a:xfrm rot="0" flipH="false" flipV="false">
            <a:off x="762000" y="4572000"/>
            <a:ext cx="2667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商业环境与用户行为的剧变，使得过往依赖的方法论逐渐失效，新的价值交付体系亟待建立。</a:t>
            </a:r>
            <a:endParaRPr lang="en-US" sz="1100"/>
          </a:p>
        </p:txBody>
      </p:sp>
      <p:cxnSp>
        <p:nvCxnSpPr>
          <p:cNvPr name="Connector 6" id="6"/>
          <p:cNvCxnSpPr/>
          <p:nvPr/>
        </p:nvCxnSpPr>
        <p:spPr>
          <a:xfrm rot="5391814" flipH="false" flipV="false">
            <a:off x="1143000" y="3422658"/>
            <a:ext cx="5334000" cy="12700"/>
          </a:xfrm>
          <a:prstGeom prst="straightConnector1">
            <a:avLst/>
          </a:prstGeom>
          <a:solidFill>
            <a:srgbClr val="DEE0E3">
              <a:alpha val="100000"/>
            </a:srgbClr>
          </a:solidFill>
          <a:ln w="12700" cmpd="sng" cap="flat">
            <a:solidFill>
              <a:srgbClr val="0F4C81">
                <a:alpha val="20000"/>
              </a:srgbClr>
            </a:solidFill>
            <a:prstDash val="dash"/>
            <a:round/>
            <a:headEnd type="none" w="med" len="med"/>
            <a:tailEnd type="none" w="med" len="med"/>
          </a:ln>
        </p:spPr>
      </p:cxnSp>
      <p:sp>
        <p:nvSpPr>
          <p:cNvPr name="AutoShape 7" id="7"/>
          <p:cNvSpPr/>
          <p:nvPr/>
        </p:nvSpPr>
        <p:spPr>
          <a:xfrm rot="0" flipH="false" flipV="false">
            <a:off x="4191000" y="1016000"/>
            <a:ext cx="7493000" cy="2476500"/>
          </a:xfrm>
          <a:prstGeom prst="roundRect">
            <a:avLst>
              <a:gd name="adj" fmla="val 0"/>
            </a:avLst>
          </a:prstGeom>
          <a:solidFill>
            <a:srgbClr val="F8F9FA">
              <a:alpha val="100000"/>
            </a:srgbClr>
          </a:solidFill>
          <a:ln w="12700" cmpd="sng" cap="flat">
            <a:solidFill>
              <a:srgbClr val="0F4C81">
                <a:alpha val="15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4191000" y="1016000"/>
            <a:ext cx="101600" cy="2476500"/>
          </a:xfrm>
          <a:prstGeom prst="roundRect">
            <a:avLst>
              <a:gd name="adj" fmla="val 0"/>
            </a:avLst>
          </a:prstGeom>
          <a:solidFill>
            <a:srgbClr val="0F4C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4572000" y="1333500"/>
            <a:ext cx="609600" cy="609600"/>
          </a:xfrm>
          <a:prstGeom prst="rect">
            <a:avLst/>
          </a:prstGeom>
        </p:spPr>
      </p:pic>
      <p:sp>
        <p:nvSpPr>
          <p:cNvPr name="AutoShape 10" id="10"/>
          <p:cNvSpPr/>
          <p:nvPr/>
        </p:nvSpPr>
        <p:spPr>
          <a:xfrm rot="0" flipH="false" flipV="false">
            <a:off x="5461000" y="1333500"/>
            <a:ext cx="584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F4C81"/>
                </a:solidFill>
                <a:latin typeface="Noto Sans SC"/>
                <a:ea typeface="Noto Sans SC"/>
                <a:cs typeface="Noto Sans SC"/>
                <a:sym typeface="Noto Sans SC"/>
              </a:rPr>
              <a:t>01. 传统落地方法全面失效</a:t>
            </a:r>
            <a:endParaRPr lang="en-US" sz="1100"/>
          </a:p>
        </p:txBody>
      </p:sp>
      <p:cxnSp>
        <p:nvCxnSpPr>
          <p:cNvPr name="Connector 11" id="11"/>
          <p:cNvCxnSpPr/>
          <p:nvPr/>
        </p:nvCxnSpPr>
        <p:spPr>
          <a:xfrm rot="-6486" flipH="false" flipV="false">
            <a:off x="4572006" y="2279650"/>
            <a:ext cx="673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2" id="12"/>
          <p:cNvSpPr/>
          <p:nvPr/>
        </p:nvSpPr>
        <p:spPr>
          <a:xfrm rot="0" flipH="false" flipV="false">
            <a:off x="4572000" y="2540000"/>
            <a:ext cx="685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3333"/>
                </a:solidFill>
                <a:latin typeface="Noto Sans SC"/>
                <a:ea typeface="Noto Sans SC"/>
                <a:cs typeface="Noto Sans SC"/>
                <a:sym typeface="Noto Sans SC"/>
              </a:rPr>
              <a:t>过去依赖的名单邀约、一对一硬推、线下聚会宣讲等传统方式，在当下社会环境中已步履维艰。用户获取信息的渠道多元化，决策路径更加自主化，单纯的推销逻辑已无法触达用户核心需求。</a:t>
            </a:r>
            <a:endParaRPr lang="en-US" sz="1100"/>
          </a:p>
        </p:txBody>
      </p:sp>
      <p:sp>
        <p:nvSpPr>
          <p:cNvPr name="AutoShape 13" id="13"/>
          <p:cNvSpPr/>
          <p:nvPr/>
        </p:nvSpPr>
        <p:spPr>
          <a:xfrm rot="0" flipH="false" flipV="false">
            <a:off x="4191000" y="3873500"/>
            <a:ext cx="7493000" cy="2476500"/>
          </a:xfrm>
          <a:prstGeom prst="roundRect">
            <a:avLst>
              <a:gd name="adj" fmla="val 0"/>
            </a:avLst>
          </a:prstGeom>
          <a:solidFill>
            <a:srgbClr val="F8F9FA">
              <a:alpha val="100000"/>
            </a:srgbClr>
          </a:solidFill>
          <a:ln w="12700" cmpd="sng" cap="flat">
            <a:solidFill>
              <a:srgbClr val="0F4C81">
                <a:alpha val="15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191000" y="3873500"/>
            <a:ext cx="101600" cy="2476500"/>
          </a:xfrm>
          <a:prstGeom prst="roundRect">
            <a:avLst>
              <a:gd name="adj" fmla="val 0"/>
            </a:avLst>
          </a:prstGeom>
          <a:solidFill>
            <a:srgbClr val="0F4C81">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4191000"/>
            <a:ext cx="609600" cy="609600"/>
          </a:xfrm>
          <a:prstGeom prst="rect">
            <a:avLst/>
          </a:prstGeom>
        </p:spPr>
      </p:pic>
      <p:sp>
        <p:nvSpPr>
          <p:cNvPr name="AutoShape 16" id="16"/>
          <p:cNvSpPr/>
          <p:nvPr/>
        </p:nvSpPr>
        <p:spPr>
          <a:xfrm rot="0" flipH="false" flipV="false">
            <a:off x="5461000" y="4191000"/>
            <a:ext cx="584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F4C81"/>
                </a:solidFill>
                <a:latin typeface="Noto Sans SC"/>
                <a:ea typeface="Noto Sans SC"/>
                <a:cs typeface="Noto Sans SC"/>
                <a:sym typeface="Noto Sans SC"/>
              </a:rPr>
              <a:t>02. 传统“前戏”模式价值供给不足</a:t>
            </a:r>
            <a:endParaRPr lang="en-US" sz="1100"/>
          </a:p>
        </p:txBody>
      </p:sp>
      <p:cxnSp>
        <p:nvCxnSpPr>
          <p:cNvPr name="Connector 17" id="17"/>
          <p:cNvCxnSpPr/>
          <p:nvPr/>
        </p:nvCxnSpPr>
        <p:spPr>
          <a:xfrm rot="-6486" flipH="false" flipV="false">
            <a:off x="4572006" y="5137150"/>
            <a:ext cx="673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8" id="18"/>
          <p:cNvSpPr/>
          <p:nvPr/>
        </p:nvSpPr>
        <p:spPr>
          <a:xfrm rot="0" flipH="false" flipV="false">
            <a:off x="4572000" y="5334000"/>
            <a:ext cx="6858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3333"/>
                </a:solidFill>
                <a:latin typeface="Noto Sans SC"/>
                <a:ea typeface="Noto Sans SC"/>
                <a:cs typeface="Noto Sans SC"/>
                <a:sym typeface="Noto Sans SC"/>
              </a:rPr>
              <a:t>3-5年前盛行的“优质内容+付费社群”模式已成为标配，难以形成差异化。核心策略需转向围绕“在美乐家赚钱”构建完整的价值生态，打造超出用户预期的配套服务与体验设施，重新建立信任与粘性。</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74EA6"/>
                </a:solidFill>
                <a:latin typeface="Noto Sans SC"/>
                <a:ea typeface="Noto Sans SC"/>
                <a:cs typeface="Noto Sans SC"/>
                <a:sym typeface="Noto Sans SC"/>
              </a:rPr>
              <a:t>1.2 竞争环境的结构性改变</a:t>
            </a:r>
            <a:endParaRPr lang="en-US" sz="1100"/>
          </a:p>
        </p:txBody>
      </p:sp>
      <p:cxnSp>
        <p:nvCxnSpPr>
          <p:cNvPr name="Connector 3" id="3"/>
          <p:cNvCxnSpPr/>
          <p:nvPr/>
        </p:nvCxnSpPr>
        <p:spPr>
          <a:xfrm rot="-3906" flipH="false" flipV="false">
            <a:off x="508004" y="1200150"/>
            <a:ext cx="11176000" cy="12700"/>
          </a:xfrm>
          <a:prstGeom prst="straightConnector1">
            <a:avLst/>
          </a:prstGeom>
          <a:solidFill>
            <a:srgbClr val="DEE0E3">
              <a:alpha val="100000"/>
            </a:srgbClr>
          </a:solidFill>
          <a:ln w="12700" cmpd="sng" cap="flat">
            <a:solidFill>
              <a:srgbClr val="174EA6">
                <a:alpha val="20000"/>
              </a:srgbClr>
            </a:solidFill>
            <a:prstDash val="solid"/>
            <a:round/>
            <a:headEnd type="none" w="med" len="med"/>
            <a:tailEnd type="none" w="med" len="med"/>
          </a:ln>
        </p:spPr>
      </p:cxnSp>
      <p:sp>
        <p:nvSpPr>
          <p:cNvPr name="AutoShape 4" id="4"/>
          <p:cNvSpPr/>
          <p:nvPr/>
        </p:nvSpPr>
        <p:spPr>
          <a:xfrm rot="0" flipH="false" flipV="false">
            <a:off x="508000" y="1651000"/>
            <a:ext cx="5524500" cy="2159000"/>
          </a:xfrm>
          <a:prstGeom prst="roundRect">
            <a:avLst>
              <a:gd name="adj" fmla="val 0"/>
            </a:avLst>
          </a:prstGeom>
          <a:solidFill>
            <a:srgbClr val="FFF7ED">
              <a:alpha val="100000"/>
            </a:srgbClr>
          </a:solidFill>
          <a:ln w="12700" cmpd="sng" cap="flat">
            <a:solidFill>
              <a:srgbClr val="F97316">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841500"/>
            <a:ext cx="406400" cy="406400"/>
          </a:xfrm>
          <a:prstGeom prst="rect">
            <a:avLst/>
          </a:prstGeom>
        </p:spPr>
      </p:pic>
      <p:sp>
        <p:nvSpPr>
          <p:cNvPr name="AutoShape 6" id="6"/>
          <p:cNvSpPr/>
          <p:nvPr/>
        </p:nvSpPr>
        <p:spPr>
          <a:xfrm rot="0" flipH="false" flipV="false">
            <a:off x="1270000" y="1803400"/>
            <a:ext cx="457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97316"/>
                </a:solidFill>
                <a:latin typeface="Noto Sans SC"/>
                <a:ea typeface="Noto Sans SC"/>
                <a:cs typeface="Noto Sans SC"/>
                <a:sym typeface="Noto Sans SC"/>
              </a:rPr>
              <a:t>01. 传统品质与价格优势彻底丧失</a:t>
            </a:r>
            <a:endParaRPr lang="en-US" sz="1100"/>
          </a:p>
        </p:txBody>
      </p:sp>
      <p:cxnSp>
        <p:nvCxnSpPr>
          <p:cNvPr name="Connector 7" id="7"/>
          <p:cNvCxnSpPr/>
          <p:nvPr/>
        </p:nvCxnSpPr>
        <p:spPr>
          <a:xfrm rot="-8594" flipH="false" flipV="false">
            <a:off x="698508" y="2406650"/>
            <a:ext cx="5080000" cy="12700"/>
          </a:xfrm>
          <a:prstGeom prst="straightConnector1">
            <a:avLst/>
          </a:prstGeom>
          <a:solidFill>
            <a:srgbClr val="DEE0E3">
              <a:alpha val="100000"/>
            </a:srgbClr>
          </a:solidFill>
          <a:ln w="12700" cmpd="sng" cap="flat">
            <a:solidFill>
              <a:srgbClr val="F97316">
                <a:alpha val="20000"/>
              </a:srgbClr>
            </a:solidFill>
            <a:prstDash val="dash"/>
            <a:round/>
            <a:headEnd type="none" w="med" len="med"/>
            <a:tailEnd type="none" w="med" len="med"/>
          </a:ln>
        </p:spPr>
      </p:cxnSp>
      <p:sp>
        <p:nvSpPr>
          <p:cNvPr name="AutoShape 8" id="8"/>
          <p:cNvSpPr/>
          <p:nvPr/>
        </p:nvSpPr>
        <p:spPr>
          <a:xfrm rot="0" flipH="false" flipV="false">
            <a:off x="698500" y="2603500"/>
            <a:ext cx="514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中国大陆已构建起完整的全产业供应链体系，工业生产效率领先全球。这使得美乐家原本依赖进口或传统代工的产品，在品质趋同的情况下价格优势不再，原有的核心竞争力壁垒被市场环境彻底瓦解。</a:t>
            </a:r>
            <a:endParaRPr lang="en-US" sz="1100"/>
          </a:p>
        </p:txBody>
      </p:sp>
      <p:sp>
        <p:nvSpPr>
          <p:cNvPr name="AutoShape 9" id="9"/>
          <p:cNvSpPr/>
          <p:nvPr/>
        </p:nvSpPr>
        <p:spPr>
          <a:xfrm rot="0" flipH="false" flipV="false">
            <a:off x="6159500" y="1651000"/>
            <a:ext cx="5524500" cy="2159000"/>
          </a:xfrm>
          <a:prstGeom prst="roundRect">
            <a:avLst>
              <a:gd name="adj" fmla="val 0"/>
            </a:avLst>
          </a:prstGeom>
          <a:solidFill>
            <a:srgbClr val="FEF2F2">
              <a:alpha val="100000"/>
            </a:srgbClr>
          </a:solidFill>
          <a:ln w="12700" cmpd="sng" cap="flat">
            <a:solidFill>
              <a:srgbClr val="EF4444">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350000" y="1841500"/>
            <a:ext cx="406400" cy="406400"/>
          </a:xfrm>
          <a:prstGeom prst="rect">
            <a:avLst/>
          </a:prstGeom>
        </p:spPr>
      </p:pic>
      <p:sp>
        <p:nvSpPr>
          <p:cNvPr name="AutoShape 11" id="11"/>
          <p:cNvSpPr/>
          <p:nvPr/>
        </p:nvSpPr>
        <p:spPr>
          <a:xfrm rot="0" flipH="false" flipV="false">
            <a:off x="6921500" y="1803400"/>
            <a:ext cx="457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F4444"/>
                </a:solidFill>
                <a:latin typeface="Noto Sans SC"/>
                <a:ea typeface="Noto Sans SC"/>
                <a:cs typeface="Noto Sans SC"/>
                <a:sym typeface="Noto Sans SC"/>
              </a:rPr>
              <a:t>02. R3用户池留存与转化效能低下</a:t>
            </a:r>
            <a:endParaRPr lang="en-US" sz="1100"/>
          </a:p>
        </p:txBody>
      </p:sp>
      <p:cxnSp>
        <p:nvCxnSpPr>
          <p:cNvPr name="Connector 12" id="12"/>
          <p:cNvCxnSpPr/>
          <p:nvPr/>
        </p:nvCxnSpPr>
        <p:spPr>
          <a:xfrm rot="-8594" flipH="false" flipV="false">
            <a:off x="6350008" y="2406650"/>
            <a:ext cx="5080000" cy="12700"/>
          </a:xfrm>
          <a:prstGeom prst="straightConnector1">
            <a:avLst/>
          </a:prstGeom>
          <a:solidFill>
            <a:srgbClr val="DEE0E3">
              <a:alpha val="100000"/>
            </a:srgbClr>
          </a:solidFill>
          <a:ln w="12700" cmpd="sng" cap="flat">
            <a:solidFill>
              <a:srgbClr val="EF4444">
                <a:alpha val="20000"/>
              </a:srgbClr>
            </a:solidFill>
            <a:prstDash val="dash"/>
            <a:round/>
            <a:headEnd type="none" w="med" len="med"/>
            <a:tailEnd type="none" w="med" len="med"/>
          </a:ln>
        </p:spPr>
      </p:cxnSp>
      <p:sp>
        <p:nvSpPr>
          <p:cNvPr name="AutoShape 13" id="13"/>
          <p:cNvSpPr/>
          <p:nvPr/>
        </p:nvSpPr>
        <p:spPr>
          <a:xfrm rot="0" flipH="false" flipV="false">
            <a:off x="6350000" y="2603500"/>
            <a:ext cx="5143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25252"/>
                </a:solidFill>
                <a:latin typeface="Noto Sans SC"/>
                <a:ea typeface="Noto Sans SC"/>
                <a:cs typeface="Noto Sans SC"/>
                <a:sym typeface="Noto Sans SC"/>
              </a:rPr>
              <a:t>R3虽具备优质用户基础，但目前的运营模式缺乏新的增长点，留存率和转化率长期低迷。团队本质上仍在依赖美乐家过往的品牌红利“啃老本”，缺乏主动激活用户和拓展价值的有效手段。</a:t>
            </a:r>
            <a:endParaRPr lang="en-US" sz="1100"/>
          </a:p>
        </p:txBody>
      </p:sp>
      <p:cxnSp>
        <p:nvCxnSpPr>
          <p:cNvPr name="Connector 14" id="14"/>
          <p:cNvCxnSpPr/>
          <p:nvPr/>
        </p:nvCxnSpPr>
        <p:spPr>
          <a:xfrm rot="-3906" flipH="false" flipV="false">
            <a:off x="508004" y="4184650"/>
            <a:ext cx="11176000" cy="12700"/>
          </a:xfrm>
          <a:prstGeom prst="straightConnector1">
            <a:avLst/>
          </a:prstGeom>
          <a:solidFill>
            <a:srgbClr val="DEE0E3">
              <a:alpha val="100000"/>
            </a:srgbClr>
          </a:solidFill>
          <a:ln w="12700" cmpd="sng" cap="flat">
            <a:solidFill>
              <a:srgbClr val="C8C8C8">
                <a:alpha val="50000"/>
              </a:srgbClr>
            </a:solidFill>
            <a:prstDash val="solid"/>
            <a:round/>
            <a:headEnd type="none" w="med" len="med"/>
            <a:tailEnd type="none" w="med" len="med"/>
          </a:ln>
        </p:spPr>
      </p:cxnSp>
      <p:sp>
        <p:nvSpPr>
          <p:cNvPr name="AutoShape 15" id="15"/>
          <p:cNvSpPr/>
          <p:nvPr/>
        </p:nvSpPr>
        <p:spPr>
          <a:xfrm rot="0" flipH="false" flipV="false">
            <a:off x="508000" y="4064000"/>
            <a:ext cx="1524000" cy="304800"/>
          </a:xfrm>
          <a:prstGeom prst="roundRect">
            <a:avLst>
              <a:gd name="adj" fmla="val 0"/>
            </a:avLst>
          </a:prstGeom>
          <a:solidFill>
            <a:srgbClr val="174EA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71500" y="4089400"/>
            <a:ext cx="1397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FFFFFF"/>
                </a:solidFill>
                <a:latin typeface="Noto Sans SC"/>
                <a:ea typeface="Noto Sans SC"/>
                <a:cs typeface="Noto Sans SC"/>
                <a:sym typeface="Noto Sans SC"/>
              </a:rPr>
              <a:t>痛点倒逼升级</a:t>
            </a:r>
            <a:endParaRPr lang="en-US" sz="1100"/>
          </a:p>
        </p:txBody>
      </p:sp>
      <p:sp>
        <p:nvSpPr>
          <p:cNvPr name="AutoShape 17" id="17"/>
          <p:cNvSpPr/>
          <p:nvPr/>
        </p:nvSpPr>
        <p:spPr>
          <a:xfrm rot="0" flipH="false" flipV="false">
            <a:off x="508000" y="4572000"/>
            <a:ext cx="11176000" cy="1841500"/>
          </a:xfrm>
          <a:prstGeom prst="roundRect">
            <a:avLst>
              <a:gd name="adj" fmla="val 0"/>
            </a:avLst>
          </a:prstGeom>
          <a:solidFill>
            <a:srgbClr val="EFF6FF">
              <a:alpha val="100000"/>
            </a:srgbClr>
          </a:solidFill>
          <a:ln w="12700" cmpd="sng" cap="flat">
            <a:solidFill>
              <a:srgbClr val="174EA6">
                <a:alpha val="1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35000" y="4699000"/>
            <a:ext cx="3556000" cy="1587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4826000"/>
            <a:ext cx="355600" cy="355600"/>
          </a:xfrm>
          <a:prstGeom prst="rect">
            <a:avLst/>
          </a:prstGeom>
        </p:spPr>
      </p:pic>
      <p:sp>
        <p:nvSpPr>
          <p:cNvPr name="AutoShape 20" id="20"/>
          <p:cNvSpPr/>
          <p:nvPr/>
        </p:nvSpPr>
        <p:spPr>
          <a:xfrm rot="0" flipH="false" flipV="false">
            <a:off x="1206500" y="48006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74EA6"/>
                </a:solidFill>
                <a:latin typeface="Noto Sans SC"/>
                <a:ea typeface="Noto Sans SC"/>
                <a:cs typeface="Noto Sans SC"/>
                <a:sym typeface="Noto Sans SC"/>
              </a:rPr>
              <a:t>锚定核心：产品与系统</a:t>
            </a:r>
            <a:endParaRPr lang="en-US" sz="1100"/>
          </a:p>
        </p:txBody>
      </p:sp>
      <p:cxnSp>
        <p:nvCxnSpPr>
          <p:cNvPr name="Connector 21" id="21"/>
          <p:cNvCxnSpPr/>
          <p:nvPr/>
        </p:nvCxnSpPr>
        <p:spPr>
          <a:xfrm rot="-13222" flipH="false" flipV="false">
            <a:off x="762012" y="5327650"/>
            <a:ext cx="3302000" cy="12700"/>
          </a:xfrm>
          <a:prstGeom prst="straightConnector1">
            <a:avLst/>
          </a:prstGeom>
          <a:solidFill>
            <a:srgbClr val="DEE0E3">
              <a:alpha val="100000"/>
            </a:srgbClr>
          </a:solidFill>
          <a:ln w="12700" cmpd="sng" cap="flat">
            <a:solidFill>
              <a:srgbClr val="174EA6">
                <a:alpha val="15000"/>
              </a:srgbClr>
            </a:solidFill>
            <a:prstDash val="solid"/>
            <a:round/>
            <a:headEnd type="none" w="med" len="med"/>
            <a:tailEnd type="none" w="med" len="med"/>
          </a:ln>
        </p:spPr>
      </p:cxnSp>
      <p:sp>
        <p:nvSpPr>
          <p:cNvPr name="AutoShape 22" id="22"/>
          <p:cNvSpPr/>
          <p:nvPr/>
        </p:nvSpPr>
        <p:spPr>
          <a:xfrm rot="0" flipH="false" flipV="false">
            <a:off x="762000" y="54610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05050"/>
                </a:solidFill>
                <a:latin typeface="Noto Sans SC"/>
                <a:ea typeface="Noto Sans SC"/>
                <a:cs typeface="Noto Sans SC"/>
                <a:sym typeface="Noto Sans SC"/>
              </a:rPr>
              <a:t>坚持以美乐家现有成熟系统和优质产品为绝对核心，不偏离主业根基，稳固基本盘，为后续生态构建提供可靠支撑。</a:t>
            </a:r>
            <a:endParaRPr lang="en-US" sz="1100"/>
          </a:p>
        </p:txBody>
      </p:sp>
      <p:cxnSp>
        <p:nvCxnSpPr>
          <p:cNvPr name="Connector 23" id="23"/>
          <p:cNvCxnSpPr/>
          <p:nvPr/>
        </p:nvCxnSpPr>
        <p:spPr>
          <a:xfrm rot="5368748" flipH="false" flipV="false">
            <a:off x="3619500" y="5454679"/>
            <a:ext cx="1397000" cy="12700"/>
          </a:xfrm>
          <a:prstGeom prst="straightConnector1">
            <a:avLst/>
          </a:prstGeom>
          <a:solidFill>
            <a:srgbClr val="DEE0E3">
              <a:alpha val="100000"/>
            </a:srgbClr>
          </a:solidFill>
          <a:ln w="12700" cmpd="sng" cap="flat">
            <a:solidFill>
              <a:srgbClr val="174EA6">
                <a:alpha val="10000"/>
              </a:srgbClr>
            </a:solidFill>
            <a:prstDash val="solid"/>
            <a:round/>
            <a:headEnd type="none" w="med" len="med"/>
            <a:tailEnd type="none" w="med" len="med"/>
          </a:ln>
        </p:spPr>
      </p:cxnSp>
      <p:sp>
        <p:nvSpPr>
          <p:cNvPr name="AutoShape 24" id="24"/>
          <p:cNvSpPr/>
          <p:nvPr/>
        </p:nvSpPr>
        <p:spPr>
          <a:xfrm rot="0" flipH="false" flipV="false">
            <a:off x="4445000" y="4699000"/>
            <a:ext cx="3556000" cy="1587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4572000" y="4826000"/>
            <a:ext cx="355600" cy="355600"/>
          </a:xfrm>
          <a:prstGeom prst="rect">
            <a:avLst/>
          </a:prstGeom>
        </p:spPr>
      </p:pic>
      <p:sp>
        <p:nvSpPr>
          <p:cNvPr name="AutoShape 26" id="26"/>
          <p:cNvSpPr/>
          <p:nvPr/>
        </p:nvSpPr>
        <p:spPr>
          <a:xfrm rot="0" flipH="false" flipV="false">
            <a:off x="5016500" y="4800600"/>
            <a:ext cx="2857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0B981"/>
                </a:solidFill>
                <a:latin typeface="Noto Sans SC"/>
                <a:ea typeface="Noto Sans SC"/>
                <a:cs typeface="Noto Sans SC"/>
                <a:sym typeface="Noto Sans SC"/>
              </a:rPr>
              <a:t>外延拓展：丰富配套体验</a:t>
            </a:r>
            <a:endParaRPr lang="en-US" sz="1100"/>
          </a:p>
        </p:txBody>
      </p:sp>
      <p:cxnSp>
        <p:nvCxnSpPr>
          <p:cNvPr name="Connector 27" id="27"/>
          <p:cNvCxnSpPr/>
          <p:nvPr/>
        </p:nvCxnSpPr>
        <p:spPr>
          <a:xfrm rot="-13222" flipH="false" flipV="false">
            <a:off x="4572012" y="5327650"/>
            <a:ext cx="3302000" cy="12700"/>
          </a:xfrm>
          <a:prstGeom prst="straightConnector1">
            <a:avLst/>
          </a:prstGeom>
          <a:solidFill>
            <a:srgbClr val="DEE0E3">
              <a:alpha val="100000"/>
            </a:srgbClr>
          </a:solidFill>
          <a:ln w="12700" cmpd="sng" cap="flat">
            <a:solidFill>
              <a:srgbClr val="10B981">
                <a:alpha val="15000"/>
              </a:srgbClr>
            </a:solidFill>
            <a:prstDash val="solid"/>
            <a:round/>
            <a:headEnd type="none" w="med" len="med"/>
            <a:tailEnd type="none" w="med" len="med"/>
          </a:ln>
        </p:spPr>
      </p:cxnSp>
      <p:sp>
        <p:nvSpPr>
          <p:cNvPr name="AutoShape 28" id="28"/>
          <p:cNvSpPr/>
          <p:nvPr/>
        </p:nvSpPr>
        <p:spPr>
          <a:xfrm rot="0" flipH="false" flipV="false">
            <a:off x="4572000" y="54610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05050"/>
                </a:solidFill>
                <a:latin typeface="Noto Sans SC"/>
                <a:ea typeface="Noto Sans SC"/>
                <a:cs typeface="Noto Sans SC"/>
                <a:sym typeface="Noto Sans SC"/>
              </a:rPr>
              <a:t>围绕核心引入多元化内容与服务，如生活方式分享、社群活动、知识讲座等“配套设施”，提升用户参与感与粘性。</a:t>
            </a:r>
            <a:endParaRPr lang="en-US" sz="1100"/>
          </a:p>
        </p:txBody>
      </p:sp>
      <p:cxnSp>
        <p:nvCxnSpPr>
          <p:cNvPr name="Connector 29" id="29"/>
          <p:cNvCxnSpPr/>
          <p:nvPr/>
        </p:nvCxnSpPr>
        <p:spPr>
          <a:xfrm rot="5368748" flipH="false" flipV="false">
            <a:off x="7302500" y="5454679"/>
            <a:ext cx="1397000" cy="12700"/>
          </a:xfrm>
          <a:prstGeom prst="straightConnector1">
            <a:avLst/>
          </a:prstGeom>
          <a:solidFill>
            <a:srgbClr val="DEE0E3">
              <a:alpha val="100000"/>
            </a:srgbClr>
          </a:solidFill>
          <a:ln w="12700" cmpd="sng" cap="flat">
            <a:solidFill>
              <a:srgbClr val="174EA6">
                <a:alpha val="10000"/>
              </a:srgbClr>
            </a:solidFill>
            <a:prstDash val="solid"/>
            <a:round/>
            <a:headEnd type="none" w="med" len="med"/>
            <a:tailEnd type="none" w="med" len="med"/>
          </a:ln>
        </p:spPr>
      </p:cxnSp>
      <p:sp>
        <p:nvSpPr>
          <p:cNvPr name="AutoShape 30" id="30"/>
          <p:cNvSpPr/>
          <p:nvPr/>
        </p:nvSpPr>
        <p:spPr>
          <a:xfrm rot="0" flipH="false" flipV="false">
            <a:off x="8128000" y="4699000"/>
            <a:ext cx="3429000" cy="1587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255000" y="4826000"/>
            <a:ext cx="355600" cy="355600"/>
          </a:xfrm>
          <a:prstGeom prst="rect">
            <a:avLst/>
          </a:prstGeom>
        </p:spPr>
      </p:pic>
      <p:sp>
        <p:nvSpPr>
          <p:cNvPr name="AutoShape 32" id="32"/>
          <p:cNvSpPr/>
          <p:nvPr/>
        </p:nvSpPr>
        <p:spPr>
          <a:xfrm rot="0" flipH="false" flipV="false">
            <a:off x="8699500" y="48006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59E0B"/>
                </a:solidFill>
                <a:latin typeface="Noto Sans SC"/>
                <a:ea typeface="Noto Sans SC"/>
                <a:cs typeface="Noto Sans SC"/>
                <a:sym typeface="Noto Sans SC"/>
              </a:rPr>
              <a:t>结果导向：稳固极速扩张</a:t>
            </a:r>
            <a:endParaRPr lang="en-US" sz="1100"/>
          </a:p>
        </p:txBody>
      </p:sp>
      <p:cxnSp>
        <p:nvCxnSpPr>
          <p:cNvPr name="Connector 33" id="33"/>
          <p:cNvCxnSpPr/>
          <p:nvPr/>
        </p:nvCxnSpPr>
        <p:spPr>
          <a:xfrm rot="-13750" flipH="false" flipV="false">
            <a:off x="8255013" y="5327650"/>
            <a:ext cx="3175000" cy="12700"/>
          </a:xfrm>
          <a:prstGeom prst="straightConnector1">
            <a:avLst/>
          </a:prstGeom>
          <a:solidFill>
            <a:srgbClr val="DEE0E3">
              <a:alpha val="100000"/>
            </a:srgbClr>
          </a:solidFill>
          <a:ln w="12700" cmpd="sng" cap="flat">
            <a:solidFill>
              <a:srgbClr val="F59E0B">
                <a:alpha val="15000"/>
              </a:srgbClr>
            </a:solidFill>
            <a:prstDash val="solid"/>
            <a:round/>
            <a:headEnd type="none" w="med" len="med"/>
            <a:tailEnd type="none" w="med" len="med"/>
          </a:ln>
        </p:spPr>
      </p:cxnSp>
      <p:sp>
        <p:nvSpPr>
          <p:cNvPr name="AutoShape 34" id="34"/>
          <p:cNvSpPr/>
          <p:nvPr/>
        </p:nvSpPr>
        <p:spPr>
          <a:xfrm rot="0" flipH="false" flipV="false">
            <a:off x="8255000" y="54610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505050"/>
                </a:solidFill>
                <a:latin typeface="Noto Sans SC"/>
                <a:ea typeface="Noto Sans SC"/>
                <a:cs typeface="Noto Sans SC"/>
                <a:sym typeface="Noto Sans SC"/>
              </a:rPr>
              <a:t>配套越丰富、体验越齐全，用户留存越高。以此形成良性循环，驱动团队规模更稳定、更迅速地实现裂变增长。</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
          </a:xfrm>
          <a:prstGeom prst="roundRect">
            <a:avLst>
              <a:gd name="adj" fmla="val 0"/>
            </a:avLst>
          </a:prstGeom>
          <a:solidFill>
            <a:srgbClr val="172B4D">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508000"/>
            <a:ext cx="1143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72B4D"/>
                </a:solidFill>
                <a:latin typeface="Noto Sans SC"/>
                <a:ea typeface="Noto Sans SC"/>
                <a:cs typeface="Noto Sans SC"/>
                <a:sym typeface="Noto Sans SC"/>
              </a:rPr>
              <a:t>1.3 消费环境的三大变化</a:t>
            </a:r>
            <a:endParaRPr lang="en-US" sz="1100"/>
          </a:p>
        </p:txBody>
      </p:sp>
      <p:cxnSp>
        <p:nvCxnSpPr>
          <p:cNvPr name="Connector 4" id="4"/>
          <p:cNvCxnSpPr/>
          <p:nvPr/>
        </p:nvCxnSpPr>
        <p:spPr>
          <a:xfrm rot="-3819" flipH="false" flipV="false">
            <a:off x="381004" y="1390650"/>
            <a:ext cx="11430000" cy="12700"/>
          </a:xfrm>
          <a:prstGeom prst="line">
            <a:avLst/>
          </a:prstGeom>
          <a:solidFill>
            <a:srgbClr val="DEE0E3">
              <a:alpha val="100000"/>
            </a:srgbClr>
          </a:solidFill>
          <a:ln w="12700" cmpd="sng" cap="flat">
            <a:solidFill>
              <a:srgbClr val="172B4D">
                <a:alpha val="20000"/>
              </a:srgbClr>
            </a:solidFill>
            <a:prstDash val="solid"/>
            <a:round/>
            <a:headEnd type="none" w="med" len="med"/>
            <a:tailEnd type="none" w="med" len="med"/>
          </a:ln>
        </p:spPr>
      </p:cxnSp>
      <p:sp>
        <p:nvSpPr>
          <p:cNvPr name="AutoShape 5" id="5"/>
          <p:cNvSpPr/>
          <p:nvPr/>
        </p:nvSpPr>
        <p:spPr>
          <a:xfrm rot="0" flipH="false" flipV="false">
            <a:off x="381000" y="1778000"/>
            <a:ext cx="3683000" cy="4572000"/>
          </a:xfrm>
          <a:prstGeom prst="roundRect">
            <a:avLst>
              <a:gd name="adj" fmla="val 0"/>
            </a:avLst>
          </a:prstGeom>
          <a:solidFill>
            <a:srgbClr val="FFFFFF">
              <a:alpha val="100000"/>
            </a:srgbClr>
          </a:solidFill>
          <a:ln w="12700" cmpd="sng" cap="flat">
            <a:solidFill>
              <a:srgbClr val="172B4D">
                <a:alpha val="1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381000" y="1778000"/>
            <a:ext cx="3683000" cy="76200"/>
          </a:xfrm>
          <a:prstGeom prst="roundRect">
            <a:avLst>
              <a:gd name="adj" fmla="val 0"/>
            </a:avLst>
          </a:prstGeom>
          <a:solidFill>
            <a:srgbClr val="E6A23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2159000"/>
            <a:ext cx="609600" cy="609600"/>
          </a:xfrm>
          <a:prstGeom prst="rect">
            <a:avLst/>
          </a:prstGeom>
        </p:spPr>
      </p:pic>
      <p:sp>
        <p:nvSpPr>
          <p:cNvPr name="AutoShape 8" id="8"/>
          <p:cNvSpPr/>
          <p:nvPr/>
        </p:nvSpPr>
        <p:spPr>
          <a:xfrm rot="0" flipH="false" flipV="false">
            <a:off x="1397000" y="2133600"/>
            <a:ext cx="215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72B4D"/>
                </a:solidFill>
                <a:latin typeface="Noto Sans SC"/>
                <a:ea typeface="Noto Sans SC"/>
                <a:cs typeface="Noto Sans SC"/>
                <a:sym typeface="Noto Sans SC"/>
              </a:rPr>
              <a:t>01 消费两极分化</a:t>
            </a:r>
            <a:endParaRPr lang="en-US" sz="1100"/>
          </a:p>
        </p:txBody>
      </p:sp>
      <p:cxnSp>
        <p:nvCxnSpPr>
          <p:cNvPr name="Connector 9" id="9"/>
          <p:cNvCxnSpPr/>
          <p:nvPr/>
        </p:nvCxnSpPr>
        <p:spPr>
          <a:xfrm rot="-13750" flipH="false" flipV="false">
            <a:off x="635013" y="3041650"/>
            <a:ext cx="3175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0" id="10"/>
          <p:cNvSpPr/>
          <p:nvPr/>
        </p:nvSpPr>
        <p:spPr>
          <a:xfrm rot="0" flipH="false" flipV="false">
            <a:off x="635000" y="33020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绝对理性与绝对冲动并存的时代</a:t>
            </a:r>
            <a:endParaRPr lang="en-US" sz="1100"/>
          </a:p>
        </p:txBody>
      </p:sp>
      <p:sp>
        <p:nvSpPr>
          <p:cNvPr name="AutoShape 11" id="11"/>
          <p:cNvSpPr/>
          <p:nvPr/>
        </p:nvSpPr>
        <p:spPr>
          <a:xfrm rot="0" flipH="false" flipV="false">
            <a:off x="635000" y="4191000"/>
            <a:ext cx="3175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6075"/>
                </a:solidFill>
                <a:latin typeface="Noto Sans SC"/>
                <a:ea typeface="Noto Sans SC"/>
                <a:cs typeface="Noto Sans SC"/>
                <a:sym typeface="Noto Sans SC"/>
              </a:rPr>
              <a:t>短视频带货往往代表“绝对理性”，用户基于需求和性价比决策；而内容导向、有信任背书的主播带货则激发“绝对冲动”，用户因情感连接和信任产生即时消费行为。</a:t>
            </a:r>
            <a:endParaRPr lang="en-US" sz="1100"/>
          </a:p>
        </p:txBody>
      </p:sp>
      <p:sp>
        <p:nvSpPr>
          <p:cNvPr name="AutoShape 12" id="12"/>
          <p:cNvSpPr/>
          <p:nvPr/>
        </p:nvSpPr>
        <p:spPr>
          <a:xfrm rot="0" flipH="false" flipV="false">
            <a:off x="4254500" y="1778000"/>
            <a:ext cx="3683000" cy="4572000"/>
          </a:xfrm>
          <a:prstGeom prst="roundRect">
            <a:avLst>
              <a:gd name="adj" fmla="val 0"/>
            </a:avLst>
          </a:prstGeom>
          <a:solidFill>
            <a:srgbClr val="FFFFFF">
              <a:alpha val="100000"/>
            </a:srgbClr>
          </a:solidFill>
          <a:ln w="12700" cmpd="sng" cap="flat">
            <a:solidFill>
              <a:srgbClr val="172B4D">
                <a:alpha val="1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254500" y="1778000"/>
            <a:ext cx="3683000" cy="76200"/>
          </a:xfrm>
          <a:prstGeom prst="roundRect">
            <a:avLst>
              <a:gd name="adj" fmla="val 0"/>
            </a:avLst>
          </a:prstGeom>
          <a:solidFill>
            <a:srgbClr val="D9534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2159000"/>
            <a:ext cx="609600" cy="609600"/>
          </a:xfrm>
          <a:prstGeom prst="rect">
            <a:avLst/>
          </a:prstGeom>
        </p:spPr>
      </p:pic>
      <p:sp>
        <p:nvSpPr>
          <p:cNvPr name="AutoShape 15" id="15"/>
          <p:cNvSpPr/>
          <p:nvPr/>
        </p:nvSpPr>
        <p:spPr>
          <a:xfrm rot="0" flipH="false" flipV="false">
            <a:off x="5270500" y="2133600"/>
            <a:ext cx="215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72B4D"/>
                </a:solidFill>
                <a:latin typeface="Noto Sans SC"/>
                <a:ea typeface="Noto Sans SC"/>
                <a:cs typeface="Noto Sans SC"/>
                <a:sym typeface="Noto Sans SC"/>
              </a:rPr>
              <a:t>02 信任建立难度增大</a:t>
            </a:r>
            <a:endParaRPr lang="en-US" sz="1100"/>
          </a:p>
        </p:txBody>
      </p:sp>
      <p:cxnSp>
        <p:nvCxnSpPr>
          <p:cNvPr name="Connector 16" id="16"/>
          <p:cNvCxnSpPr/>
          <p:nvPr/>
        </p:nvCxnSpPr>
        <p:spPr>
          <a:xfrm rot="-13750" flipH="false" flipV="false">
            <a:off x="4508513" y="3041650"/>
            <a:ext cx="3175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7" id="17"/>
          <p:cNvSpPr/>
          <p:nvPr/>
        </p:nvSpPr>
        <p:spPr>
          <a:xfrm rot="0" flipH="false" flipV="false">
            <a:off x="4508500" y="33020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互联网平台的信任门槛显著提升</a:t>
            </a:r>
            <a:endParaRPr lang="en-US" sz="1100"/>
          </a:p>
        </p:txBody>
      </p:sp>
      <p:sp>
        <p:nvSpPr>
          <p:cNvPr name="AutoShape 18" id="18"/>
          <p:cNvSpPr/>
          <p:nvPr/>
        </p:nvSpPr>
        <p:spPr>
          <a:xfrm rot="0" flipH="false" flipV="false">
            <a:off x="4508500" y="4191000"/>
            <a:ext cx="3175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6075"/>
                </a:solidFill>
                <a:latin typeface="Noto Sans SC"/>
                <a:ea typeface="Noto Sans SC"/>
                <a:cs typeface="Noto Sans SC"/>
                <a:sym typeface="Noto Sans SC"/>
              </a:rPr>
              <a:t>单纯的不出镜口播已难以建立深度信任，更无法有效刺激用户的冲动消费。缺乏人格化的连接，就无法形成稳定的付费社群和持续的用户粘性，信任成为交易转化的核心瓶颈。</a:t>
            </a:r>
            <a:endParaRPr lang="en-US" sz="1100"/>
          </a:p>
        </p:txBody>
      </p:sp>
      <p:sp>
        <p:nvSpPr>
          <p:cNvPr name="AutoShape 19" id="19"/>
          <p:cNvSpPr/>
          <p:nvPr/>
        </p:nvSpPr>
        <p:spPr>
          <a:xfrm rot="0" flipH="false" flipV="false">
            <a:off x="8128000" y="1778000"/>
            <a:ext cx="3683000" cy="4572000"/>
          </a:xfrm>
          <a:prstGeom prst="roundRect">
            <a:avLst>
              <a:gd name="adj" fmla="val 0"/>
            </a:avLst>
          </a:prstGeom>
          <a:solidFill>
            <a:srgbClr val="FFFFFF">
              <a:alpha val="100000"/>
            </a:srgbClr>
          </a:solidFill>
          <a:ln w="12700" cmpd="sng" cap="flat">
            <a:solidFill>
              <a:srgbClr val="172B4D">
                <a:alpha val="1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128000" y="1778000"/>
            <a:ext cx="3683000" cy="76200"/>
          </a:xfrm>
          <a:prstGeom prst="roundRect">
            <a:avLst>
              <a:gd name="adj" fmla="val 0"/>
            </a:avLst>
          </a:prstGeom>
          <a:solidFill>
            <a:srgbClr val="1CA878">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159000"/>
            <a:ext cx="609600" cy="609600"/>
          </a:xfrm>
          <a:prstGeom prst="rect">
            <a:avLst/>
          </a:prstGeom>
        </p:spPr>
      </p:pic>
      <p:sp>
        <p:nvSpPr>
          <p:cNvPr name="AutoShape 22" id="22"/>
          <p:cNvSpPr/>
          <p:nvPr/>
        </p:nvSpPr>
        <p:spPr>
          <a:xfrm rot="0" flipH="false" flipV="false">
            <a:off x="9144000" y="2133600"/>
            <a:ext cx="215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72B4D"/>
                </a:solidFill>
                <a:latin typeface="Noto Sans SC"/>
                <a:ea typeface="Noto Sans SC"/>
                <a:cs typeface="Noto Sans SC"/>
                <a:sym typeface="Noto Sans SC"/>
              </a:rPr>
              <a:t>03 AI 带来效率革命</a:t>
            </a:r>
            <a:endParaRPr lang="en-US" sz="1100"/>
          </a:p>
        </p:txBody>
      </p:sp>
      <p:cxnSp>
        <p:nvCxnSpPr>
          <p:cNvPr name="Connector 23" id="23"/>
          <p:cNvCxnSpPr/>
          <p:nvPr/>
        </p:nvCxnSpPr>
        <p:spPr>
          <a:xfrm rot="-13750" flipH="false" flipV="false">
            <a:off x="8382013" y="3041650"/>
            <a:ext cx="3175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24" id="24"/>
          <p:cNvSpPr/>
          <p:nvPr/>
        </p:nvSpPr>
        <p:spPr>
          <a:xfrm rot="0" flipH="false" flipV="false">
            <a:off x="8382000" y="33020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技术赋能重构经营管理全流程</a:t>
            </a:r>
            <a:endParaRPr lang="en-US" sz="1100"/>
          </a:p>
        </p:txBody>
      </p:sp>
      <p:sp>
        <p:nvSpPr>
          <p:cNvPr name="AutoShape 25" id="25"/>
          <p:cNvSpPr/>
          <p:nvPr/>
        </p:nvSpPr>
        <p:spPr>
          <a:xfrm rot="0" flipH="false" flipV="false">
            <a:off x="8382000" y="4191000"/>
            <a:ext cx="3175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526075"/>
                </a:solidFill>
                <a:latin typeface="Noto Sans SC"/>
                <a:ea typeface="Noto Sans SC"/>
                <a:cs typeface="Noto Sans SC"/>
                <a:sym typeface="Noto Sans SC"/>
              </a:rPr>
              <a:t>AI技术已渗透至起号养号、团队目标制定、奖金计算等核心环节。通过自动化和数据化工具，不仅降低了人工成本，更让美乐家的经营模式变得更加高效、便捷且可规模化复制。</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40AF"/>
                </a:solidFill>
                <a:latin typeface="Noto Sans SC"/>
                <a:ea typeface="Noto Sans SC"/>
                <a:cs typeface="Noto Sans SC"/>
                <a:sym typeface="Noto Sans SC"/>
              </a:rPr>
              <a:t>1.4 美乐家底层商业逻辑的恒定性</a:t>
            </a:r>
            <a:endParaRPr lang="en-US" sz="1100"/>
          </a:p>
        </p:txBody>
      </p:sp>
      <p:cxnSp>
        <p:nvCxnSpPr>
          <p:cNvPr name="Connector 3" id="3"/>
          <p:cNvCxnSpPr/>
          <p:nvPr/>
        </p:nvCxnSpPr>
        <p:spPr>
          <a:xfrm rot="-3906" flipH="false" flipV="false">
            <a:off x="508004" y="1073150"/>
            <a:ext cx="11176000" cy="12700"/>
          </a:xfrm>
          <a:prstGeom prst="line">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4" id="4"/>
          <p:cNvSpPr/>
          <p:nvPr/>
        </p:nvSpPr>
        <p:spPr>
          <a:xfrm rot="0" flipH="false" flipV="false">
            <a:off x="508000" y="1397000"/>
            <a:ext cx="4318000" cy="33020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397000"/>
            <a:ext cx="76200" cy="3302000"/>
          </a:xfrm>
          <a:prstGeom prst="roundRect">
            <a:avLst>
              <a:gd name="adj" fmla="val 0"/>
            </a:avLst>
          </a:prstGeom>
          <a:solidFill>
            <a:srgbClr val="1E40A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381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穿越周期的底层逻辑：从未失效，反成趋势</a:t>
            </a:r>
            <a:endParaRPr lang="en-US" sz="1100"/>
          </a:p>
        </p:txBody>
      </p:sp>
      <p:cxnSp>
        <p:nvCxnSpPr>
          <p:cNvPr name="Connector 7" id="7"/>
          <p:cNvCxnSpPr/>
          <p:nvPr/>
        </p:nvCxnSpPr>
        <p:spPr>
          <a:xfrm rot="-11459" flipH="false" flipV="false">
            <a:off x="762011" y="2279650"/>
            <a:ext cx="3810000" cy="12700"/>
          </a:xfrm>
          <a:prstGeom prst="line">
            <a:avLst/>
          </a:prstGeom>
          <a:solidFill>
            <a:srgbClr val="DEE0E3">
              <a:alpha val="100000"/>
            </a:srgbClr>
          </a:solidFill>
          <a:ln w="12700" cmpd="sng" cap="flat">
            <a:solidFill>
              <a:srgbClr val="1E40AF">
                <a:alpha val="10000"/>
              </a:srgbClr>
            </a:solidFill>
            <a:prstDash val="dash"/>
            <a:round/>
            <a:headEnd type="none" w="med" len="med"/>
            <a:tailEnd type="none" w="med" len="med"/>
          </a:ln>
        </p:spPr>
      </p:cxnSp>
      <p:sp>
        <p:nvSpPr>
          <p:cNvPr name="AutoShape 8" id="8"/>
          <p:cNvSpPr/>
          <p:nvPr/>
        </p:nvSpPr>
        <p:spPr>
          <a:xfrm rot="0" flipH="false" flipV="false">
            <a:off x="762000" y="2540000"/>
            <a:ext cx="3810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尽管市场环境、消费习惯与传播媒介发生剧变，美乐家确立的核心商业逻辑不仅未被颠覆，反而与当下“私域流量、用户留存、价值深耕”的互联网商业趋势高度同频。</a:t>
            </a:r>
            <a:endParaRPr lang="en-US" sz="1100"/>
          </a:p>
        </p:txBody>
      </p:sp>
      <p:sp>
        <p:nvSpPr>
          <p:cNvPr name="AutoShape 9" id="9"/>
          <p:cNvSpPr/>
          <p:nvPr/>
        </p:nvSpPr>
        <p:spPr>
          <a:xfrm rot="0" flipH="false" flipV="false">
            <a:off x="762000" y="3810000"/>
            <a:ext cx="381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E40AF"/>
                </a:solidFill>
                <a:latin typeface="Noto Sans SC"/>
                <a:ea typeface="Noto Sans SC"/>
                <a:cs typeface="Noto Sans SC"/>
                <a:sym typeface="Noto Sans SC"/>
              </a:rPr>
              <a:t>37年的前瞻性布局：</a:t>
            </a:r>
            <a:r>
              <a:rPr lang="en-US" b="false" i="false" strike="noStrike" u="none" sz="1300">
                <a:solidFill>
                  <a:srgbClr val="4B5563"/>
                </a:solidFill>
                <a:latin typeface="Noto Sans SC"/>
                <a:ea typeface="Noto Sans SC"/>
                <a:cs typeface="Noto Sans SC"/>
                <a:sym typeface="Noto Sans SC"/>
              </a:rPr>
              <a:t>早在互联网普及之前，美乐家就已构建了极高度互联网化的会员订阅与直复营销体系，完成了底层架构的原始积累。</a:t>
            </a:r>
            <a:endParaRPr lang="en-US" sz="1100"/>
          </a:p>
        </p:txBody>
      </p:sp>
      <p:sp>
        <p:nvSpPr>
          <p:cNvPr name="AutoShape 10" id="10"/>
          <p:cNvSpPr/>
          <p:nvPr/>
        </p:nvSpPr>
        <p:spPr>
          <a:xfrm rot="0" flipH="false" flipV="false">
            <a:off x="5334000" y="1397000"/>
            <a:ext cx="3048000" cy="1587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461000" y="1524000"/>
            <a:ext cx="304800" cy="304800"/>
          </a:xfrm>
          <a:prstGeom prst="rect">
            <a:avLst/>
          </a:prstGeom>
        </p:spPr>
      </p:pic>
      <p:sp>
        <p:nvSpPr>
          <p:cNvPr name="AutoShape 12" id="12"/>
          <p:cNvSpPr/>
          <p:nvPr/>
        </p:nvSpPr>
        <p:spPr>
          <a:xfrm rot="0" flipH="false" flipV="false">
            <a:off x="5842000" y="1498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变量：核心要素识别</a:t>
            </a:r>
            <a:endParaRPr lang="en-US" sz="1100"/>
          </a:p>
        </p:txBody>
      </p:sp>
      <p:cxnSp>
        <p:nvCxnSpPr>
          <p:cNvPr name="Connector 13" id="13"/>
          <p:cNvCxnSpPr/>
          <p:nvPr/>
        </p:nvCxnSpPr>
        <p:spPr>
          <a:xfrm rot="-15626" flipH="false" flipV="false">
            <a:off x="5461014" y="2025650"/>
            <a:ext cx="2794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14" id="14"/>
          <p:cNvSpPr/>
          <p:nvPr/>
        </p:nvSpPr>
        <p:spPr>
          <a:xfrm rot="0" flipH="false" flipV="false">
            <a:off x="5461000" y="2159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精准定位商业系统中的关键可变量，聚焦用户需求与产品价值，锚定系统运转的基础因子，无需随环境更迭。</a:t>
            </a:r>
            <a:endParaRPr lang="en-US" sz="1100"/>
          </a:p>
        </p:txBody>
      </p:sp>
      <p:sp>
        <p:nvSpPr>
          <p:cNvPr name="AutoShape 15" id="15"/>
          <p:cNvSpPr/>
          <p:nvPr/>
        </p:nvSpPr>
        <p:spPr>
          <a:xfrm rot="0" flipH="false" flipV="false">
            <a:off x="8636000" y="1397000"/>
            <a:ext cx="3048000" cy="1587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8763000" y="1524000"/>
            <a:ext cx="304800" cy="304800"/>
          </a:xfrm>
          <a:prstGeom prst="rect">
            <a:avLst/>
          </a:prstGeom>
        </p:spPr>
      </p:pic>
      <p:sp>
        <p:nvSpPr>
          <p:cNvPr name="AutoShape 17" id="17"/>
          <p:cNvSpPr/>
          <p:nvPr/>
        </p:nvSpPr>
        <p:spPr>
          <a:xfrm rot="0" flipH="false" flipV="false">
            <a:off x="9144000" y="1498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因果链：逻辑关联锚定</a:t>
            </a:r>
            <a:endParaRPr lang="en-US" sz="1100"/>
          </a:p>
        </p:txBody>
      </p:sp>
      <p:cxnSp>
        <p:nvCxnSpPr>
          <p:cNvPr name="Connector 18" id="18"/>
          <p:cNvCxnSpPr/>
          <p:nvPr/>
        </p:nvCxnSpPr>
        <p:spPr>
          <a:xfrm rot="-15626" flipH="false" flipV="false">
            <a:off x="8763014" y="2025650"/>
            <a:ext cx="2794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19" id="19"/>
          <p:cNvSpPr/>
          <p:nvPr/>
        </p:nvSpPr>
        <p:spPr>
          <a:xfrm rot="0" flipH="false" flipV="false">
            <a:off x="8763000" y="2159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确立“价值传递-用户留存-口碑裂变”的内在因果关系，构建稳固的逻辑闭环，确保系统运行的确定性与连贯性。</a:t>
            </a:r>
            <a:endParaRPr lang="en-US" sz="1100"/>
          </a:p>
        </p:txBody>
      </p:sp>
      <p:sp>
        <p:nvSpPr>
          <p:cNvPr name="AutoShape 20" id="20"/>
          <p:cNvSpPr/>
          <p:nvPr/>
        </p:nvSpPr>
        <p:spPr>
          <a:xfrm rot="0" flipH="false" flipV="false">
            <a:off x="5334000" y="3175000"/>
            <a:ext cx="3048000" cy="1587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461000" y="3302000"/>
            <a:ext cx="304800" cy="304800"/>
          </a:xfrm>
          <a:prstGeom prst="rect">
            <a:avLst/>
          </a:prstGeom>
        </p:spPr>
      </p:pic>
      <p:sp>
        <p:nvSpPr>
          <p:cNvPr name="AutoShape 22" id="22"/>
          <p:cNvSpPr/>
          <p:nvPr/>
        </p:nvSpPr>
        <p:spPr>
          <a:xfrm rot="0" flipH="false" flipV="false">
            <a:off x="5842000" y="327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增强回路：核心增长引擎</a:t>
            </a:r>
            <a:endParaRPr lang="en-US" sz="1100"/>
          </a:p>
        </p:txBody>
      </p:sp>
      <p:cxnSp>
        <p:nvCxnSpPr>
          <p:cNvPr name="Connector 23" id="23"/>
          <p:cNvCxnSpPr/>
          <p:nvPr/>
        </p:nvCxnSpPr>
        <p:spPr>
          <a:xfrm rot="-15626" flipH="false" flipV="false">
            <a:off x="5461014" y="3803650"/>
            <a:ext cx="2794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4" id="24"/>
          <p:cNvSpPr/>
          <p:nvPr/>
        </p:nvSpPr>
        <p:spPr>
          <a:xfrm rot="0" flipH="false" flipV="false">
            <a:off x="5461000" y="3937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这是系统中唯一需要迭代升级的部分，通过正向反馈机制放大价值，驱动业务的持续、指数级增长。</a:t>
            </a:r>
            <a:endParaRPr lang="en-US" sz="1100"/>
          </a:p>
        </p:txBody>
      </p:sp>
      <p:sp>
        <p:nvSpPr>
          <p:cNvPr name="AutoShape 25" id="25"/>
          <p:cNvSpPr/>
          <p:nvPr/>
        </p:nvSpPr>
        <p:spPr>
          <a:xfrm rot="0" flipH="false" flipV="false">
            <a:off x="8636000" y="3175000"/>
            <a:ext cx="3048000" cy="1587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763000" y="3302000"/>
            <a:ext cx="304800" cy="304800"/>
          </a:xfrm>
          <a:prstGeom prst="rect">
            <a:avLst/>
          </a:prstGeom>
        </p:spPr>
      </p:pic>
      <p:sp>
        <p:nvSpPr>
          <p:cNvPr name="AutoShape 27" id="27"/>
          <p:cNvSpPr/>
          <p:nvPr/>
        </p:nvSpPr>
        <p:spPr>
          <a:xfrm rot="0" flipH="false" flipV="false">
            <a:off x="9144000" y="32766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调节回路：系统稳定性</a:t>
            </a:r>
            <a:endParaRPr lang="en-US" sz="1100"/>
          </a:p>
        </p:txBody>
      </p:sp>
      <p:cxnSp>
        <p:nvCxnSpPr>
          <p:cNvPr name="Connector 28" id="28"/>
          <p:cNvCxnSpPr/>
          <p:nvPr/>
        </p:nvCxnSpPr>
        <p:spPr>
          <a:xfrm rot="-15626" flipH="false" flipV="false">
            <a:off x="8763014" y="3803650"/>
            <a:ext cx="2794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9" id="29"/>
          <p:cNvSpPr/>
          <p:nvPr/>
        </p:nvSpPr>
        <p:spPr>
          <a:xfrm rot="0" flipH="false" flipV="false">
            <a:off x="8763000" y="3937000"/>
            <a:ext cx="279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通过安全机制与风控体系平衡系统波动，防止过度扩张导致的失衡，保障长期稳健运营。</a:t>
            </a:r>
            <a:endParaRPr lang="en-US" sz="1100"/>
          </a:p>
        </p:txBody>
      </p:sp>
      <p:sp>
        <p:nvSpPr>
          <p:cNvPr name="AutoShape 30" id="30"/>
          <p:cNvSpPr/>
          <p:nvPr/>
        </p:nvSpPr>
        <p:spPr>
          <a:xfrm rot="0" flipH="false" flipV="false">
            <a:off x="5334000" y="5080000"/>
            <a:ext cx="6350000" cy="762000"/>
          </a:xfrm>
          <a:prstGeom prst="roundRect">
            <a:avLst>
              <a:gd name="adj" fmla="val 0"/>
            </a:avLst>
          </a:prstGeom>
          <a:solidFill>
            <a:srgbClr val="EFF6FF">
              <a:alpha val="50000"/>
            </a:srgbClr>
          </a:solidFill>
          <a:ln w="12700" cmpd="sng" cap="flat">
            <a:solidFill>
              <a:srgbClr val="1E40AF">
                <a:alpha val="10000"/>
              </a:srgbClr>
            </a:solid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5461000" y="5270500"/>
            <a:ext cx="304800" cy="304800"/>
          </a:xfrm>
          <a:prstGeom prst="rect">
            <a:avLst/>
          </a:prstGeom>
        </p:spPr>
      </p:pic>
      <p:sp>
        <p:nvSpPr>
          <p:cNvPr name="AutoShape 32" id="32"/>
          <p:cNvSpPr/>
          <p:nvPr/>
        </p:nvSpPr>
        <p:spPr>
          <a:xfrm rot="0" flipH="false" flipV="false">
            <a:off x="5842000" y="5207000"/>
            <a:ext cx="571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05 滞后效应：长期价值沉淀 ——</a:t>
            </a:r>
            <a:r>
              <a:rPr lang="en-US" b="false" i="false" strike="noStrike" u="none" sz="1300">
                <a:solidFill>
                  <a:srgbClr val="4B5563"/>
                </a:solidFill>
                <a:latin typeface="Noto Sans SC"/>
                <a:ea typeface="Noto Sans SC"/>
                <a:cs typeface="Noto Sans SC"/>
                <a:sym typeface="Noto Sans SC"/>
              </a:rPr>
              <a:t>尊重商业发展的时间规律，不计较短期得失，注重用户信任与品牌资产的长期积累，确保成果可持续。</a:t>
            </a:r>
            <a:endParaRPr lang="en-US" sz="1100"/>
          </a:p>
        </p:txBody>
      </p:sp>
      <p:sp>
        <p:nvSpPr>
          <p:cNvPr name="AutoShape 33" id="33"/>
          <p:cNvSpPr/>
          <p:nvPr/>
        </p:nvSpPr>
        <p:spPr>
          <a:xfrm rot="0" flipH="false" flipV="false">
            <a:off x="508000" y="5080000"/>
            <a:ext cx="4318000" cy="1397000"/>
          </a:xfrm>
          <a:prstGeom prst="roundRect">
            <a:avLst>
              <a:gd name="adj" fmla="val 0"/>
            </a:avLst>
          </a:prstGeom>
          <a:gradFill rotWithShape="true">
            <a:gsLst>
              <a:gs pos="0">
                <a:srgbClr val="1E40AF">
                  <a:alpha val="100000"/>
                </a:srgbClr>
              </a:gs>
              <a:gs pos="100000">
                <a:srgbClr val="3B82F6">
                  <a:alpha val="100000"/>
                </a:srgbClr>
              </a:gs>
            </a:gsLst>
            <a:lin ang="27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35000" y="5207000"/>
            <a:ext cx="4064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关键进化：增强回路的全域升级</a:t>
            </a:r>
            <a:endParaRPr lang="en-US" sz="1100"/>
          </a:p>
        </p:txBody>
      </p:sp>
      <p:cxnSp>
        <p:nvCxnSpPr>
          <p:cNvPr name="Connector 35" id="35"/>
          <p:cNvCxnSpPr/>
          <p:nvPr/>
        </p:nvCxnSpPr>
        <p:spPr>
          <a:xfrm rot="-10742" flipH="false" flipV="false">
            <a:off x="635010" y="5645150"/>
            <a:ext cx="4064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36" id="36"/>
          <p:cNvSpPr/>
          <p:nvPr/>
        </p:nvSpPr>
        <p:spPr>
          <a:xfrm rot="0" flipH="false" flipV="false">
            <a:off x="635000" y="5778500"/>
            <a:ext cx="406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FFFFFF">
                    <a:alpha val="90196"/>
                  </a:srgbClr>
                </a:solidFill>
                <a:latin typeface="Noto Sans SC"/>
                <a:ea typeface="Noto Sans SC"/>
                <a:cs typeface="Noto Sans SC"/>
                <a:sym typeface="Noto Sans SC"/>
              </a:rPr>
              <a:t>从传统“影响力商法”迭代为：全域IP塑造 + 善意起心动念 + 付费筛选精准用户 + 社群递进转化 + 线下极致体验闭环。</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gradFill rotWithShape="true">
          <a:gsLst>
            <a:gs pos="0">
              <a:srgbClr val="0A192F">
                <a:alpha val="100000"/>
              </a:srgbClr>
            </a:gs>
            <a:gs pos="100000">
              <a:srgbClr val="172A45">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762000" cy="76200"/>
          </a:xfrm>
          <a:prstGeom prst="roundRect">
            <a:avLst>
              <a:gd name="adj" fmla="val 0"/>
            </a:avLst>
          </a:prstGeom>
          <a:solidFill>
            <a:srgbClr val="F59E0B">
              <a:alpha val="9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2286000"/>
            <a:ext cx="4318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9000">
                <a:solidFill>
                  <a:srgbClr val="FFFFFF">
                    <a:alpha val="7843"/>
                  </a:srgbClr>
                </a:solidFill>
                <a:latin typeface="Noto Sans SC"/>
                <a:ea typeface="Noto Sans SC"/>
                <a:cs typeface="Noto Sans SC"/>
                <a:sym typeface="Noto Sans SC"/>
              </a:rPr>
              <a:t>02</a:t>
            </a:r>
            <a:endParaRPr lang="en-US" sz="1100"/>
          </a:p>
        </p:txBody>
      </p:sp>
      <p:sp>
        <p:nvSpPr>
          <p:cNvPr name="AutoShape 4" id="4"/>
          <p:cNvSpPr/>
          <p:nvPr/>
        </p:nvSpPr>
        <p:spPr>
          <a:xfrm rot="0" flipH="false" flipV="false">
            <a:off x="508000" y="5715000"/>
            <a:ext cx="4318000" cy="25400"/>
          </a:xfrm>
          <a:prstGeom prst="roundRect">
            <a:avLst>
              <a:gd name="adj" fmla="val 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5842000"/>
            <a:ext cx="1778000" cy="50800"/>
          </a:xfrm>
          <a:prstGeom prst="roundRect">
            <a:avLst>
              <a:gd name="adj" fmla="val 0"/>
            </a:avLst>
          </a:prstGeom>
          <a:solidFill>
            <a:srgbClr val="F59E0B">
              <a:alpha val="6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6" id="6"/>
          <p:cNvCxnSpPr/>
          <p:nvPr/>
        </p:nvCxnSpPr>
        <p:spPr>
          <a:xfrm rot="5384373" flipH="false" flipV="false">
            <a:off x="3937000" y="3422664"/>
            <a:ext cx="2794000" cy="12700"/>
          </a:xfrm>
          <a:prstGeom prst="line">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7" id="7"/>
          <p:cNvSpPr/>
          <p:nvPr/>
        </p:nvSpPr>
        <p:spPr>
          <a:xfrm rot="0" flipH="false" flipV="false">
            <a:off x="5842000" y="2413000"/>
            <a:ext cx="584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200" spc="300">
                <a:solidFill>
                  <a:srgbClr val="93C5FD">
                    <a:alpha val="80000"/>
                  </a:srgbClr>
                </a:solidFill>
                <a:latin typeface="Noto Sans SC"/>
                <a:ea typeface="Noto Sans SC"/>
                <a:cs typeface="Noto Sans SC"/>
                <a:sym typeface="Noto Sans SC"/>
              </a:rPr>
              <a:t>CHAPTER 02</a:t>
            </a:r>
            <a:endParaRPr lang="en-US" sz="1100"/>
          </a:p>
        </p:txBody>
      </p:sp>
      <p:sp>
        <p:nvSpPr>
          <p:cNvPr name="AutoShape 8" id="8"/>
          <p:cNvSpPr/>
          <p:nvPr/>
        </p:nvSpPr>
        <p:spPr>
          <a:xfrm rot="0" flipH="false" flipV="false">
            <a:off x="5842000" y="3302000"/>
            <a:ext cx="5842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000">
                <a:solidFill>
                  <a:srgbClr val="FFFFFF"/>
                </a:solidFill>
                <a:latin typeface="Noto Sans SC"/>
                <a:ea typeface="Noto Sans SC"/>
                <a:cs typeface="Noto Sans SC"/>
                <a:sym typeface="Noto Sans SC"/>
              </a:rPr>
              <a:t>战略定位与核心方法论</a:t>
            </a:r>
            <a:endParaRPr lang="en-US" sz="1100"/>
          </a:p>
        </p:txBody>
      </p:sp>
      <p:sp>
        <p:nvSpPr>
          <p:cNvPr name="AutoShape 9" id="9"/>
          <p:cNvSpPr/>
          <p:nvPr/>
        </p:nvSpPr>
        <p:spPr>
          <a:xfrm rot="0" flipH="false" flipV="false">
            <a:off x="5842000" y="4699000"/>
            <a:ext cx="1016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842000" y="5080000"/>
            <a:ext cx="584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在复杂多变的市场环境中锚定坐标，确立企业的核心价值主张，以系统化的底层逻辑指引全链路业务布局与资源整合，构建可持续发展的战略基石。</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55E3D"/>
                </a:solidFill>
                <a:latin typeface="Noto Sans SC"/>
                <a:ea typeface="Noto Sans SC"/>
                <a:cs typeface="Noto Sans SC"/>
                <a:sym typeface="Noto Sans SC"/>
              </a:rPr>
              <a:t>2.1 定位声明</a:t>
            </a:r>
            <a:endParaRPr lang="en-US" sz="1100"/>
          </a:p>
        </p:txBody>
      </p:sp>
      <p:cxnSp>
        <p:nvCxnSpPr>
          <p:cNvPr name="Connector 3" id="3"/>
          <p:cNvCxnSpPr/>
          <p:nvPr/>
        </p:nvCxnSpPr>
        <p:spPr>
          <a:xfrm rot="-3906" flipH="false" flipV="false">
            <a:off x="508004" y="1136650"/>
            <a:ext cx="11176000" cy="12700"/>
          </a:xfrm>
          <a:prstGeom prst="straightConnector1">
            <a:avLst/>
          </a:prstGeom>
          <a:solidFill>
            <a:srgbClr val="DEE0E3">
              <a:alpha val="100000"/>
            </a:srgbClr>
          </a:solidFill>
          <a:ln w="12700" cmpd="sng" cap="flat">
            <a:solidFill>
              <a:srgbClr val="155E3D">
                <a:alpha val="20000"/>
              </a:srgbClr>
            </a:solidFill>
            <a:prstDash val="solid"/>
            <a:round/>
            <a:headEnd type="none" w="med" len="med"/>
            <a:tailEnd type="none" w="med" len="med"/>
          </a:ln>
        </p:spPr>
      </p:cxnSp>
      <p:sp>
        <p:nvSpPr>
          <p:cNvPr name="AutoShape 4" id="4"/>
          <p:cNvSpPr/>
          <p:nvPr/>
        </p:nvSpPr>
        <p:spPr>
          <a:xfrm rot="0" flipH="false" flipV="false">
            <a:off x="508000" y="1524000"/>
            <a:ext cx="3556000" cy="1397000"/>
          </a:xfrm>
          <a:prstGeom prst="roundRect">
            <a:avLst>
              <a:gd name="adj" fmla="val 0"/>
            </a:avLst>
          </a:prstGeom>
          <a:solidFill>
            <a:srgbClr val="155E3D">
              <a:alpha val="6000"/>
            </a:srgbClr>
          </a:solidFill>
          <a:ln cmpd="sng" cap="flat">
            <a:solidFill>
              <a:srgbClr val="084529">
                <a:alpha val="6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524000"/>
            <a:ext cx="76200" cy="1397000"/>
          </a:xfrm>
          <a:prstGeom prst="roundRect">
            <a:avLst>
              <a:gd name="adj" fmla="val 0"/>
            </a:avLst>
          </a:prstGeom>
          <a:solidFill>
            <a:srgbClr val="155E3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714500"/>
            <a:ext cx="304800" cy="304800"/>
          </a:xfrm>
          <a:prstGeom prst="rect">
            <a:avLst/>
          </a:prstGeom>
        </p:spPr>
      </p:pic>
      <p:sp>
        <p:nvSpPr>
          <p:cNvPr name="AutoShape 7" id="7"/>
          <p:cNvSpPr/>
          <p:nvPr/>
        </p:nvSpPr>
        <p:spPr>
          <a:xfrm rot="0" flipH="false" flipV="false">
            <a:off x="1143000" y="1651000"/>
            <a:ext cx="2730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155E3D"/>
                </a:solidFill>
                <a:latin typeface="Noto Sans SC"/>
                <a:ea typeface="Noto Sans SC"/>
                <a:cs typeface="Noto Sans SC"/>
                <a:sym typeface="Noto Sans SC"/>
              </a:rPr>
              <a:t>Mel = 美乐家 (Melaleuca)</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源自天然的环保品牌基因，以“助人达成目标，共创美好未来”为使命，是我们事业的基石与原点。</a:t>
            </a:r>
          </a:p>
        </p:txBody>
      </p:sp>
      <p:sp>
        <p:nvSpPr>
          <p:cNvPr name="AutoShape 8" id="8"/>
          <p:cNvSpPr/>
          <p:nvPr/>
        </p:nvSpPr>
        <p:spPr>
          <a:xfrm rot="0" flipH="false" flipV="false">
            <a:off x="4318000" y="1524000"/>
            <a:ext cx="3556000" cy="1397000"/>
          </a:xfrm>
          <a:prstGeom prst="roundRect">
            <a:avLst>
              <a:gd name="adj" fmla="val 0"/>
            </a:avLst>
          </a:prstGeom>
          <a:solidFill>
            <a:srgbClr val="155E3D">
              <a:alpha val="6000"/>
            </a:srgbClr>
          </a:solidFill>
          <a:ln cmpd="sng" cap="flat">
            <a:solidFill>
              <a:srgbClr val="084529">
                <a:alpha val="6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318000" y="1524000"/>
            <a:ext cx="76200" cy="1397000"/>
          </a:xfrm>
          <a:prstGeom prst="roundRect">
            <a:avLst>
              <a:gd name="adj" fmla="val 0"/>
            </a:avLst>
          </a:prstGeom>
          <a:solidFill>
            <a:srgbClr val="D9770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1714500"/>
            <a:ext cx="304800" cy="304800"/>
          </a:xfrm>
          <a:prstGeom prst="rect">
            <a:avLst/>
          </a:prstGeom>
        </p:spPr>
      </p:pic>
      <p:sp>
        <p:nvSpPr>
          <p:cNvPr name="AutoShape 11" id="11"/>
          <p:cNvSpPr/>
          <p:nvPr/>
        </p:nvSpPr>
        <p:spPr>
          <a:xfrm rot="0" flipH="false" flipV="false">
            <a:off x="4953000" y="1651000"/>
            <a:ext cx="2730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D97706"/>
                </a:solidFill>
                <a:latin typeface="Noto Sans SC"/>
                <a:ea typeface="Noto Sans SC"/>
                <a:cs typeface="Noto Sans SC"/>
                <a:sym typeface="Noto Sans SC"/>
              </a:rPr>
              <a:t>Beacon = 灯塔 (指引)</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寓意在纷繁复杂的商业环境中，为合作伙伴提供清晰的方向指引，是迷茫时的航标，也是前行的动力源。</a:t>
            </a:r>
          </a:p>
        </p:txBody>
      </p:sp>
      <p:sp>
        <p:nvSpPr>
          <p:cNvPr name="AutoShape 12" id="12"/>
          <p:cNvSpPr/>
          <p:nvPr/>
        </p:nvSpPr>
        <p:spPr>
          <a:xfrm rot="0" flipH="false" flipV="false">
            <a:off x="8128000" y="1524000"/>
            <a:ext cx="3556000" cy="1397000"/>
          </a:xfrm>
          <a:prstGeom prst="roundRect">
            <a:avLst>
              <a:gd name="adj" fmla="val 0"/>
            </a:avLst>
          </a:prstGeom>
          <a:solidFill>
            <a:srgbClr val="155E3D">
              <a:alpha val="6000"/>
            </a:srgbClr>
          </a:solidFill>
          <a:ln cmpd="sng" cap="flat">
            <a:solidFill>
              <a:srgbClr val="084529">
                <a:alpha val="6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76200" cy="1397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1714500"/>
            <a:ext cx="304800" cy="304800"/>
          </a:xfrm>
          <a:prstGeom prst="rect">
            <a:avLst/>
          </a:prstGeom>
        </p:spPr>
      </p:pic>
      <p:sp>
        <p:nvSpPr>
          <p:cNvPr name="AutoShape 15" id="15"/>
          <p:cNvSpPr/>
          <p:nvPr/>
        </p:nvSpPr>
        <p:spPr>
          <a:xfrm rot="0" flipH="false" flipV="false">
            <a:off x="8763000" y="1651000"/>
            <a:ext cx="2730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B82F6"/>
                </a:solidFill>
                <a:latin typeface="Noto Sans SC"/>
                <a:ea typeface="Noto Sans SC"/>
                <a:cs typeface="Noto Sans SC"/>
                <a:sym typeface="Noto Sans SC"/>
              </a:rPr>
              <a:t>Peak Team = 巅峰系统</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505050"/>
                </a:solidFill>
                <a:latin typeface="Noto Sans SC"/>
                <a:ea typeface="Noto Sans SC"/>
                <a:cs typeface="Noto Sans SC"/>
                <a:sym typeface="Noto Sans SC"/>
              </a:rPr>
              <a:t>代表着卓越的高度与系统化的运作能力，汇聚顶尖思维，构建可持续发展的高效协作网络。</a:t>
            </a:r>
          </a:p>
        </p:txBody>
      </p:sp>
      <p:cxnSp>
        <p:nvCxnSpPr>
          <p:cNvPr name="Connector 16" id="16"/>
          <p:cNvCxnSpPr/>
          <p:nvPr/>
        </p:nvCxnSpPr>
        <p:spPr>
          <a:xfrm rot="-3906" flipH="false" flipV="false">
            <a:off x="508004" y="3295650"/>
            <a:ext cx="11176000" cy="12700"/>
          </a:xfrm>
          <a:prstGeom prst="straightConnector1">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7" id="17"/>
          <p:cNvSpPr/>
          <p:nvPr/>
        </p:nvSpPr>
        <p:spPr>
          <a:xfrm rot="0" flipH="false" flipV="false">
            <a:off x="508000" y="3556000"/>
            <a:ext cx="5524500" cy="1714500"/>
          </a:xfrm>
          <a:prstGeom prst="roundRect">
            <a:avLst>
              <a:gd name="adj" fmla="val 0"/>
            </a:avLst>
          </a:prstGeom>
          <a:solidFill>
            <a:srgbClr val="FFFFFF">
              <a:alpha val="100000"/>
            </a:srgbClr>
          </a:solidFill>
          <a:ln w="12700" cmpd="sng" cap="flat">
            <a:solidFill>
              <a:srgbClr val="155E3D">
                <a:alpha val="15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98500" y="3746500"/>
            <a:ext cx="406400" cy="406400"/>
          </a:xfrm>
          <a:prstGeom prst="rect">
            <a:avLst/>
          </a:prstGeom>
        </p:spPr>
      </p:pic>
      <p:sp>
        <p:nvSpPr>
          <p:cNvPr name="AutoShape 19" id="19"/>
          <p:cNvSpPr/>
          <p:nvPr/>
        </p:nvSpPr>
        <p:spPr>
          <a:xfrm rot="0" flipH="false" flipV="false">
            <a:off x="1270000" y="3683000"/>
            <a:ext cx="457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1F2329"/>
                </a:solidFill>
                <a:latin typeface="Noto Sans SC"/>
                <a:ea typeface="Noto Sans SC"/>
                <a:cs typeface="Noto Sans SC"/>
                <a:sym typeface="Noto Sans SC"/>
              </a:rPr>
              <a:t>核心定位一：构建现代化运营系统</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646A73"/>
                </a:solidFill>
                <a:latin typeface="Noto Sans SC"/>
                <a:ea typeface="Noto Sans SC"/>
                <a:cs typeface="Noto Sans SC"/>
                <a:sym typeface="Noto Sans SC"/>
              </a:rPr>
              <a:t>我们拒绝成为美乐家体系中“又一个普通团队”，而是致力于为美乐家打造一套完全适配当代中国互联网环境的现代化、数字化运营系统。通过标准化的流程与工具赋能，实现业务的规模化、可复制化增长。</a:t>
            </a:r>
          </a:p>
        </p:txBody>
      </p:sp>
      <p:sp>
        <p:nvSpPr>
          <p:cNvPr name="AutoShape 20" id="20"/>
          <p:cNvSpPr/>
          <p:nvPr/>
        </p:nvSpPr>
        <p:spPr>
          <a:xfrm rot="0" flipH="false" flipV="false">
            <a:off x="6159500" y="3556000"/>
            <a:ext cx="5524500" cy="1714500"/>
          </a:xfrm>
          <a:prstGeom prst="roundRect">
            <a:avLst>
              <a:gd name="adj" fmla="val 0"/>
            </a:avLst>
          </a:prstGeom>
          <a:solidFill>
            <a:srgbClr val="FFFFFF">
              <a:alpha val="100000"/>
            </a:srgbClr>
          </a:solidFill>
          <a:ln w="12700" cmpd="sng" cap="flat">
            <a:solidFill>
              <a:srgbClr val="155E3D">
                <a:alpha val="15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3746500"/>
            <a:ext cx="406400" cy="406400"/>
          </a:xfrm>
          <a:prstGeom prst="rect">
            <a:avLst/>
          </a:prstGeom>
        </p:spPr>
      </p:pic>
      <p:sp>
        <p:nvSpPr>
          <p:cNvPr name="AutoShape 22" id="22"/>
          <p:cNvSpPr/>
          <p:nvPr/>
        </p:nvSpPr>
        <p:spPr>
          <a:xfrm rot="0" flipH="false" flipV="false">
            <a:off x="6921500" y="3683000"/>
            <a:ext cx="457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800">
                <a:solidFill>
                  <a:srgbClr val="1F2329"/>
                </a:solidFill>
                <a:latin typeface="Noto Sans SC"/>
                <a:ea typeface="Noto Sans SC"/>
                <a:cs typeface="Noto Sans SC"/>
                <a:sym typeface="Noto Sans SC"/>
              </a:rPr>
              <a:t>核心定位二：打造超预期的用户配套设施</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646A73"/>
                </a:solidFill>
                <a:latin typeface="Noto Sans SC"/>
                <a:ea typeface="Noto Sans SC"/>
                <a:cs typeface="Noto Sans SC"/>
                <a:sym typeface="Noto Sans SC"/>
              </a:rPr>
              <a:t>围绕美乐家优质的产品与系统，我们构建了无数吸引人的“周边配套”。从社群服务、内容营销到线下体验，让每一个用户接触点都充满惊喜，将被动消费转化为主动向往，创造超出想象的用户体验。</a:t>
            </a:r>
          </a:p>
        </p:txBody>
      </p:sp>
      <p:sp>
        <p:nvSpPr>
          <p:cNvPr name="AutoShape 23" id="23"/>
          <p:cNvSpPr/>
          <p:nvPr/>
        </p:nvSpPr>
        <p:spPr>
          <a:xfrm rot="0" flipH="false" flipV="false">
            <a:off x="508000" y="5524500"/>
            <a:ext cx="11176000" cy="1079500"/>
          </a:xfrm>
          <a:prstGeom prst="roundRect">
            <a:avLst>
              <a:gd name="adj" fmla="val 0"/>
            </a:avLst>
          </a:prstGeom>
          <a:solidFill>
            <a:srgbClr val="155E3D">
              <a:alpha val="8000"/>
            </a:srgbClr>
          </a:solidFill>
          <a:ln cmpd="sng" cap="flat">
            <a:solidFill>
              <a:srgbClr val="084529">
                <a:alpha val="8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508000" y="5524500"/>
            <a:ext cx="76200" cy="1079500"/>
          </a:xfrm>
          <a:prstGeom prst="roundRect">
            <a:avLst>
              <a:gd name="adj" fmla="val 0"/>
            </a:avLst>
          </a:prstGeom>
          <a:solidFill>
            <a:srgbClr val="155E3D">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762000" y="5715000"/>
            <a:ext cx="355600" cy="355600"/>
          </a:xfrm>
          <a:prstGeom prst="rect">
            <a:avLst/>
          </a:prstGeom>
        </p:spPr>
      </p:pic>
      <p:sp>
        <p:nvSpPr>
          <p:cNvPr name="AutoShape 26" id="26"/>
          <p:cNvSpPr/>
          <p:nvPr/>
        </p:nvSpPr>
        <p:spPr>
          <a:xfrm rot="0" flipH="false" flipV="false">
            <a:off x="1397000" y="5588000"/>
            <a:ext cx="1003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true" strike="noStrike" u="none" sz="1400">
                <a:solidFill>
                  <a:srgbClr val="374151"/>
                </a:solidFill>
                <a:latin typeface="Noto Sans SC"/>
                <a:ea typeface="Noto Sans SC"/>
                <a:cs typeface="Noto Sans SC"/>
                <a:sym typeface="Noto Sans SC"/>
              </a:rPr>
              <a:t>“我亲眼看着我妈妈在这个事业里面从满腔热血、热情无限到迷茫不前，她唯一不变的就是坚信它很值得。” —— 这是我们出发的原点。基于对母亲经营历程的近距离观察与深刻共情，我们确立了“以系统代替个人英雄主义，以服务提升价值体验”的核心理念。</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F2937"/>
                </a:solidFill>
                <a:latin typeface="Noto Sans SC"/>
                <a:ea typeface="Noto Sans SC"/>
                <a:cs typeface="Noto Sans SC"/>
                <a:sym typeface="Noto Sans SC"/>
              </a:rPr>
              <a:t>2.2 核心方法论：五大模块的升级应用</a:t>
            </a:r>
            <a:endParaRPr lang="en-US" sz="1100"/>
          </a:p>
        </p:txBody>
      </p:sp>
      <p:cxnSp>
        <p:nvCxnSpPr>
          <p:cNvPr name="Connector 3" id="3"/>
          <p:cNvCxnSpPr/>
          <p:nvPr/>
        </p:nvCxnSpPr>
        <p:spPr>
          <a:xfrm rot="-3906" flipH="false" flipV="false">
            <a:off x="508004" y="1263650"/>
            <a:ext cx="11176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508000" y="1651000"/>
            <a:ext cx="11176000" cy="6350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35000" y="1752600"/>
            <a:ext cx="2032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核心模块</a:t>
            </a:r>
            <a:endParaRPr lang="en-US" sz="1100"/>
          </a:p>
        </p:txBody>
      </p:sp>
      <p:cxnSp>
        <p:nvCxnSpPr>
          <p:cNvPr name="Connector 6" id="6"/>
          <p:cNvCxnSpPr/>
          <p:nvPr/>
        </p:nvCxnSpPr>
        <p:spPr>
          <a:xfrm rot="5314074" flipH="false" flipV="false">
            <a:off x="2540000" y="1962229"/>
            <a:ext cx="508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7" id="7"/>
          <p:cNvSpPr/>
          <p:nvPr/>
        </p:nvSpPr>
        <p:spPr>
          <a:xfrm rot="0" flipH="false" flipV="false">
            <a:off x="2921000" y="1752600"/>
            <a:ext cx="3683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传统美乐家模式逻辑</a:t>
            </a:r>
            <a:endParaRPr lang="en-US" sz="1100"/>
          </a:p>
        </p:txBody>
      </p:sp>
      <p:cxnSp>
        <p:nvCxnSpPr>
          <p:cNvPr name="Connector 8" id="8"/>
          <p:cNvCxnSpPr/>
          <p:nvPr/>
        </p:nvCxnSpPr>
        <p:spPr>
          <a:xfrm rot="5314074" flipH="false" flipV="false">
            <a:off x="6477000" y="1962229"/>
            <a:ext cx="508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9" id="9"/>
          <p:cNvSpPr/>
          <p:nvPr/>
        </p:nvSpPr>
        <p:spPr>
          <a:xfrm rot="0" flipH="false" flipV="false">
            <a:off x="6858000" y="1752600"/>
            <a:ext cx="4572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MelBeacon 核心升级策略</a:t>
            </a:r>
            <a:endParaRPr lang="en-US" sz="1100"/>
          </a:p>
        </p:txBody>
      </p:sp>
      <p:sp>
        <p:nvSpPr>
          <p:cNvPr name="AutoShape 10" id="10"/>
          <p:cNvSpPr/>
          <p:nvPr/>
        </p:nvSpPr>
        <p:spPr>
          <a:xfrm rot="0" flipH="false" flipV="false">
            <a:off x="508000" y="2540000"/>
            <a:ext cx="11176000" cy="8128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 y="2667000"/>
            <a:ext cx="203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3A8A"/>
                </a:solidFill>
                <a:latin typeface="Noto Sans SC"/>
                <a:ea typeface="Noto Sans SC"/>
                <a:cs typeface="Noto Sans SC"/>
                <a:sym typeface="Noto Sans SC"/>
              </a:rPr>
              <a:t>01 变量重构</a:t>
            </a:r>
            <a:endParaRPr lang="en-US" sz="1100"/>
          </a:p>
        </p:txBody>
      </p:sp>
      <p:cxnSp>
        <p:nvCxnSpPr>
          <p:cNvPr name="Connector 12" id="12"/>
          <p:cNvCxnSpPr/>
          <p:nvPr/>
        </p:nvCxnSpPr>
        <p:spPr>
          <a:xfrm rot="5321882" flipH="false" flipV="false">
            <a:off x="2514600" y="2940122"/>
            <a:ext cx="5588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3" id="13"/>
          <p:cNvSpPr/>
          <p:nvPr/>
        </p:nvSpPr>
        <p:spPr>
          <a:xfrm rot="0" flipH="false" flipV="false">
            <a:off x="2921000" y="2667000"/>
            <a:ext cx="3683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局限于个人社交圈，核心指标仅关注名单数量的积累，触达范围窄且被动。</a:t>
            </a:r>
            <a:endParaRPr lang="en-US" sz="1100"/>
          </a:p>
        </p:txBody>
      </p:sp>
      <p:cxnSp>
        <p:nvCxnSpPr>
          <p:cNvPr name="Connector 14" id="14"/>
          <p:cNvCxnSpPr/>
          <p:nvPr/>
        </p:nvCxnSpPr>
        <p:spPr>
          <a:xfrm rot="5321882" flipH="false" flipV="false">
            <a:off x="6451600" y="2940122"/>
            <a:ext cx="558800" cy="12700"/>
          </a:xfrm>
          <a:prstGeom prst="line">
            <a:avLst/>
          </a:prstGeom>
          <a:solidFill>
            <a:srgbClr val="DEE0E3">
              <a:alpha val="100000"/>
            </a:srgbClr>
          </a:solidFill>
          <a:ln w="12700" cmpd="sng" cap="flat">
            <a:solidFill>
              <a:srgbClr val="1E3A8A">
                <a:alpha val="20000"/>
              </a:srgbClr>
            </a:solidFill>
            <a:prstDash val="solid"/>
            <a:round/>
            <a:headEnd type="none" w="med" len="med"/>
            <a:tailEnd type="none" w="med" len="med"/>
          </a:ln>
        </p:spPr>
      </p:cxnSp>
      <p:sp>
        <p:nvSpPr>
          <p:cNvPr name="AutoShape 15" id="15"/>
          <p:cNvSpPr/>
          <p:nvPr/>
        </p:nvSpPr>
        <p:spPr>
          <a:xfrm rot="0" flipH="false" flipV="false">
            <a:off x="6794500" y="2603500"/>
            <a:ext cx="4889500" cy="685800"/>
          </a:xfrm>
          <a:prstGeom prst="roundRect">
            <a:avLst>
              <a:gd name="adj" fmla="val 0"/>
            </a:avLst>
          </a:prstGeom>
          <a:solidFill>
            <a:srgbClr val="DBEAFE">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921500" y="2667000"/>
            <a:ext cx="46355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1E3A8A"/>
                </a:solidFill>
                <a:latin typeface="Noto Sans SC"/>
                <a:ea typeface="Noto Sans SC"/>
                <a:cs typeface="Noto Sans SC"/>
                <a:sym typeface="Noto Sans SC"/>
              </a:rPr>
              <a:t>构建全域流量池：</a:t>
            </a:r>
            <a:r>
              <a:rPr lang="en-US" b="false" i="false" strike="noStrike" u="none" sz="1300">
                <a:solidFill>
                  <a:srgbClr val="1F2937"/>
                </a:solidFill>
                <a:latin typeface="Noto Sans SC"/>
                <a:ea typeface="Noto Sans SC"/>
                <a:cs typeface="Noto Sans SC"/>
                <a:sym typeface="Noto Sans SC"/>
              </a:rPr>
              <a:t>打通线上社群活跃度与线下参与率双指标，实现流量的多维获取与留存闭环。</a:t>
            </a:r>
            <a:endParaRPr lang="en-US" sz="1100"/>
          </a:p>
        </p:txBody>
      </p:sp>
      <p:sp>
        <p:nvSpPr>
          <p:cNvPr name="AutoShape 17" id="17"/>
          <p:cNvSpPr/>
          <p:nvPr/>
        </p:nvSpPr>
        <p:spPr>
          <a:xfrm rot="0" flipH="false" flipV="false">
            <a:off x="508000" y="3556000"/>
            <a:ext cx="11176000" cy="8128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18" id="18"/>
          <p:cNvCxnSpPr/>
          <p:nvPr/>
        </p:nvCxnSpPr>
        <p:spPr>
          <a:xfrm rot="-3906" flipH="false" flipV="false">
            <a:off x="508004" y="3549650"/>
            <a:ext cx="11176000" cy="12700"/>
          </a:xfrm>
          <a:prstGeom prst="line">
            <a:avLst/>
          </a:prstGeom>
          <a:solidFill>
            <a:srgbClr val="DEE0E3">
              <a:alpha val="100000"/>
            </a:srgbClr>
          </a:solidFill>
          <a:ln w="12700" cmpd="sng" cap="flat">
            <a:solidFill>
              <a:srgbClr val="F3F4F6">
                <a:alpha val="100000"/>
              </a:srgbClr>
            </a:solidFill>
            <a:prstDash val="solid"/>
            <a:round/>
            <a:headEnd type="none" w="med" len="med"/>
            <a:tailEnd type="none" w="med" len="med"/>
          </a:ln>
        </p:spPr>
      </p:cxnSp>
      <p:sp>
        <p:nvSpPr>
          <p:cNvPr name="AutoShape 19" id="19"/>
          <p:cNvSpPr/>
          <p:nvPr/>
        </p:nvSpPr>
        <p:spPr>
          <a:xfrm rot="0" flipH="false" flipV="false">
            <a:off x="635000" y="3683000"/>
            <a:ext cx="203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3A8A"/>
                </a:solidFill>
                <a:latin typeface="Noto Sans SC"/>
                <a:ea typeface="Noto Sans SC"/>
                <a:cs typeface="Noto Sans SC"/>
                <a:sym typeface="Noto Sans SC"/>
              </a:rPr>
              <a:t>02 因果链路</a:t>
            </a:r>
            <a:endParaRPr lang="en-US" sz="1100"/>
          </a:p>
        </p:txBody>
      </p:sp>
      <p:cxnSp>
        <p:nvCxnSpPr>
          <p:cNvPr name="Connector 20" id="20"/>
          <p:cNvCxnSpPr/>
          <p:nvPr/>
        </p:nvCxnSpPr>
        <p:spPr>
          <a:xfrm rot="5321882" flipH="false" flipV="false">
            <a:off x="2514600" y="3956122"/>
            <a:ext cx="5588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1" id="21"/>
          <p:cNvSpPr/>
          <p:nvPr/>
        </p:nvSpPr>
        <p:spPr>
          <a:xfrm rot="0" flipH="false" flipV="false">
            <a:off x="2921000" y="3683000"/>
            <a:ext cx="3683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单一逻辑：一对一分享建立信任，进而产生推荐，链路短且依赖个人能力。</a:t>
            </a:r>
            <a:endParaRPr lang="en-US" sz="1100"/>
          </a:p>
        </p:txBody>
      </p:sp>
      <p:cxnSp>
        <p:nvCxnSpPr>
          <p:cNvPr name="Connector 22" id="22"/>
          <p:cNvCxnSpPr/>
          <p:nvPr/>
        </p:nvCxnSpPr>
        <p:spPr>
          <a:xfrm rot="5321882" flipH="false" flipV="false">
            <a:off x="6451600" y="3956122"/>
            <a:ext cx="558800" cy="12700"/>
          </a:xfrm>
          <a:prstGeom prst="line">
            <a:avLst/>
          </a:prstGeom>
          <a:solidFill>
            <a:srgbClr val="DEE0E3">
              <a:alpha val="100000"/>
            </a:srgbClr>
          </a:solidFill>
          <a:ln w="12700" cmpd="sng" cap="flat">
            <a:solidFill>
              <a:srgbClr val="1E3A8A">
                <a:alpha val="20000"/>
              </a:srgbClr>
            </a:solidFill>
            <a:prstDash val="solid"/>
            <a:round/>
            <a:headEnd type="none" w="med" len="med"/>
            <a:tailEnd type="none" w="med" len="med"/>
          </a:ln>
        </p:spPr>
      </p:cxnSp>
      <p:sp>
        <p:nvSpPr>
          <p:cNvPr name="AutoShape 23" id="23"/>
          <p:cNvSpPr/>
          <p:nvPr/>
        </p:nvSpPr>
        <p:spPr>
          <a:xfrm rot="0" flipH="false" flipV="false">
            <a:off x="6794500" y="3619500"/>
            <a:ext cx="4889500" cy="685800"/>
          </a:xfrm>
          <a:prstGeom prst="roundRect">
            <a:avLst>
              <a:gd name="adj" fmla="val 0"/>
            </a:avLst>
          </a:prstGeom>
          <a:solidFill>
            <a:srgbClr val="DBEAFE">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921500" y="3683000"/>
            <a:ext cx="46355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1E3A8A"/>
                </a:solidFill>
                <a:latin typeface="Noto Sans SC"/>
                <a:ea typeface="Noto Sans SC"/>
                <a:cs typeface="Noto Sans SC"/>
                <a:sym typeface="Noto Sans SC"/>
              </a:rPr>
              <a:t>价值驱动递进：</a:t>
            </a:r>
            <a:r>
              <a:rPr lang="en-US" b="false" i="false" strike="noStrike" u="none" sz="1300">
                <a:solidFill>
                  <a:srgbClr val="1F2937"/>
                </a:solidFill>
                <a:latin typeface="Noto Sans SC"/>
                <a:ea typeface="Noto Sans SC"/>
                <a:cs typeface="Noto Sans SC"/>
                <a:sym typeface="Noto Sans SC"/>
              </a:rPr>
              <a:t>内容价值输出→付费筛选精准用户→社群阶梯式培育→深度价值转化，链路系统化。</a:t>
            </a:r>
            <a:endParaRPr lang="en-US" sz="1100"/>
          </a:p>
        </p:txBody>
      </p:sp>
      <p:sp>
        <p:nvSpPr>
          <p:cNvPr name="AutoShape 25" id="25"/>
          <p:cNvSpPr/>
          <p:nvPr/>
        </p:nvSpPr>
        <p:spPr>
          <a:xfrm rot="0" flipH="false" flipV="false">
            <a:off x="508000" y="4572000"/>
            <a:ext cx="11176000" cy="8128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35000" y="4699000"/>
            <a:ext cx="2032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3A8A"/>
                </a:solidFill>
                <a:latin typeface="Noto Sans SC"/>
                <a:ea typeface="Noto Sans SC"/>
                <a:cs typeface="Noto Sans SC"/>
                <a:sym typeface="Noto Sans SC"/>
              </a:rPr>
              <a:t>03 增强回路</a:t>
            </a:r>
            <a:endParaRPr lang="en-US" sz="1100"/>
          </a:p>
        </p:txBody>
      </p:sp>
      <p:cxnSp>
        <p:nvCxnSpPr>
          <p:cNvPr name="Connector 27" id="27"/>
          <p:cNvCxnSpPr/>
          <p:nvPr/>
        </p:nvCxnSpPr>
        <p:spPr>
          <a:xfrm rot="5321882" flipH="false" flipV="false">
            <a:off x="2514600" y="4972122"/>
            <a:ext cx="5588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28" id="28"/>
          <p:cNvSpPr/>
          <p:nvPr/>
        </p:nvSpPr>
        <p:spPr>
          <a:xfrm rot="0" flipH="false" flipV="false">
            <a:off x="2921000" y="4699000"/>
            <a:ext cx="3683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依赖“影响力商法”，依靠个人魅力或人脉推动，缺乏可持续的自增长动力。</a:t>
            </a:r>
            <a:endParaRPr lang="en-US" sz="1100"/>
          </a:p>
        </p:txBody>
      </p:sp>
      <p:cxnSp>
        <p:nvCxnSpPr>
          <p:cNvPr name="Connector 29" id="29"/>
          <p:cNvCxnSpPr/>
          <p:nvPr/>
        </p:nvCxnSpPr>
        <p:spPr>
          <a:xfrm rot="5321882" flipH="false" flipV="false">
            <a:off x="6451600" y="4972122"/>
            <a:ext cx="558800" cy="12700"/>
          </a:xfrm>
          <a:prstGeom prst="line">
            <a:avLst/>
          </a:prstGeom>
          <a:solidFill>
            <a:srgbClr val="DEE0E3">
              <a:alpha val="100000"/>
            </a:srgbClr>
          </a:solidFill>
          <a:ln w="12700" cmpd="sng" cap="flat">
            <a:solidFill>
              <a:srgbClr val="1E3A8A">
                <a:alpha val="20000"/>
              </a:srgbClr>
            </a:solidFill>
            <a:prstDash val="solid"/>
            <a:round/>
            <a:headEnd type="none" w="med" len="med"/>
            <a:tailEnd type="none" w="med" len="med"/>
          </a:ln>
        </p:spPr>
      </p:cxnSp>
      <p:sp>
        <p:nvSpPr>
          <p:cNvPr name="AutoShape 30" id="30"/>
          <p:cNvSpPr/>
          <p:nvPr/>
        </p:nvSpPr>
        <p:spPr>
          <a:xfrm rot="0" flipH="false" flipV="false">
            <a:off x="6794500" y="4635500"/>
            <a:ext cx="4889500" cy="685800"/>
          </a:xfrm>
          <a:prstGeom prst="roundRect">
            <a:avLst>
              <a:gd name="adj" fmla="val 0"/>
            </a:avLst>
          </a:prstGeom>
          <a:solidFill>
            <a:srgbClr val="DBEAFE">
              <a:alpha val="5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921500" y="4699000"/>
            <a:ext cx="46355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1E3A8A"/>
                </a:solidFill>
                <a:latin typeface="Noto Sans SC"/>
                <a:ea typeface="Noto Sans SC"/>
                <a:cs typeface="Noto Sans SC"/>
                <a:sym typeface="Noto Sans SC"/>
              </a:rPr>
              <a:t>全域IP闭环：</a:t>
            </a:r>
            <a:r>
              <a:rPr lang="en-US" b="false" i="false" strike="noStrike" u="none" sz="1300">
                <a:solidFill>
                  <a:srgbClr val="1F2937"/>
                </a:solidFill>
                <a:latin typeface="Noto Sans SC"/>
                <a:ea typeface="Noto Sans SC"/>
                <a:cs typeface="Noto Sans SC"/>
                <a:sym typeface="Noto Sans SC"/>
              </a:rPr>
              <a:t>全域IP打造 + 善意起心动念 + 沉浸式线下体验，形成可复制、自驱动的正向增强循环。</a:t>
            </a:r>
            <a:endParaRPr lang="en-US" sz="1100"/>
          </a:p>
        </p:txBody>
      </p:sp>
      <p:sp>
        <p:nvSpPr>
          <p:cNvPr name="AutoShape 32" id="32"/>
          <p:cNvSpPr/>
          <p:nvPr/>
        </p:nvSpPr>
        <p:spPr>
          <a:xfrm rot="0" flipH="false" flipV="false">
            <a:off x="508000" y="5588000"/>
            <a:ext cx="5524500" cy="1016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508000" y="5588000"/>
            <a:ext cx="76200" cy="10160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698500" y="56515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E3A8A"/>
                </a:solidFill>
                <a:latin typeface="Noto Sans SC"/>
                <a:ea typeface="Noto Sans SC"/>
                <a:cs typeface="Noto Sans SC"/>
                <a:sym typeface="Noto Sans SC"/>
              </a:rPr>
              <a:t>04 调节回路制衡：</a:t>
            </a:r>
            <a:r>
              <a:rPr lang="en-US" b="false" i="false" strike="noStrike" u="none" sz="1200">
                <a:solidFill>
                  <a:srgbClr val="374151"/>
                </a:solidFill>
                <a:latin typeface="Noto Sans SC"/>
                <a:ea typeface="Noto Sans SC"/>
                <a:cs typeface="Noto Sans SC"/>
                <a:sym typeface="Noto Sans SC"/>
              </a:rPr>
              <a:t>传统模式受团队流失与市场波动影响大；升级后建立“躺平思维+过度核心化”双重制衡机制，稳定组织架构，抵御外部风险。</a:t>
            </a:r>
            <a:endParaRPr lang="en-US" sz="1100"/>
          </a:p>
        </p:txBody>
      </p:sp>
      <p:sp>
        <p:nvSpPr>
          <p:cNvPr name="AutoShape 35" id="35"/>
          <p:cNvSpPr/>
          <p:nvPr/>
        </p:nvSpPr>
        <p:spPr>
          <a:xfrm rot="0" flipH="false" flipV="false">
            <a:off x="6159500" y="5588000"/>
            <a:ext cx="5524500" cy="1016000"/>
          </a:xfrm>
          <a:prstGeom prst="roundRect">
            <a:avLst>
              <a:gd name="adj" fmla="val 0"/>
            </a:avLst>
          </a:prstGeom>
          <a:solidFill>
            <a:srgbClr val="EFF6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159500" y="5588000"/>
            <a:ext cx="76200" cy="1016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6350000" y="56515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E3A8A"/>
                </a:solidFill>
                <a:latin typeface="Noto Sans SC"/>
                <a:ea typeface="Noto Sans SC"/>
                <a:cs typeface="Noto Sans SC"/>
                <a:sym typeface="Noto Sans SC"/>
              </a:rPr>
              <a:t>05 滞后效应突破：</a:t>
            </a:r>
            <a:r>
              <a:rPr lang="en-US" b="false" i="false" strike="noStrike" u="none" sz="1200">
                <a:solidFill>
                  <a:srgbClr val="374151"/>
                </a:solidFill>
                <a:latin typeface="Noto Sans SC"/>
                <a:ea typeface="Noto Sans SC"/>
                <a:cs typeface="Noto Sans SC"/>
                <a:sym typeface="Noto Sans SC"/>
              </a:rPr>
              <a:t>突破单一管道收入的滞后性，构建“管道收入+核心班底+忠实用户群”铁三角，提前锁定长期价值，缩短收益周期，实现稳健复利。</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0B3D91"/>
                </a:solidFill>
                <a:latin typeface="Noto Sans SC"/>
                <a:ea typeface="Noto Sans SC"/>
                <a:cs typeface="Noto Sans SC"/>
                <a:sym typeface="Noto Sans SC"/>
              </a:rPr>
              <a:t>2.3 与传统美乐家体系的差异化总览</a:t>
            </a:r>
            <a:endParaRPr lang="en-US" sz="1100"/>
          </a:p>
        </p:txBody>
      </p:sp>
      <p:cxnSp>
        <p:nvCxnSpPr>
          <p:cNvPr name="Connector 3" id="3"/>
          <p:cNvCxnSpPr/>
          <p:nvPr/>
        </p:nvCxnSpPr>
        <p:spPr>
          <a:xfrm rot="-3906" flipH="false" flipV="false">
            <a:off x="508004" y="1009650"/>
            <a:ext cx="11176000" cy="12700"/>
          </a:xfrm>
          <a:prstGeom prst="line">
            <a:avLst/>
          </a:prstGeom>
          <a:solidFill>
            <a:srgbClr val="DEE0E3">
              <a:alpha val="100000"/>
            </a:srgbClr>
          </a:solidFill>
          <a:ln w="12700" cmpd="sng" cap="flat">
            <a:solidFill>
              <a:srgbClr val="0B3D91">
                <a:alpha val="20000"/>
              </a:srgbClr>
            </a:solidFill>
            <a:prstDash val="solid"/>
            <a:round/>
            <a:headEnd type="none" w="med" len="med"/>
            <a:tailEnd type="none" w="med" len="med"/>
          </a:ln>
        </p:spPr>
      </p:cxnSp>
      <p:sp>
        <p:nvSpPr>
          <p:cNvPr name="AutoShape 4" id="4"/>
          <p:cNvSpPr/>
          <p:nvPr/>
        </p:nvSpPr>
        <p:spPr>
          <a:xfrm rot="0" flipH="false" flipV="false">
            <a:off x="508000" y="1270000"/>
            <a:ext cx="2794000" cy="508000"/>
          </a:xfrm>
          <a:prstGeom prst="roundRect">
            <a:avLst>
              <a:gd name="adj" fmla="val 0"/>
            </a:avLst>
          </a:prstGeom>
          <a:solidFill>
            <a:srgbClr val="0B3D9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270000"/>
            <a:ext cx="279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核心对比维度</a:t>
            </a:r>
            <a:endParaRPr lang="en-US" sz="1100"/>
          </a:p>
        </p:txBody>
      </p:sp>
      <p:sp>
        <p:nvSpPr>
          <p:cNvPr name="AutoShape 6" id="6"/>
          <p:cNvSpPr/>
          <p:nvPr/>
        </p:nvSpPr>
        <p:spPr>
          <a:xfrm rot="0" flipH="false" flipV="false">
            <a:off x="3429000" y="1270000"/>
            <a:ext cx="4000500" cy="508000"/>
          </a:xfrm>
          <a:prstGeom prst="roundRect">
            <a:avLst>
              <a:gd name="adj" fmla="val 0"/>
            </a:avLst>
          </a:prstGeom>
          <a:solidFill>
            <a:srgbClr val="0B3D9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3429000" y="1270000"/>
            <a:ext cx="4000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传统美乐家体系做法</a:t>
            </a:r>
            <a:endParaRPr lang="en-US" sz="1100"/>
          </a:p>
        </p:txBody>
      </p:sp>
      <p:sp>
        <p:nvSpPr>
          <p:cNvPr name="AutoShape 8" id="8"/>
          <p:cNvSpPr/>
          <p:nvPr/>
        </p:nvSpPr>
        <p:spPr>
          <a:xfrm rot="0" flipH="false" flipV="false">
            <a:off x="7556500" y="1270000"/>
            <a:ext cx="4127500" cy="508000"/>
          </a:xfrm>
          <a:prstGeom prst="roundRect">
            <a:avLst>
              <a:gd name="adj" fmla="val 0"/>
            </a:avLst>
          </a:prstGeom>
          <a:solidFill>
            <a:srgbClr val="0B3D91">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556500" y="1270000"/>
            <a:ext cx="41275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solidFill>
                <a:latin typeface="Noto Sans SC"/>
                <a:ea typeface="Noto Sans SC"/>
                <a:cs typeface="Noto Sans SC"/>
                <a:sym typeface="Noto Sans SC"/>
              </a:rPr>
              <a:t>MelBeacon 创新系统优势</a:t>
            </a:r>
            <a:endParaRPr lang="en-US" sz="1100"/>
          </a:p>
        </p:txBody>
      </p:sp>
      <p:sp>
        <p:nvSpPr>
          <p:cNvPr name="AutoShape 10" id="10"/>
          <p:cNvSpPr/>
          <p:nvPr/>
        </p:nvSpPr>
        <p:spPr>
          <a:xfrm rot="0" flipH="false" flipV="false">
            <a:off x="508000" y="1968500"/>
            <a:ext cx="11176000" cy="533400"/>
          </a:xfrm>
          <a:prstGeom prst="roundRect">
            <a:avLst>
              <a:gd name="adj" fmla="val 0"/>
            </a:avLst>
          </a:prstGeom>
          <a:solidFill>
            <a:srgbClr val="F5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556500" y="1968500"/>
            <a:ext cx="4127500" cy="533400"/>
          </a:xfrm>
          <a:prstGeom prst="roundRect">
            <a:avLst>
              <a:gd name="adj" fmla="val 0"/>
            </a:avLst>
          </a:prstGeom>
          <a:solidFill>
            <a:srgbClr val="E6F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 y="20320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01. 获客方式</a:t>
            </a:r>
            <a:endParaRPr lang="en-US" sz="1100"/>
          </a:p>
        </p:txBody>
      </p:sp>
      <p:cxnSp>
        <p:nvCxnSpPr>
          <p:cNvPr name="Connector 13" id="13"/>
          <p:cNvCxnSpPr/>
          <p:nvPr/>
        </p:nvCxnSpPr>
        <p:spPr>
          <a:xfrm rot="5292605" flipH="false" flipV="false">
            <a:off x="3162300" y="22289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14" id="14"/>
          <p:cNvSpPr/>
          <p:nvPr/>
        </p:nvSpPr>
        <p:spPr>
          <a:xfrm rot="0" flipH="false" flipV="false">
            <a:off x="3492500" y="20320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依赖名单邀约，局限于个人一对一社交圈，拓客半径小且效率低。</a:t>
            </a:r>
            <a:endParaRPr lang="en-US" sz="1100"/>
          </a:p>
        </p:txBody>
      </p:sp>
      <p:cxnSp>
        <p:nvCxnSpPr>
          <p:cNvPr name="Connector 15" id="15"/>
          <p:cNvCxnSpPr/>
          <p:nvPr/>
        </p:nvCxnSpPr>
        <p:spPr>
          <a:xfrm rot="5292605" flipH="false" flipV="false">
            <a:off x="7289800" y="22289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16" id="16"/>
          <p:cNvSpPr/>
          <p:nvPr/>
        </p:nvSpPr>
        <p:spPr>
          <a:xfrm rot="0" flipH="false" flipV="false">
            <a:off x="7683500" y="20320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全域IP矩阵公域获客：</a:t>
            </a:r>
            <a:r>
              <a:rPr lang="en-US" b="false" i="false" strike="noStrike" u="none" sz="1300">
                <a:solidFill>
                  <a:srgbClr val="3C465A"/>
                </a:solidFill>
                <a:latin typeface="Noto Sans SC"/>
                <a:ea typeface="Noto Sans SC"/>
                <a:cs typeface="Noto Sans SC"/>
                <a:sym typeface="Noto Sans SC"/>
              </a:rPr>
              <a:t>利用短视频/直播矩阵引流，突破私域瓶颈，实现被动获客。</a:t>
            </a:r>
            <a:endParaRPr lang="en-US" sz="1100"/>
          </a:p>
        </p:txBody>
      </p:sp>
      <p:sp>
        <p:nvSpPr>
          <p:cNvPr name="AutoShape 17" id="17"/>
          <p:cNvSpPr/>
          <p:nvPr/>
        </p:nvSpPr>
        <p:spPr>
          <a:xfrm rot="0" flipH="false" flipV="false">
            <a:off x="508000" y="2667000"/>
            <a:ext cx="11176000" cy="533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556500" y="2667000"/>
            <a:ext cx="4127500" cy="533400"/>
          </a:xfrm>
          <a:prstGeom prst="roundRect">
            <a:avLst>
              <a:gd name="adj" fmla="val 0"/>
            </a:avLst>
          </a:prstGeom>
          <a:solidFill>
            <a:srgbClr val="E6F0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35000" y="2730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02. 信任建立</a:t>
            </a:r>
            <a:endParaRPr lang="en-US" sz="1100"/>
          </a:p>
        </p:txBody>
      </p:sp>
      <p:cxnSp>
        <p:nvCxnSpPr>
          <p:cNvPr name="Connector 20" id="20"/>
          <p:cNvCxnSpPr/>
          <p:nvPr/>
        </p:nvCxnSpPr>
        <p:spPr>
          <a:xfrm rot="5292605" flipH="false" flipV="false">
            <a:off x="3162300" y="29274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1" id="21"/>
          <p:cNvSpPr/>
          <p:nvPr/>
        </p:nvSpPr>
        <p:spPr>
          <a:xfrm rot="0" flipH="false" flipV="false">
            <a:off x="3492500" y="2730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纯靠面对面沟通，依赖个人口才与社交能力，信任成本高且复制难。</a:t>
            </a:r>
            <a:endParaRPr lang="en-US" sz="1100"/>
          </a:p>
        </p:txBody>
      </p:sp>
      <p:cxnSp>
        <p:nvCxnSpPr>
          <p:cNvPr name="Connector 22" id="22"/>
          <p:cNvCxnSpPr/>
          <p:nvPr/>
        </p:nvCxnSpPr>
        <p:spPr>
          <a:xfrm rot="5292605" flipH="false" flipV="false">
            <a:off x="7289800" y="29274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23" id="23"/>
          <p:cNvSpPr/>
          <p:nvPr/>
        </p:nvSpPr>
        <p:spPr>
          <a:xfrm rot="0" flipH="false" flipV="false">
            <a:off x="7683500" y="2730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内容价值+社群交付：</a:t>
            </a:r>
            <a:r>
              <a:rPr lang="en-US" b="false" i="false" strike="noStrike" u="none" sz="1300">
                <a:solidFill>
                  <a:srgbClr val="3C465A"/>
                </a:solidFill>
                <a:latin typeface="Noto Sans SC"/>
                <a:ea typeface="Noto Sans SC"/>
                <a:cs typeface="Noto Sans SC"/>
                <a:sym typeface="Noto Sans SC"/>
              </a:rPr>
              <a:t>通过专业内容输出建立权威，付费社群筛选身份，降低信任门槛。</a:t>
            </a:r>
            <a:endParaRPr lang="en-US" sz="1100"/>
          </a:p>
        </p:txBody>
      </p:sp>
      <p:sp>
        <p:nvSpPr>
          <p:cNvPr name="AutoShape 24" id="24"/>
          <p:cNvSpPr/>
          <p:nvPr/>
        </p:nvSpPr>
        <p:spPr>
          <a:xfrm rot="0" flipH="false" flipV="false">
            <a:off x="508000" y="3302000"/>
            <a:ext cx="11176000" cy="533400"/>
          </a:xfrm>
          <a:prstGeom prst="roundRect">
            <a:avLst>
              <a:gd name="adj" fmla="val 0"/>
            </a:avLst>
          </a:prstGeom>
          <a:solidFill>
            <a:srgbClr val="F5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556500" y="3302000"/>
            <a:ext cx="4127500" cy="533400"/>
          </a:xfrm>
          <a:prstGeom prst="roundRect">
            <a:avLst>
              <a:gd name="adj" fmla="val 0"/>
            </a:avLst>
          </a:prstGeom>
          <a:solidFill>
            <a:srgbClr val="E6F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635000" y="3365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03. 筛选机制</a:t>
            </a:r>
            <a:endParaRPr lang="en-US" sz="1100"/>
          </a:p>
        </p:txBody>
      </p:sp>
      <p:cxnSp>
        <p:nvCxnSpPr>
          <p:cNvPr name="Connector 27" id="27"/>
          <p:cNvCxnSpPr/>
          <p:nvPr/>
        </p:nvCxnSpPr>
        <p:spPr>
          <a:xfrm rot="5292605" flipH="false" flipV="false">
            <a:off x="3162300" y="35624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8" id="28"/>
          <p:cNvSpPr/>
          <p:nvPr/>
        </p:nvSpPr>
        <p:spPr>
          <a:xfrm rot="0" flipH="false" flipV="false">
            <a:off x="3492500" y="3365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遵循二八定律，人工逐个筛选，耗时耗力，难以规模化复制。</a:t>
            </a:r>
            <a:endParaRPr lang="en-US" sz="1100"/>
          </a:p>
        </p:txBody>
      </p:sp>
      <p:cxnSp>
        <p:nvCxnSpPr>
          <p:cNvPr name="Connector 29" id="29"/>
          <p:cNvCxnSpPr/>
          <p:nvPr/>
        </p:nvCxnSpPr>
        <p:spPr>
          <a:xfrm rot="5292605" flipH="false" flipV="false">
            <a:off x="7289800" y="35624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30" id="30"/>
          <p:cNvSpPr/>
          <p:nvPr/>
        </p:nvSpPr>
        <p:spPr>
          <a:xfrm rot="0" flipH="false" flipV="false">
            <a:off x="7683500" y="3365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付费行为自动筛选：</a:t>
            </a:r>
            <a:r>
              <a:rPr lang="en-US" b="false" i="false" strike="noStrike" u="none" sz="1300">
                <a:solidFill>
                  <a:srgbClr val="3C465A"/>
                </a:solidFill>
                <a:latin typeface="Noto Sans SC"/>
                <a:ea typeface="Noto Sans SC"/>
                <a:cs typeface="Noto Sans SC"/>
                <a:sym typeface="Noto Sans SC"/>
              </a:rPr>
              <a:t>利用门槛自动过滤低意愿人群，沉淀高认知、高付费能力的精准用户。</a:t>
            </a:r>
            <a:endParaRPr lang="en-US" sz="1100"/>
          </a:p>
        </p:txBody>
      </p:sp>
      <p:sp>
        <p:nvSpPr>
          <p:cNvPr name="AutoShape 31" id="31"/>
          <p:cNvSpPr/>
          <p:nvPr/>
        </p:nvSpPr>
        <p:spPr>
          <a:xfrm rot="0" flipH="false" flipV="false">
            <a:off x="508000" y="3937000"/>
            <a:ext cx="11176000" cy="533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7556500" y="3937000"/>
            <a:ext cx="4127500" cy="533400"/>
          </a:xfrm>
          <a:prstGeom prst="roundRect">
            <a:avLst>
              <a:gd name="adj" fmla="val 0"/>
            </a:avLst>
          </a:prstGeom>
          <a:solidFill>
            <a:srgbClr val="E6F0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35000" y="40005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04. 会员留存</a:t>
            </a:r>
            <a:endParaRPr lang="en-US" sz="1100"/>
          </a:p>
        </p:txBody>
      </p:sp>
      <p:cxnSp>
        <p:nvCxnSpPr>
          <p:cNvPr name="Connector 34" id="34"/>
          <p:cNvCxnSpPr/>
          <p:nvPr/>
        </p:nvCxnSpPr>
        <p:spPr>
          <a:xfrm rot="5292605" flipH="false" flipV="false">
            <a:off x="3162300" y="41974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5" id="35"/>
          <p:cNvSpPr/>
          <p:nvPr/>
        </p:nvSpPr>
        <p:spPr>
          <a:xfrm rot="0" flipH="false" flipV="false">
            <a:off x="3492500" y="4000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缺乏系统化社群运营，仅靠人情维护，会员流失率高，粘性弱。</a:t>
            </a:r>
            <a:endParaRPr lang="en-US" sz="1100"/>
          </a:p>
        </p:txBody>
      </p:sp>
      <p:cxnSp>
        <p:nvCxnSpPr>
          <p:cNvPr name="Connector 36" id="36"/>
          <p:cNvCxnSpPr/>
          <p:nvPr/>
        </p:nvCxnSpPr>
        <p:spPr>
          <a:xfrm rot="5292605" flipH="false" flipV="false">
            <a:off x="7289800" y="41974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37" id="37"/>
          <p:cNvSpPr/>
          <p:nvPr/>
        </p:nvSpPr>
        <p:spPr>
          <a:xfrm rot="0" flipH="false" flipV="false">
            <a:off x="7683500" y="40005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精细化社群运营：</a:t>
            </a:r>
            <a:r>
              <a:rPr lang="en-US" b="false" i="false" strike="noStrike" u="none" sz="1300">
                <a:solidFill>
                  <a:srgbClr val="3C465A"/>
                </a:solidFill>
                <a:latin typeface="Noto Sans SC"/>
                <a:ea typeface="Noto Sans SC"/>
                <a:cs typeface="Noto Sans SC"/>
                <a:sym typeface="Noto Sans SC"/>
              </a:rPr>
              <a:t>分层级、分周期的SOP运营体系，提供持续价值，显著提升留存率。</a:t>
            </a:r>
            <a:endParaRPr lang="en-US" sz="1100"/>
          </a:p>
        </p:txBody>
      </p:sp>
      <p:sp>
        <p:nvSpPr>
          <p:cNvPr name="AutoShape 38" id="38"/>
          <p:cNvSpPr/>
          <p:nvPr/>
        </p:nvSpPr>
        <p:spPr>
          <a:xfrm rot="0" flipH="false" flipV="false">
            <a:off x="508000" y="4546600"/>
            <a:ext cx="11176000" cy="533400"/>
          </a:xfrm>
          <a:prstGeom prst="roundRect">
            <a:avLst>
              <a:gd name="adj" fmla="val 0"/>
            </a:avLst>
          </a:prstGeom>
          <a:solidFill>
            <a:srgbClr val="F5F7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7556500" y="4546600"/>
            <a:ext cx="4127500" cy="533400"/>
          </a:xfrm>
          <a:prstGeom prst="roundRect">
            <a:avLst>
              <a:gd name="adj" fmla="val 0"/>
            </a:avLst>
          </a:prstGeom>
          <a:solidFill>
            <a:srgbClr val="E6F0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635000" y="46101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05. 经营者培育</a:t>
            </a:r>
            <a:endParaRPr lang="en-US" sz="1100"/>
          </a:p>
        </p:txBody>
      </p:sp>
      <p:cxnSp>
        <p:nvCxnSpPr>
          <p:cNvPr name="Connector 41" id="41"/>
          <p:cNvCxnSpPr/>
          <p:nvPr/>
        </p:nvCxnSpPr>
        <p:spPr>
          <a:xfrm rot="5292605" flipH="false" flipV="false">
            <a:off x="3162300" y="48070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2" id="42"/>
          <p:cNvSpPr/>
          <p:nvPr/>
        </p:nvSpPr>
        <p:spPr>
          <a:xfrm rot="0" flipH="false" flipV="false">
            <a:off x="3492500" y="46101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单纯教授“怎么经营”的课件，缺乏底层逻辑，容易造成机械执行。</a:t>
            </a:r>
            <a:endParaRPr lang="en-US" sz="1100"/>
          </a:p>
        </p:txBody>
      </p:sp>
      <p:cxnSp>
        <p:nvCxnSpPr>
          <p:cNvPr name="Connector 43" id="43"/>
          <p:cNvCxnSpPr/>
          <p:nvPr/>
        </p:nvCxnSpPr>
        <p:spPr>
          <a:xfrm rot="5292605" flipH="false" flipV="false">
            <a:off x="7289800" y="48070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44" id="44"/>
          <p:cNvSpPr/>
          <p:nvPr/>
        </p:nvSpPr>
        <p:spPr>
          <a:xfrm rot="0" flipH="false" flipV="false">
            <a:off x="7683500" y="46101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思维+职能分工培育：</a:t>
            </a:r>
            <a:r>
              <a:rPr lang="en-US" b="false" i="false" strike="noStrike" u="none" sz="1300">
                <a:solidFill>
                  <a:srgbClr val="3C465A"/>
                </a:solidFill>
                <a:latin typeface="Noto Sans SC"/>
                <a:ea typeface="Noto Sans SC"/>
                <a:cs typeface="Noto Sans SC"/>
                <a:sym typeface="Noto Sans SC"/>
              </a:rPr>
              <a:t>升维思维层次，明确内容、运营、销售分工，打造专业化经营团队。</a:t>
            </a:r>
            <a:endParaRPr lang="en-US" sz="1100"/>
          </a:p>
        </p:txBody>
      </p:sp>
      <p:sp>
        <p:nvSpPr>
          <p:cNvPr name="AutoShape 45" id="45"/>
          <p:cNvSpPr/>
          <p:nvPr/>
        </p:nvSpPr>
        <p:spPr>
          <a:xfrm rot="0" flipH="false" flipV="false">
            <a:off x="508000" y="5156200"/>
            <a:ext cx="11176000" cy="533400"/>
          </a:xfrm>
          <a:prstGeom prst="roundRect">
            <a:avLst>
              <a:gd name="adj" fmla="val 0"/>
            </a:avLst>
          </a:prstGeom>
          <a:solidFill>
            <a:srgbClr val="FFF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6" id="46"/>
          <p:cNvSpPr/>
          <p:nvPr/>
        </p:nvSpPr>
        <p:spPr>
          <a:xfrm rot="0" flipH="false" flipV="false">
            <a:off x="7556500" y="5156200"/>
            <a:ext cx="4127500" cy="533400"/>
          </a:xfrm>
          <a:prstGeom prst="roundRect">
            <a:avLst>
              <a:gd name="adj" fmla="val 0"/>
            </a:avLst>
          </a:prstGeom>
          <a:solidFill>
            <a:srgbClr val="E6F0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7" id="47"/>
          <p:cNvSpPr/>
          <p:nvPr/>
        </p:nvSpPr>
        <p:spPr>
          <a:xfrm rot="0" flipH="false" flipV="false">
            <a:off x="635000" y="5219700"/>
            <a:ext cx="2540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06. 团队结构</a:t>
            </a:r>
            <a:endParaRPr lang="en-US" sz="1100"/>
          </a:p>
        </p:txBody>
      </p:sp>
      <p:cxnSp>
        <p:nvCxnSpPr>
          <p:cNvPr name="Connector 48" id="48"/>
          <p:cNvCxnSpPr/>
          <p:nvPr/>
        </p:nvCxnSpPr>
        <p:spPr>
          <a:xfrm rot="5292605" flipH="false" flipV="false">
            <a:off x="3162300" y="5416649"/>
            <a:ext cx="4064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9" id="49"/>
          <p:cNvSpPr/>
          <p:nvPr/>
        </p:nvSpPr>
        <p:spPr>
          <a:xfrm rot="0" flipH="false" flipV="false">
            <a:off x="3492500" y="52197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false" i="false" strike="noStrike" u="none" sz="1300">
                <a:solidFill>
                  <a:srgbClr val="555555"/>
                </a:solidFill>
                <a:latin typeface="Noto Sans SC"/>
                <a:ea typeface="Noto Sans SC"/>
                <a:cs typeface="Noto Sans SC"/>
                <a:sym typeface="Noto Sans SC"/>
              </a:rPr>
              <a:t>基于个人社交圈自然衍生，结构松散，成员角色模糊，协作效率低。</a:t>
            </a:r>
            <a:endParaRPr lang="en-US" sz="1100"/>
          </a:p>
        </p:txBody>
      </p:sp>
      <p:cxnSp>
        <p:nvCxnSpPr>
          <p:cNvPr name="Connector 50" id="50"/>
          <p:cNvCxnSpPr/>
          <p:nvPr/>
        </p:nvCxnSpPr>
        <p:spPr>
          <a:xfrm rot="5292605" flipH="false" flipV="false">
            <a:off x="7289800" y="5416649"/>
            <a:ext cx="406400" cy="12700"/>
          </a:xfrm>
          <a:prstGeom prst="line">
            <a:avLst/>
          </a:prstGeom>
          <a:solidFill>
            <a:srgbClr val="DEE0E3">
              <a:alpha val="100000"/>
            </a:srgbClr>
          </a:solidFill>
          <a:ln w="12700" cmpd="sng" cap="flat">
            <a:solidFill>
              <a:srgbClr val="0B3D91">
                <a:alpha val="10000"/>
              </a:srgbClr>
            </a:solidFill>
            <a:prstDash val="solid"/>
            <a:round/>
            <a:headEnd type="none" w="med" len="med"/>
            <a:tailEnd type="none" w="med" len="med"/>
          </a:ln>
        </p:spPr>
      </p:cxnSp>
      <p:sp>
        <p:nvSpPr>
          <p:cNvPr name="AutoShape 51" id="51"/>
          <p:cNvSpPr/>
          <p:nvPr/>
        </p:nvSpPr>
        <p:spPr>
          <a:xfrm rot="0" flipH="false" flipV="false">
            <a:off x="7683500" y="5219700"/>
            <a:ext cx="3873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0B3D91"/>
                </a:solidFill>
                <a:latin typeface="Noto Sans SC"/>
                <a:ea typeface="Noto Sans SC"/>
                <a:cs typeface="Noto Sans SC"/>
                <a:sym typeface="Noto Sans SC"/>
              </a:rPr>
              <a:t>矩阵化博主组织线：</a:t>
            </a:r>
            <a:r>
              <a:rPr lang="en-US" b="false" i="false" strike="noStrike" u="none" sz="1300">
                <a:solidFill>
                  <a:srgbClr val="3C465A"/>
                </a:solidFill>
                <a:latin typeface="Noto Sans SC"/>
                <a:ea typeface="Noto Sans SC"/>
                <a:cs typeface="Noto Sans SC"/>
                <a:sym typeface="Noto Sans SC"/>
              </a:rPr>
              <a:t>以博主IP为节点，构建网格化、矩阵化组织结构，实现规模化扩张。</a:t>
            </a:r>
            <a:endParaRPr lang="en-US" sz="1100"/>
          </a:p>
        </p:txBody>
      </p:sp>
      <p:cxnSp>
        <p:nvCxnSpPr>
          <p:cNvPr name="Connector 52" id="52"/>
          <p:cNvCxnSpPr/>
          <p:nvPr/>
        </p:nvCxnSpPr>
        <p:spPr>
          <a:xfrm rot="-3906" flipH="false" flipV="false">
            <a:off x="508004" y="5835650"/>
            <a:ext cx="11176000" cy="12700"/>
          </a:xfrm>
          <a:prstGeom prst="line">
            <a:avLst/>
          </a:prstGeom>
          <a:solidFill>
            <a:srgbClr val="DEE0E3">
              <a:alpha val="100000"/>
            </a:srgbClr>
          </a:solidFill>
          <a:ln w="12700" cmpd="sng" cap="flat">
            <a:solidFill>
              <a:srgbClr val="0B3D91">
                <a:alpha val="15000"/>
              </a:srgbClr>
            </a:solidFill>
            <a:prstDash val="dash"/>
            <a:round/>
            <a:headEnd type="none" w="med" len="med"/>
            <a:tailEnd type="none" w="med" len="med"/>
          </a:ln>
        </p:spPr>
      </p:cxnSp>
      <p:sp>
        <p:nvSpPr>
          <p:cNvPr name="AutoShape 53" id="53"/>
          <p:cNvSpPr/>
          <p:nvPr/>
        </p:nvSpPr>
        <p:spPr>
          <a:xfrm rot="0" flipH="false" flipV="false">
            <a:off x="508000" y="5969000"/>
            <a:ext cx="3556000" cy="762000"/>
          </a:xfrm>
          <a:prstGeom prst="roundRect">
            <a:avLst>
              <a:gd name="adj" fmla="val 0"/>
            </a:avLst>
          </a:prstGeom>
          <a:solidFill>
            <a:srgbClr val="0B3D91">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4" id="54"/>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6070600"/>
            <a:ext cx="304800" cy="304800"/>
          </a:xfrm>
          <a:prstGeom prst="rect">
            <a:avLst/>
          </a:prstGeom>
        </p:spPr>
      </p:pic>
      <p:sp>
        <p:nvSpPr>
          <p:cNvPr name="AutoShape 55" id="55"/>
          <p:cNvSpPr/>
          <p:nvPr/>
        </p:nvSpPr>
        <p:spPr>
          <a:xfrm rot="0" flipH="false" flipV="false">
            <a:off x="1016000" y="5994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配套设施完善：</a:t>
            </a:r>
            <a:r>
              <a:rPr lang="en-US" b="false" i="false" strike="noStrike" u="none" sz="1200">
                <a:solidFill>
                  <a:srgbClr val="555555"/>
                </a:solidFill>
                <a:latin typeface="Noto Sans SC"/>
                <a:ea typeface="Noto Sans SC"/>
                <a:cs typeface="Noto Sans SC"/>
                <a:sym typeface="Noto Sans SC"/>
              </a:rPr>
              <a:t>三层社群架构+线下体验店+系统化内容库，形成完整闭环。</a:t>
            </a:r>
            <a:endParaRPr lang="en-US" sz="1100"/>
          </a:p>
        </p:txBody>
      </p:sp>
      <p:sp>
        <p:nvSpPr>
          <p:cNvPr name="AutoShape 56" id="56"/>
          <p:cNvSpPr/>
          <p:nvPr/>
        </p:nvSpPr>
        <p:spPr>
          <a:xfrm rot="0" flipH="false" flipV="false">
            <a:off x="4318000" y="5969000"/>
            <a:ext cx="3556000" cy="762000"/>
          </a:xfrm>
          <a:prstGeom prst="roundRect">
            <a:avLst>
              <a:gd name="adj" fmla="val 0"/>
            </a:avLst>
          </a:prstGeom>
          <a:solidFill>
            <a:srgbClr val="0B3D91">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7" id="5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45000" y="6070600"/>
            <a:ext cx="304800" cy="304800"/>
          </a:xfrm>
          <a:prstGeom prst="rect">
            <a:avLst/>
          </a:prstGeom>
        </p:spPr>
      </p:pic>
      <p:sp>
        <p:nvSpPr>
          <p:cNvPr name="AutoShape 58" id="58"/>
          <p:cNvSpPr/>
          <p:nvPr/>
        </p:nvSpPr>
        <p:spPr>
          <a:xfrm rot="0" flipH="false" flipV="false">
            <a:off x="4826000" y="5994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增长模式跃迁：</a:t>
            </a:r>
            <a:r>
              <a:rPr lang="en-US" b="false" i="false" strike="noStrike" u="none" sz="1200">
                <a:solidFill>
                  <a:srgbClr val="555555"/>
                </a:solidFill>
                <a:latin typeface="Noto Sans SC"/>
                <a:ea typeface="Noto Sans SC"/>
                <a:cs typeface="Noto Sans SC"/>
                <a:sym typeface="Noto Sans SC"/>
              </a:rPr>
              <a:t>从线性推荐升级为系统驱动的矩阵倍增，指数级放大团队势能。</a:t>
            </a:r>
            <a:endParaRPr lang="en-US" sz="1100"/>
          </a:p>
        </p:txBody>
      </p:sp>
      <p:sp>
        <p:nvSpPr>
          <p:cNvPr name="AutoShape 59" id="59"/>
          <p:cNvSpPr/>
          <p:nvPr/>
        </p:nvSpPr>
        <p:spPr>
          <a:xfrm rot="0" flipH="false" flipV="false">
            <a:off x="8128000" y="5969000"/>
            <a:ext cx="3556000" cy="762000"/>
          </a:xfrm>
          <a:prstGeom prst="roundRect">
            <a:avLst>
              <a:gd name="adj" fmla="val 0"/>
            </a:avLst>
          </a:prstGeom>
          <a:solidFill>
            <a:srgbClr val="0B3D91">
              <a:alpha val="4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0" id="6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6070600"/>
            <a:ext cx="304800" cy="304800"/>
          </a:xfrm>
          <a:prstGeom prst="rect">
            <a:avLst/>
          </a:prstGeom>
        </p:spPr>
      </p:pic>
      <p:sp>
        <p:nvSpPr>
          <p:cNvPr name="AutoShape 61" id="61"/>
          <p:cNvSpPr/>
          <p:nvPr/>
        </p:nvSpPr>
        <p:spPr>
          <a:xfrm rot="0" flipH="false" flipV="false">
            <a:off x="8636000" y="5994400"/>
            <a:ext cx="2921000" cy="7112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系统赋能个体：</a:t>
            </a:r>
            <a:r>
              <a:rPr lang="en-US" b="false" i="false" strike="noStrike" u="none" sz="1200">
                <a:solidFill>
                  <a:srgbClr val="555555"/>
                </a:solidFill>
                <a:latin typeface="Noto Sans SC"/>
                <a:ea typeface="Noto Sans SC"/>
                <a:cs typeface="Noto Sans SC"/>
                <a:sym typeface="Noto Sans SC"/>
              </a:rPr>
              <a:t>降低对个人能力的依赖，让普通人也能通过系统化运作获得成功。</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gradFill rotWithShape="true">
          <a:gsLst>
            <a:gs pos="0">
              <a:srgbClr val="081C37">
                <a:alpha val="100000"/>
              </a:srgbClr>
            </a:gs>
            <a:gs pos="100000">
              <a:srgbClr val="122D5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508000" y="2032000"/>
            <a:ext cx="5080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0">
                <a:solidFill>
                  <a:srgbClr val="FFFFFF">
                    <a:alpha val="5098"/>
                  </a:srgbClr>
                </a:solidFill>
                <a:latin typeface="Noto Sans SC"/>
                <a:ea typeface="Noto Sans SC"/>
                <a:cs typeface="Noto Sans SC"/>
                <a:sym typeface="Noto Sans SC"/>
              </a:rPr>
              <a:t>03</a:t>
            </a:r>
            <a:endParaRPr lang="en-US" sz="1100"/>
          </a:p>
        </p:txBody>
      </p:sp>
      <p:sp>
        <p:nvSpPr>
          <p:cNvPr name="AutoShape 3" id="3"/>
          <p:cNvSpPr/>
          <p:nvPr/>
        </p:nvSpPr>
        <p:spPr>
          <a:xfrm rot="0" flipH="false" flipV="false">
            <a:off x="9525000" y="-1270000"/>
            <a:ext cx="3810000" cy="3810000"/>
          </a:xfrm>
          <a:prstGeom prst="ellipse">
            <a:avLst/>
          </a:prstGeom>
          <a:solidFill>
            <a:srgbClr val="38BDF8">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0414000" y="4826000"/>
            <a:ext cx="2540000" cy="2540000"/>
          </a:xfrm>
          <a:prstGeom prst="ellipse">
            <a:avLst/>
          </a:prstGeom>
          <a:solidFill>
            <a:srgbClr val="0EA5E9">
              <a:alpha val="5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5" id="5"/>
          <p:cNvCxnSpPr/>
          <p:nvPr/>
        </p:nvCxnSpPr>
        <p:spPr>
          <a:xfrm rot="5385676" flipH="false" flipV="false">
            <a:off x="4064000" y="3549663"/>
            <a:ext cx="3048000" cy="12700"/>
          </a:xfrm>
          <a:prstGeom prst="straightConnector1">
            <a:avLst/>
          </a:prstGeom>
          <a:solidFill>
            <a:srgbClr val="DEE0E3">
              <a:alpha val="100000"/>
            </a:srgbClr>
          </a:solidFill>
          <a:ln w="12700" cmpd="sng" cap="flat">
            <a:solidFill>
              <a:srgbClr val="38BDF8">
                <a:alpha val="40000"/>
              </a:srgbClr>
            </a:solidFill>
            <a:prstDash val="solid"/>
            <a:round/>
            <a:headEnd type="none" w="med" len="med"/>
            <a:tailEnd type="none" w="med" len="med"/>
          </a:ln>
        </p:spPr>
      </p:cxnSp>
      <p:sp>
        <p:nvSpPr>
          <p:cNvPr name="AutoShape 6" id="6"/>
          <p:cNvSpPr/>
          <p:nvPr/>
        </p:nvSpPr>
        <p:spPr>
          <a:xfrm rot="0" flipH="false" flipV="false">
            <a:off x="6096000" y="2159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spc="400">
                <a:solidFill>
                  <a:srgbClr val="38BDF8"/>
                </a:solidFill>
                <a:latin typeface="Heebo"/>
                <a:ea typeface="Heebo"/>
                <a:cs typeface="Heebo"/>
                <a:sym typeface="Heebo"/>
              </a:rPr>
              <a:t>CHAPTER 03</a:t>
            </a:r>
            <a:endParaRPr lang="en-US" sz="1100"/>
          </a:p>
        </p:txBody>
      </p:sp>
      <p:sp>
        <p:nvSpPr>
          <p:cNvPr name="AutoShape 7" id="7"/>
          <p:cNvSpPr/>
          <p:nvPr/>
        </p:nvSpPr>
        <p:spPr>
          <a:xfrm rot="0" flipH="false" flipV="false">
            <a:off x="6096000" y="3048000"/>
            <a:ext cx="533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200">
                <a:solidFill>
                  <a:srgbClr val="FFFFFF"/>
                </a:solidFill>
                <a:latin typeface="Noto Sans SC"/>
                <a:ea typeface="Noto Sans SC"/>
                <a:cs typeface="Noto Sans SC"/>
                <a:sym typeface="Noto Sans SC"/>
              </a:rPr>
              <a:t>第三章</a:t>
            </a:r>
            <a:endParaRPr lang="en-US" sz="1100"/>
          </a:p>
        </p:txBody>
      </p:sp>
      <p:sp>
        <p:nvSpPr>
          <p:cNvPr name="AutoShape 8" id="8"/>
          <p:cNvSpPr/>
          <p:nvPr/>
        </p:nvSpPr>
        <p:spPr>
          <a:xfrm rot="0" flipH="false" flipV="false">
            <a:off x="6096000" y="4191000"/>
            <a:ext cx="558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Noto Sans SC"/>
                <a:ea typeface="Noto Sans SC"/>
                <a:cs typeface="Noto Sans SC"/>
                <a:sym typeface="Noto Sans SC"/>
              </a:rPr>
              <a:t>核心运营架构</a:t>
            </a:r>
            <a:endParaRPr lang="en-US" sz="1100"/>
          </a:p>
        </p:txBody>
      </p:sp>
      <p:sp>
        <p:nvSpPr>
          <p:cNvPr name="AutoShape 9" id="9"/>
          <p:cNvSpPr/>
          <p:nvPr/>
        </p:nvSpPr>
        <p:spPr>
          <a:xfrm rot="0" flipH="false" flipV="false">
            <a:off x="6096000" y="5461000"/>
            <a:ext cx="546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70196"/>
                  </a:srgbClr>
                </a:solidFill>
                <a:latin typeface="Noto Sans SC"/>
                <a:ea typeface="Noto Sans SC"/>
                <a:cs typeface="Noto Sans SC"/>
                <a:sym typeface="Noto Sans SC"/>
              </a:rPr>
              <a:t>以系统化思维构建高效、稳健、可扩展的业务运转体系，打通流程节点，优化资源配置，夯实组织可持续发展的核心根基。</a:t>
            </a:r>
            <a:endParaRPr lang="en-US" sz="1100"/>
          </a:p>
        </p:txBody>
      </p:sp>
      <p:sp>
        <p:nvSpPr>
          <p:cNvPr name="AutoShape 10" id="10"/>
          <p:cNvSpPr/>
          <p:nvPr/>
        </p:nvSpPr>
        <p:spPr>
          <a:xfrm rot="0" flipH="false" flipV="false">
            <a:off x="762000" y="5715000"/>
            <a:ext cx="762000" cy="762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651000" y="5715000"/>
            <a:ext cx="381000" cy="76200"/>
          </a:xfrm>
          <a:prstGeom prst="roundRect">
            <a:avLst>
              <a:gd name="adj" fmla="val 0"/>
            </a:avLst>
          </a:prstGeom>
          <a:solidFill>
            <a:srgbClr val="38BDF8">
              <a:alpha val="5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3.1 获客端：全域IP垂直矩阵</a:t>
            </a:r>
            <a:endParaRPr lang="en-US" sz="1100"/>
          </a:p>
        </p:txBody>
      </p:sp>
      <p:cxnSp>
        <p:nvCxnSpPr>
          <p:cNvPr name="Connector 3" id="3"/>
          <p:cNvCxnSpPr/>
          <p:nvPr/>
        </p:nvCxnSpPr>
        <p:spPr>
          <a:xfrm rot="-3906" flipH="false" flipV="false">
            <a:off x="508004" y="12001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508000" y="1651000"/>
            <a:ext cx="5207000" cy="20955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651000"/>
            <a:ext cx="76200" cy="20955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778000"/>
            <a:ext cx="457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40AF"/>
                </a:solidFill>
                <a:latin typeface="Noto Sans SC"/>
                <a:ea typeface="Noto Sans SC"/>
                <a:cs typeface="Noto Sans SC"/>
                <a:sym typeface="Noto Sans SC"/>
              </a:rPr>
              <a:t>01 / 战略功能重构：从传统到全域</a:t>
            </a:r>
            <a:endParaRPr lang="en-US" sz="1100"/>
          </a:p>
        </p:txBody>
      </p:sp>
      <p:cxnSp>
        <p:nvCxnSpPr>
          <p:cNvPr name="Connector 7" id="7"/>
          <p:cNvCxnSpPr/>
          <p:nvPr/>
        </p:nvCxnSpPr>
        <p:spPr>
          <a:xfrm rot="-9291" flipH="false" flipV="false">
            <a:off x="762009" y="2279650"/>
            <a:ext cx="4699000" cy="12700"/>
          </a:xfrm>
          <a:prstGeom prst="straightConnector1">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8" id="8"/>
          <p:cNvSpPr/>
          <p:nvPr/>
        </p:nvSpPr>
        <p:spPr>
          <a:xfrm rot="0" flipH="false" flipV="false">
            <a:off x="762000" y="2413000"/>
            <a:ext cx="4699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彻底替代传统“名单邀约+一对一分享”的低效模式。通过公域内容的持续输出，实现获客流程的规模化裂变；同时利用内容价值进行自动化的信任预筛选，让精准用户主动向IP聚拢，大幅降低沟通成本。</a:t>
            </a:r>
            <a:endParaRPr lang="en-US" sz="1100"/>
          </a:p>
        </p:txBody>
      </p:sp>
      <p:sp>
        <p:nvSpPr>
          <p:cNvPr name="AutoShape 9" id="9"/>
          <p:cNvSpPr/>
          <p:nvPr/>
        </p:nvSpPr>
        <p:spPr>
          <a:xfrm rot="0" flipH="false" flipV="false">
            <a:off x="508000" y="4191000"/>
            <a:ext cx="5207000" cy="2095500"/>
          </a:xfrm>
          <a:prstGeom prst="roundRect">
            <a:avLst>
              <a:gd name="adj" fmla="val 0"/>
            </a:avLst>
          </a:prstGeom>
          <a:solidFill>
            <a:srgbClr val="F59E0B">
              <a:alpha val="8000"/>
            </a:srgbClr>
          </a:solidFill>
          <a:ln cmpd="sng" cap="flat">
            <a:solidFill>
              <a:srgbClr val="DC8A00">
                <a:alpha val="8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508000" y="4191000"/>
            <a:ext cx="76200" cy="20955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318000"/>
            <a:ext cx="457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B45309"/>
                </a:solidFill>
                <a:latin typeface="Noto Sans SC"/>
                <a:ea typeface="Noto Sans SC"/>
                <a:cs typeface="Noto Sans SC"/>
                <a:sym typeface="Noto Sans SC"/>
              </a:rPr>
              <a:t>02 / 底层逻辑：无界化的信任连接</a:t>
            </a:r>
            <a:endParaRPr lang="en-US" sz="1100"/>
          </a:p>
        </p:txBody>
      </p:sp>
      <p:cxnSp>
        <p:nvCxnSpPr>
          <p:cNvPr name="Connector 12" id="12"/>
          <p:cNvCxnSpPr/>
          <p:nvPr/>
        </p:nvCxnSpPr>
        <p:spPr>
          <a:xfrm rot="-9291" flipH="false" flipV="false">
            <a:off x="762009" y="4819650"/>
            <a:ext cx="4699000" cy="12700"/>
          </a:xfrm>
          <a:prstGeom prst="straightConnector1">
            <a:avLst/>
          </a:prstGeom>
          <a:solidFill>
            <a:srgbClr val="DEE0E3">
              <a:alpha val="100000"/>
            </a:srgbClr>
          </a:solidFill>
          <a:ln w="12700" cmpd="sng" cap="flat">
            <a:solidFill>
              <a:srgbClr val="F59E0B">
                <a:alpha val="30000"/>
              </a:srgbClr>
            </a:solidFill>
            <a:prstDash val="dash"/>
            <a:round/>
            <a:headEnd type="none" w="med" len="med"/>
            <a:tailEnd type="none" w="med" len="med"/>
          </a:ln>
        </p:spPr>
      </p:cxnSp>
      <p:sp>
        <p:nvSpPr>
          <p:cNvPr name="AutoShape 13" id="13"/>
          <p:cNvSpPr/>
          <p:nvPr/>
        </p:nvSpPr>
        <p:spPr>
          <a:xfrm rot="0" flipH="false" flipV="false">
            <a:off x="762000" y="4953000"/>
            <a:ext cx="4699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依托互联网打破地域与时间限制，实现获客“三无界”：不依赖地理位置、不依赖既有社交圈、不依赖品牌广告投放。构建“内容即渠道，信任即入口”的新型商业关系，让专业价值成为流量的核心驱动力。</a:t>
            </a:r>
            <a:endParaRPr lang="en-US" sz="1100"/>
          </a:p>
        </p:txBody>
      </p:sp>
      <p:cxnSp>
        <p:nvCxnSpPr>
          <p:cNvPr name="Connector 14" id="14"/>
          <p:cNvCxnSpPr/>
          <p:nvPr/>
        </p:nvCxnSpPr>
        <p:spPr>
          <a:xfrm rot="5390581" flipH="false" flipV="false">
            <a:off x="3778250" y="3962409"/>
            <a:ext cx="46355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5" id="15"/>
          <p:cNvSpPr/>
          <p:nvPr/>
        </p:nvSpPr>
        <p:spPr>
          <a:xfrm rot="0" flipH="false" flipV="false">
            <a:off x="6350000" y="1651000"/>
            <a:ext cx="26035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540500" y="1841500"/>
            <a:ext cx="406400" cy="406400"/>
          </a:xfrm>
          <a:prstGeom prst="rect">
            <a:avLst/>
          </a:prstGeom>
        </p:spPr>
      </p:pic>
      <p:sp>
        <p:nvSpPr>
          <p:cNvPr name="AutoShape 17" id="17"/>
          <p:cNvSpPr/>
          <p:nvPr/>
        </p:nvSpPr>
        <p:spPr>
          <a:xfrm rot="0" flipH="false" flipV="false">
            <a:off x="7112000" y="1803400"/>
            <a:ext cx="1714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科学营养学</a:t>
            </a:r>
            <a:endParaRPr lang="en-US" sz="1100"/>
          </a:p>
        </p:txBody>
      </p:sp>
      <p:cxnSp>
        <p:nvCxnSpPr>
          <p:cNvPr name="Connector 18" id="18"/>
          <p:cNvCxnSpPr/>
          <p:nvPr/>
        </p:nvCxnSpPr>
        <p:spPr>
          <a:xfrm rot="-19644" flipH="false" flipV="false">
            <a:off x="6540518" y="2406650"/>
            <a:ext cx="22225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sp>
        <p:nvSpPr>
          <p:cNvPr name="AutoShape 19" id="19"/>
          <p:cNvSpPr/>
          <p:nvPr/>
        </p:nvSpPr>
        <p:spPr>
          <a:xfrm rot="0" flipH="false" flipV="false">
            <a:off x="6540500" y="2603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以注册营养师身份切入，分享膳食搭配、健康管理知识。全程聚焦专业科普，建立用户对健康生活方式的信赖。</a:t>
            </a:r>
            <a:endParaRPr lang="en-US" sz="1100"/>
          </a:p>
        </p:txBody>
      </p:sp>
      <p:sp>
        <p:nvSpPr>
          <p:cNvPr name="AutoShape 20" id="20"/>
          <p:cNvSpPr/>
          <p:nvPr/>
        </p:nvSpPr>
        <p:spPr>
          <a:xfrm rot="0" flipH="false" flipV="false">
            <a:off x="9080500" y="1651000"/>
            <a:ext cx="26035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271000" y="1841500"/>
            <a:ext cx="406400" cy="406400"/>
          </a:xfrm>
          <a:prstGeom prst="rect">
            <a:avLst/>
          </a:prstGeom>
        </p:spPr>
      </p:pic>
      <p:sp>
        <p:nvSpPr>
          <p:cNvPr name="AutoShape 22" id="22"/>
          <p:cNvSpPr/>
          <p:nvPr/>
        </p:nvSpPr>
        <p:spPr>
          <a:xfrm rot="0" flipH="false" flipV="false">
            <a:off x="9842500" y="1803400"/>
            <a:ext cx="1714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精油芳疗师</a:t>
            </a:r>
            <a:endParaRPr lang="en-US" sz="1100"/>
          </a:p>
        </p:txBody>
      </p:sp>
      <p:cxnSp>
        <p:nvCxnSpPr>
          <p:cNvPr name="Connector 23" id="23"/>
          <p:cNvCxnSpPr/>
          <p:nvPr/>
        </p:nvCxnSpPr>
        <p:spPr>
          <a:xfrm rot="-19644" flipH="false" flipV="false">
            <a:off x="9271018" y="2406650"/>
            <a:ext cx="2222500" cy="12700"/>
          </a:xfrm>
          <a:prstGeom prst="straightConnector1">
            <a:avLst/>
          </a:prstGeom>
          <a:solidFill>
            <a:srgbClr val="DEE0E3">
              <a:alpha val="100000"/>
            </a:srgbClr>
          </a:solidFill>
          <a:ln w="12700" cmpd="sng" cap="flat">
            <a:solidFill>
              <a:srgbClr val="EC4899">
                <a:alpha val="20000"/>
              </a:srgbClr>
            </a:solidFill>
            <a:prstDash val="solid"/>
            <a:round/>
            <a:headEnd type="none" w="med" len="med"/>
            <a:tailEnd type="none" w="med" len="med"/>
          </a:ln>
        </p:spPr>
      </p:cxnSp>
      <p:sp>
        <p:nvSpPr>
          <p:cNvPr name="AutoShape 24" id="24"/>
          <p:cNvSpPr/>
          <p:nvPr/>
        </p:nvSpPr>
        <p:spPr>
          <a:xfrm rot="0" flipH="false" flipV="false">
            <a:off x="9271000" y="2603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深耕精油配方与身心疗愈领域，输出情绪管理、生活美学内容。以“生活艺术家”形象建立高粘性粉丝社群。</a:t>
            </a:r>
            <a:endParaRPr lang="en-US" sz="1100"/>
          </a:p>
        </p:txBody>
      </p:sp>
      <p:sp>
        <p:nvSpPr>
          <p:cNvPr name="AutoShape 25" id="25"/>
          <p:cNvSpPr/>
          <p:nvPr/>
        </p:nvSpPr>
        <p:spPr>
          <a:xfrm rot="0" flipH="false" flipV="false">
            <a:off x="6350000" y="3937000"/>
            <a:ext cx="26035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4127500"/>
            <a:ext cx="406400" cy="406400"/>
          </a:xfrm>
          <a:prstGeom prst="rect">
            <a:avLst/>
          </a:prstGeom>
        </p:spPr>
      </p:pic>
      <p:sp>
        <p:nvSpPr>
          <p:cNvPr name="AutoShape 27" id="27"/>
          <p:cNvSpPr/>
          <p:nvPr/>
        </p:nvSpPr>
        <p:spPr>
          <a:xfrm rot="0" flipH="false" flipV="false">
            <a:off x="7112000" y="4089400"/>
            <a:ext cx="1714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美妆护肤专家</a:t>
            </a:r>
            <a:endParaRPr lang="en-US" sz="1100"/>
          </a:p>
        </p:txBody>
      </p:sp>
      <p:cxnSp>
        <p:nvCxnSpPr>
          <p:cNvPr name="Connector 28" id="28"/>
          <p:cNvCxnSpPr/>
          <p:nvPr/>
        </p:nvCxnSpPr>
        <p:spPr>
          <a:xfrm rot="-19644" flipH="false" flipV="false">
            <a:off x="6540518" y="4692650"/>
            <a:ext cx="2222500" cy="12700"/>
          </a:xfrm>
          <a:prstGeom prst="straightConnector1">
            <a:avLst/>
          </a:prstGeom>
          <a:solidFill>
            <a:srgbClr val="DEE0E3">
              <a:alpha val="100000"/>
            </a:srgbClr>
          </a:solidFill>
          <a:ln w="12700" cmpd="sng" cap="flat">
            <a:solidFill>
              <a:srgbClr val="F59E0B">
                <a:alpha val="20000"/>
              </a:srgbClr>
            </a:solidFill>
            <a:prstDash val="solid"/>
            <a:round/>
            <a:headEnd type="none" w="med" len="med"/>
            <a:tailEnd type="none" w="med" len="med"/>
          </a:ln>
        </p:spPr>
      </p:cxnSp>
      <p:sp>
        <p:nvSpPr>
          <p:cNvPr name="AutoShape 29" id="29"/>
          <p:cNvSpPr/>
          <p:nvPr/>
        </p:nvSpPr>
        <p:spPr>
          <a:xfrm rot="0" flipH="false" flipV="false">
            <a:off x="6540500" y="4889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专注成分党与肤质护理知识分享，解析护肤误区，提供个性化方案。打造专业、可信赖的护肤顾问IP形象。</a:t>
            </a:r>
            <a:endParaRPr lang="en-US" sz="1100"/>
          </a:p>
        </p:txBody>
      </p:sp>
      <p:sp>
        <p:nvSpPr>
          <p:cNvPr name="AutoShape 30" id="30"/>
          <p:cNvSpPr/>
          <p:nvPr/>
        </p:nvSpPr>
        <p:spPr>
          <a:xfrm rot="0" flipH="false" flipV="false">
            <a:off x="9080500" y="3937000"/>
            <a:ext cx="26035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71000" y="4127500"/>
            <a:ext cx="406400" cy="406400"/>
          </a:xfrm>
          <a:prstGeom prst="rect">
            <a:avLst/>
          </a:prstGeom>
        </p:spPr>
      </p:pic>
      <p:sp>
        <p:nvSpPr>
          <p:cNvPr name="AutoShape 32" id="32"/>
          <p:cNvSpPr/>
          <p:nvPr/>
        </p:nvSpPr>
        <p:spPr>
          <a:xfrm rot="0" flipH="false" flipV="false">
            <a:off x="9842500" y="4089400"/>
            <a:ext cx="1714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居家清洁管家</a:t>
            </a:r>
            <a:endParaRPr lang="en-US" sz="1100"/>
          </a:p>
        </p:txBody>
      </p:sp>
      <p:cxnSp>
        <p:nvCxnSpPr>
          <p:cNvPr name="Connector 33" id="33"/>
          <p:cNvCxnSpPr/>
          <p:nvPr/>
        </p:nvCxnSpPr>
        <p:spPr>
          <a:xfrm rot="-19644" flipH="false" flipV="false">
            <a:off x="9271018" y="4692650"/>
            <a:ext cx="2222500" cy="12700"/>
          </a:xfrm>
          <a:prstGeom prst="straightConnector1">
            <a:avLst/>
          </a:prstGeom>
          <a:solidFill>
            <a:srgbClr val="DEE0E3">
              <a:alpha val="100000"/>
            </a:srgbClr>
          </a:solidFill>
          <a:ln w="12700" cmpd="sng" cap="flat">
            <a:solidFill>
              <a:srgbClr val="06B6D4">
                <a:alpha val="20000"/>
              </a:srgbClr>
            </a:solidFill>
            <a:prstDash val="solid"/>
            <a:round/>
            <a:headEnd type="none" w="med" len="med"/>
            <a:tailEnd type="none" w="med" len="med"/>
          </a:ln>
        </p:spPr>
      </p:cxnSp>
      <p:sp>
        <p:nvSpPr>
          <p:cNvPr name="AutoShape 34" id="34"/>
          <p:cNvSpPr/>
          <p:nvPr/>
        </p:nvSpPr>
        <p:spPr>
          <a:xfrm rot="0" flipH="false" flipV="false">
            <a:off x="9271000" y="4889500"/>
            <a:ext cx="2222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聚焦家庭卫生、收纳整理与环保清洁。分享高效清洁技巧与无毒生活理念，建立“美好生活管家”的信任感。</a:t>
            </a:r>
            <a:endParaRPr lang="en-US" sz="1100"/>
          </a:p>
        </p:txBody>
      </p:sp>
      <p:sp>
        <p:nvSpPr>
          <p:cNvPr name="AutoShape 35" id="35"/>
          <p:cNvSpPr/>
          <p:nvPr/>
        </p:nvSpPr>
        <p:spPr>
          <a:xfrm rot="0" flipH="false" flipV="false">
            <a:off x="6350000" y="6096000"/>
            <a:ext cx="5334000" cy="508000"/>
          </a:xfrm>
          <a:prstGeom prst="roundRect">
            <a:avLst>
              <a:gd name="adj" fmla="val 0"/>
            </a:avLst>
          </a:prstGeom>
          <a:solidFill>
            <a:srgbClr val="4B5563">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477000" y="6197600"/>
            <a:ext cx="254000" cy="254000"/>
          </a:xfrm>
          <a:prstGeom prst="rect">
            <a:avLst/>
          </a:prstGeom>
        </p:spPr>
      </p:pic>
      <p:sp>
        <p:nvSpPr>
          <p:cNvPr name="AutoShape 37" id="37"/>
          <p:cNvSpPr/>
          <p:nvPr/>
        </p:nvSpPr>
        <p:spPr>
          <a:xfrm rot="0" flipH="false" flipV="false">
            <a:off x="6858000" y="61722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1F2937"/>
                </a:solidFill>
                <a:latin typeface="Noto Sans SC"/>
                <a:ea typeface="Noto Sans SC"/>
                <a:cs typeface="Noto Sans SC"/>
                <a:sym typeface="Noto Sans SC"/>
              </a:rPr>
              <a:t>核心操盘赛道：</a:t>
            </a:r>
            <a:r>
              <a:rPr lang="en-US" b="true" i="false" strike="noStrike" u="none" sz="1300">
                <a:solidFill>
                  <a:srgbClr val="1E40AF"/>
                </a:solidFill>
                <a:latin typeface="Noto Sans SC"/>
                <a:ea typeface="Noto Sans SC"/>
                <a:cs typeface="Noto Sans SC"/>
                <a:sym typeface="Noto Sans SC"/>
              </a:rPr>
              <a:t>商业知识IP（思维赋能）——</a:t>
            </a:r>
            <a:r>
              <a:rPr lang="en-US" b="false" i="false" strike="noStrike" u="none" sz="1300">
                <a:solidFill>
                  <a:srgbClr val="4B5563"/>
                </a:solidFill>
                <a:latin typeface="Noto Sans SC"/>
                <a:ea typeface="Noto Sans SC"/>
                <a:cs typeface="Noto Sans SC"/>
                <a:sym typeface="Noto Sans SC"/>
              </a:rPr>
              <a:t>以创业者视角输出认知，实现高净值用户的顶层引流。</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329"/>
                </a:solidFill>
                <a:latin typeface="Noto Sans SC"/>
                <a:ea typeface="Noto Sans SC"/>
                <a:cs typeface="Noto Sans SC"/>
                <a:sym typeface="Noto Sans SC"/>
              </a:rPr>
              <a:t>3.2 转化与留存端：三层社群递进体系</a:t>
            </a:r>
            <a:endParaRPr lang="en-US" sz="1100"/>
          </a:p>
        </p:txBody>
      </p:sp>
      <p:sp>
        <p:nvSpPr>
          <p:cNvPr name="AutoShape 3" id="3"/>
          <p:cNvSpPr/>
          <p:nvPr/>
        </p:nvSpPr>
        <p:spPr>
          <a:xfrm rot="0" flipH="false" flipV="false">
            <a:off x="508000" y="1016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46A73"/>
                </a:solidFill>
                <a:latin typeface="Noto Sans SC"/>
                <a:ea typeface="Noto Sans SC"/>
                <a:cs typeface="Noto Sans SC"/>
                <a:sym typeface="Noto Sans SC"/>
              </a:rPr>
              <a:t>MelBeacon系统的核心引擎，构建美乐家传统体系中缺失的关键转化与留存闭环</a:t>
            </a:r>
            <a:endParaRPr lang="en-US" sz="1100"/>
          </a:p>
        </p:txBody>
      </p:sp>
      <p:cxnSp>
        <p:nvCxnSpPr>
          <p:cNvPr name="Connector 4" id="4"/>
          <p:cNvCxnSpPr/>
          <p:nvPr/>
        </p:nvCxnSpPr>
        <p:spPr>
          <a:xfrm rot="-3906" flipH="false" flipV="false">
            <a:off x="508004" y="1644650"/>
            <a:ext cx="11176000" cy="12700"/>
          </a:xfrm>
          <a:prstGeom prst="straightConnector1">
            <a:avLst/>
          </a:prstGeom>
          <a:solidFill>
            <a:srgbClr val="DEE0E3">
              <a:alpha val="100000"/>
            </a:srgbClr>
          </a:solidFill>
          <a:ln w="12700" cmpd="sng" cap="flat">
            <a:solidFill>
              <a:srgbClr val="1F2329">
                <a:alpha val="10000"/>
              </a:srgbClr>
            </a:solidFill>
            <a:prstDash val="solid"/>
            <a:round/>
            <a:headEnd type="none" w="med" len="med"/>
            <a:tailEnd type="none" w="med" len="med"/>
          </a:ln>
        </p:spPr>
      </p:cxnSp>
      <p:sp>
        <p:nvSpPr>
          <p:cNvPr name="AutoShape 5" id="5"/>
          <p:cNvSpPr/>
          <p:nvPr/>
        </p:nvSpPr>
        <p:spPr>
          <a:xfrm rot="0" flipH="false" flipV="false">
            <a:off x="508000" y="2032000"/>
            <a:ext cx="3556000" cy="33020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2032000"/>
            <a:ext cx="76200" cy="3302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286000"/>
            <a:ext cx="406400" cy="406400"/>
          </a:xfrm>
          <a:prstGeom prst="rect">
            <a:avLst/>
          </a:prstGeom>
        </p:spPr>
      </p:pic>
      <p:sp>
        <p:nvSpPr>
          <p:cNvPr name="AutoShape 8" id="8"/>
          <p:cNvSpPr/>
          <p:nvPr/>
        </p:nvSpPr>
        <p:spPr>
          <a:xfrm rot="0" flipH="false" flipV="false">
            <a:off x="1270000" y="2260600"/>
            <a:ext cx="2667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第一层：付费知识社群</a:t>
            </a:r>
            <a:endParaRPr lang="en-US" sz="1100"/>
          </a:p>
        </p:txBody>
      </p:sp>
      <p:sp>
        <p:nvSpPr>
          <p:cNvPr name="AutoShape 9" id="9"/>
          <p:cNvSpPr/>
          <p:nvPr/>
        </p:nvSpPr>
        <p:spPr>
          <a:xfrm rot="0" flipH="false" flipV="false">
            <a:off x="762000" y="3048000"/>
            <a:ext cx="1016000" cy="304800"/>
          </a:xfrm>
          <a:prstGeom prst="roundRect">
            <a:avLst>
              <a:gd name="adj" fmla="val 0"/>
            </a:avLst>
          </a:prstGeom>
          <a:solidFill>
            <a:srgbClr val="3B82F6">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3073400"/>
            <a:ext cx="1016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3B82F6"/>
                </a:solidFill>
                <a:latin typeface="Noto Sans SC"/>
                <a:ea typeface="Noto Sans SC"/>
                <a:cs typeface="Noto Sans SC"/>
                <a:sym typeface="Noto Sans SC"/>
              </a:rPr>
              <a:t>周期：1个月</a:t>
            </a:r>
            <a:endParaRPr lang="en-US" sz="1100"/>
          </a:p>
        </p:txBody>
      </p:sp>
      <p:cxnSp>
        <p:nvCxnSpPr>
          <p:cNvPr name="Connector 11" id="11"/>
          <p:cNvCxnSpPr/>
          <p:nvPr/>
        </p:nvCxnSpPr>
        <p:spPr>
          <a:xfrm rot="-14323" flipH="false" flipV="false">
            <a:off x="762013" y="3676650"/>
            <a:ext cx="3048000" cy="12700"/>
          </a:xfrm>
          <a:prstGeom prst="straightConnector1">
            <a:avLst/>
          </a:prstGeom>
          <a:solidFill>
            <a:srgbClr val="DEE0E3">
              <a:alpha val="100000"/>
            </a:srgbClr>
          </a:solidFill>
          <a:ln w="12700" cmpd="sng" cap="flat">
            <a:solidFill>
              <a:srgbClr val="3B82F6">
                <a:alpha val="20000"/>
              </a:srgbClr>
            </a:solidFill>
            <a:prstDash val="dash"/>
            <a:round/>
            <a:headEnd type="none" w="med" len="med"/>
            <a:tailEnd type="none" w="med" len="med"/>
          </a:ln>
        </p:spPr>
      </p:cxnSp>
      <p:sp>
        <p:nvSpPr>
          <p:cNvPr name="AutoShape 12" id="12"/>
          <p:cNvSpPr/>
          <p:nvPr/>
        </p:nvSpPr>
        <p:spPr>
          <a:xfrm rot="0" flipH="false" flipV="false">
            <a:off x="76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0555F"/>
                </a:solidFill>
                <a:latin typeface="Noto Sans SC"/>
                <a:ea typeface="Noto Sans SC"/>
                <a:cs typeface="Noto Sans SC"/>
                <a:sym typeface="Noto Sans SC"/>
              </a:rPr>
              <a:t>以“付费”为筛选门槛，建立初期信任关系，完成品牌认知对齐，过滤低意向用户，为后续留存筑牢基础。</a:t>
            </a:r>
            <a:endParaRPr lang="en-US" sz="1100"/>
          </a:p>
        </p:txBody>
      </p:sp>
      <p:sp>
        <p:nvSpPr>
          <p:cNvPr name="AutoShape 13" id="13"/>
          <p:cNvSpPr/>
          <p:nvPr/>
        </p:nvSpPr>
        <p:spPr>
          <a:xfrm rot="0" flipH="false" flipV="false">
            <a:off x="4318000" y="2032000"/>
            <a:ext cx="3556000" cy="3302000"/>
          </a:xfrm>
          <a:prstGeom prst="roundRect">
            <a:avLst>
              <a:gd name="adj" fmla="val 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318000" y="2032000"/>
            <a:ext cx="76200" cy="33020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2286000"/>
            <a:ext cx="406400" cy="406400"/>
          </a:xfrm>
          <a:prstGeom prst="rect">
            <a:avLst/>
          </a:prstGeom>
        </p:spPr>
      </p:pic>
      <p:sp>
        <p:nvSpPr>
          <p:cNvPr name="AutoShape 16" id="16"/>
          <p:cNvSpPr/>
          <p:nvPr/>
        </p:nvSpPr>
        <p:spPr>
          <a:xfrm rot="0" flipH="false" flipV="false">
            <a:off x="5080000" y="2260600"/>
            <a:ext cx="2667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第二层：美乐家会员社群</a:t>
            </a:r>
            <a:endParaRPr lang="en-US" sz="1100"/>
          </a:p>
        </p:txBody>
      </p:sp>
      <p:sp>
        <p:nvSpPr>
          <p:cNvPr name="AutoShape 17" id="17"/>
          <p:cNvSpPr/>
          <p:nvPr/>
        </p:nvSpPr>
        <p:spPr>
          <a:xfrm rot="0" flipH="false" flipV="false">
            <a:off x="4572000" y="3048000"/>
            <a:ext cx="1016000" cy="304800"/>
          </a:xfrm>
          <a:prstGeom prst="roundRect">
            <a:avLst>
              <a:gd name="adj" fmla="val 0"/>
            </a:avLst>
          </a:prstGeom>
          <a:solidFill>
            <a:srgbClr val="2563EB">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572000" y="3073400"/>
            <a:ext cx="1016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2563EB"/>
                </a:solidFill>
                <a:latin typeface="Noto Sans SC"/>
                <a:ea typeface="Noto Sans SC"/>
                <a:cs typeface="Noto Sans SC"/>
                <a:sym typeface="Noto Sans SC"/>
              </a:rPr>
              <a:t>周期：长期化</a:t>
            </a:r>
            <a:endParaRPr lang="en-US" sz="1100"/>
          </a:p>
        </p:txBody>
      </p:sp>
      <p:cxnSp>
        <p:nvCxnSpPr>
          <p:cNvPr name="Connector 19" id="19"/>
          <p:cNvCxnSpPr/>
          <p:nvPr/>
        </p:nvCxnSpPr>
        <p:spPr>
          <a:xfrm rot="-14323" flipH="false" flipV="false">
            <a:off x="4572013" y="3676650"/>
            <a:ext cx="3048000" cy="12700"/>
          </a:xfrm>
          <a:prstGeom prst="straightConnector1">
            <a:avLst/>
          </a:prstGeom>
          <a:solidFill>
            <a:srgbClr val="DEE0E3">
              <a:alpha val="100000"/>
            </a:srgbClr>
          </a:solidFill>
          <a:ln w="12700" cmpd="sng" cap="flat">
            <a:solidFill>
              <a:srgbClr val="2563EB">
                <a:alpha val="20000"/>
              </a:srgbClr>
            </a:solidFill>
            <a:prstDash val="dash"/>
            <a:round/>
            <a:headEnd type="none" w="med" len="med"/>
            <a:tailEnd type="none" w="med" len="med"/>
          </a:ln>
        </p:spPr>
      </p:cxnSp>
      <p:sp>
        <p:nvSpPr>
          <p:cNvPr name="AutoShape 20" id="20"/>
          <p:cNvSpPr/>
          <p:nvPr/>
        </p:nvSpPr>
        <p:spPr>
          <a:xfrm rot="0" flipH="false" flipV="false">
            <a:off x="457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0555F"/>
                </a:solidFill>
                <a:latin typeface="Noto Sans SC"/>
                <a:ea typeface="Noto Sans SC"/>
                <a:cs typeface="Noto Sans SC"/>
                <a:sym typeface="Noto Sans SC"/>
              </a:rPr>
              <a:t>聚焦消费习惯的深度养成，通过产品体验与服务跟进建立忠诚度，加固会员留存率，实现从“用户”到“常客”的转化。</a:t>
            </a:r>
            <a:endParaRPr lang="en-US" sz="1100"/>
          </a:p>
        </p:txBody>
      </p:sp>
      <p:sp>
        <p:nvSpPr>
          <p:cNvPr name="AutoShape 21" id="21"/>
          <p:cNvSpPr/>
          <p:nvPr/>
        </p:nvSpPr>
        <p:spPr>
          <a:xfrm rot="0" flipH="false" flipV="false">
            <a:off x="8128000" y="2032000"/>
            <a:ext cx="3556000" cy="3302000"/>
          </a:xfrm>
          <a:prstGeom prst="roundRect">
            <a:avLst>
              <a:gd name="adj" fmla="val 0"/>
            </a:avLst>
          </a:prstGeom>
          <a:solidFill>
            <a:srgbClr val="1E40A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128000" y="2032000"/>
            <a:ext cx="76200" cy="3302000"/>
          </a:xfrm>
          <a:prstGeom prst="roundRect">
            <a:avLst>
              <a:gd name="adj" fmla="val 0"/>
            </a:avLst>
          </a:prstGeom>
          <a:solidFill>
            <a:srgbClr val="1E40A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406400" cy="406400"/>
          </a:xfrm>
          <a:prstGeom prst="rect">
            <a:avLst/>
          </a:prstGeom>
        </p:spPr>
      </p:pic>
      <p:sp>
        <p:nvSpPr>
          <p:cNvPr name="AutoShape 24" id="24"/>
          <p:cNvSpPr/>
          <p:nvPr/>
        </p:nvSpPr>
        <p:spPr>
          <a:xfrm rot="0" flipH="false" flipV="false">
            <a:off x="8890000" y="2260600"/>
            <a:ext cx="2667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第三层：经营者培育社群</a:t>
            </a:r>
            <a:endParaRPr lang="en-US" sz="1100"/>
          </a:p>
        </p:txBody>
      </p:sp>
      <p:sp>
        <p:nvSpPr>
          <p:cNvPr name="AutoShape 25" id="25"/>
          <p:cNvSpPr/>
          <p:nvPr/>
        </p:nvSpPr>
        <p:spPr>
          <a:xfrm rot="0" flipH="false" flipV="false">
            <a:off x="8382000" y="3048000"/>
            <a:ext cx="1016000" cy="304800"/>
          </a:xfrm>
          <a:prstGeom prst="roundRect">
            <a:avLst>
              <a:gd name="adj" fmla="val 0"/>
            </a:avLst>
          </a:prstGeom>
          <a:solidFill>
            <a:srgbClr val="1E40AF">
              <a:alpha val="2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382000" y="3073400"/>
            <a:ext cx="1016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1E40AF"/>
                </a:solidFill>
                <a:latin typeface="Noto Sans SC"/>
                <a:ea typeface="Noto Sans SC"/>
                <a:cs typeface="Noto Sans SC"/>
                <a:sym typeface="Noto Sans SC"/>
              </a:rPr>
              <a:t>周期：进阶式</a:t>
            </a:r>
            <a:endParaRPr lang="en-US" sz="1100"/>
          </a:p>
        </p:txBody>
      </p:sp>
      <p:cxnSp>
        <p:nvCxnSpPr>
          <p:cNvPr name="Connector 27" id="27"/>
          <p:cNvCxnSpPr/>
          <p:nvPr/>
        </p:nvCxnSpPr>
        <p:spPr>
          <a:xfrm rot="-14323" flipH="false" flipV="false">
            <a:off x="8382013" y="3676650"/>
            <a:ext cx="3048000" cy="12700"/>
          </a:xfrm>
          <a:prstGeom prst="straightConnector1">
            <a:avLst/>
          </a:prstGeom>
          <a:solidFill>
            <a:srgbClr val="DEE0E3">
              <a:alpha val="100000"/>
            </a:srgbClr>
          </a:solidFill>
          <a:ln w="12700" cmpd="sng" cap="flat">
            <a:solidFill>
              <a:srgbClr val="1E40AF">
                <a:alpha val="20000"/>
              </a:srgbClr>
            </a:solidFill>
            <a:prstDash val="dash"/>
            <a:round/>
            <a:headEnd type="none" w="med" len="med"/>
            <a:tailEnd type="none" w="med" len="med"/>
          </a:ln>
        </p:spPr>
      </p:cxnSp>
      <p:sp>
        <p:nvSpPr>
          <p:cNvPr name="AutoShape 28" id="28"/>
          <p:cNvSpPr/>
          <p:nvPr/>
        </p:nvSpPr>
        <p:spPr>
          <a:xfrm rot="0" flipH="false" flipV="false">
            <a:off x="8382000" y="3937000"/>
            <a:ext cx="304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0555F"/>
                </a:solidFill>
                <a:latin typeface="Noto Sans SC"/>
                <a:ea typeface="Noto Sans SC"/>
                <a:cs typeface="Noto Sans SC"/>
                <a:sym typeface="Noto Sans SC"/>
              </a:rPr>
              <a:t>针对高潜用户进行身份孵化，培育经营者思维，匹配职能分工，完成从“消费者”到“事业伙伴”的核心跃迁。</a:t>
            </a:r>
            <a:endParaRPr lang="en-US" sz="1100"/>
          </a:p>
        </p:txBody>
      </p:sp>
      <p:sp>
        <p:nvSpPr>
          <p:cNvPr name="AutoShape 29" id="29"/>
          <p:cNvSpPr/>
          <p:nvPr/>
        </p:nvSpPr>
        <p:spPr>
          <a:xfrm rot="0" flipH="false" flipV="false">
            <a:off x="508000" y="5715000"/>
            <a:ext cx="11176000" cy="762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2000" y="5892800"/>
            <a:ext cx="406400" cy="406400"/>
          </a:xfrm>
          <a:prstGeom prst="rect">
            <a:avLst/>
          </a:prstGeom>
        </p:spPr>
      </p:pic>
      <p:sp>
        <p:nvSpPr>
          <p:cNvPr name="AutoShape 31" id="31"/>
          <p:cNvSpPr/>
          <p:nvPr/>
        </p:nvSpPr>
        <p:spPr>
          <a:xfrm rot="0" flipH="false" flipV="false">
            <a:off x="1397000" y="5778500"/>
            <a:ext cx="10033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1F2329"/>
                </a:solidFill>
                <a:latin typeface="Noto Sans SC"/>
                <a:ea typeface="Noto Sans SC"/>
                <a:cs typeface="Noto Sans SC"/>
                <a:sym typeface="Noto Sans SC"/>
              </a:rPr>
              <a:t>战略价值总结：</a:t>
            </a:r>
            <a:r>
              <a:rPr lang="en-US" b="false" i="false" strike="noStrike" u="none" sz="1400">
                <a:solidFill>
                  <a:srgbClr val="50555F"/>
                </a:solidFill>
                <a:latin typeface="Noto Sans SC"/>
                <a:ea typeface="Noto Sans SC"/>
                <a:cs typeface="Noto Sans SC"/>
                <a:sym typeface="Noto Sans SC"/>
              </a:rPr>
              <a:t>通过“筛选-沉淀-孵化”的三层递进逻辑，解决了传统体系中用户流失率高、经营者断层的痛点，构建了可持续的用户生命周期管理闭环。</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3A8A"/>
                </a:solidFill>
                <a:latin typeface="Noto Sans SC"/>
                <a:ea typeface="Noto Sans SC"/>
                <a:cs typeface="Noto Sans SC"/>
                <a:sym typeface="Noto Sans SC"/>
              </a:rPr>
              <a:t>第一层：付费知识社群（1个月）</a:t>
            </a:r>
            <a:endParaRPr lang="en-US" sz="1100"/>
          </a:p>
        </p:txBody>
      </p:sp>
      <p:cxnSp>
        <p:nvCxnSpPr>
          <p:cNvPr name="Connector 3" id="3"/>
          <p:cNvCxnSpPr/>
          <p:nvPr/>
        </p:nvCxnSpPr>
        <p:spPr>
          <a:xfrm rot="-3906" flipH="false" flipV="false">
            <a:off x="508004" y="10731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508000" y="1397000"/>
            <a:ext cx="1727200" cy="15240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587500"/>
            <a:ext cx="406400" cy="406400"/>
          </a:xfrm>
          <a:prstGeom prst="rect">
            <a:avLst/>
          </a:prstGeom>
        </p:spPr>
      </p:pic>
      <p:sp>
        <p:nvSpPr>
          <p:cNvPr name="AutoShape 6" id="6"/>
          <p:cNvSpPr/>
          <p:nvPr/>
        </p:nvSpPr>
        <p:spPr>
          <a:xfrm rot="0" flipH="false" flipV="false">
            <a:off x="635000" y="2159000"/>
            <a:ext cx="14732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信任建立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构建情感基石，消除陌生感，为深度链接铺路。</a:t>
            </a:r>
          </a:p>
        </p:txBody>
      </p:sp>
      <p:sp>
        <p:nvSpPr>
          <p:cNvPr name="AutoShape 7" id="7"/>
          <p:cNvSpPr/>
          <p:nvPr/>
        </p:nvSpPr>
        <p:spPr>
          <a:xfrm rot="0" flipH="false" flipV="false">
            <a:off x="2413000" y="1397000"/>
            <a:ext cx="1727200" cy="15240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2603500" y="1587500"/>
            <a:ext cx="406400" cy="406400"/>
          </a:xfrm>
          <a:prstGeom prst="rect">
            <a:avLst/>
          </a:prstGeom>
        </p:spPr>
      </p:pic>
      <p:sp>
        <p:nvSpPr>
          <p:cNvPr name="AutoShape 9" id="9"/>
          <p:cNvSpPr/>
          <p:nvPr/>
        </p:nvSpPr>
        <p:spPr>
          <a:xfrm rot="0" flipH="false" flipV="false">
            <a:off x="2540000" y="2159000"/>
            <a:ext cx="14732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认知对齐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统一价值观与方法论，形成同频共振的社群共识。</a:t>
            </a:r>
          </a:p>
        </p:txBody>
      </p:sp>
      <p:sp>
        <p:nvSpPr>
          <p:cNvPr name="AutoShape 10" id="10"/>
          <p:cNvSpPr/>
          <p:nvPr/>
        </p:nvSpPr>
        <p:spPr>
          <a:xfrm rot="0" flipH="false" flipV="false">
            <a:off x="4318000" y="1397000"/>
            <a:ext cx="1727200" cy="15240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08500" y="1587500"/>
            <a:ext cx="406400" cy="406400"/>
          </a:xfrm>
          <a:prstGeom prst="rect">
            <a:avLst/>
          </a:prstGeom>
        </p:spPr>
      </p:pic>
      <p:sp>
        <p:nvSpPr>
          <p:cNvPr name="AutoShape 12" id="12"/>
          <p:cNvSpPr/>
          <p:nvPr/>
        </p:nvSpPr>
        <p:spPr>
          <a:xfrm rot="0" flipH="false" flipV="false">
            <a:off x="4445000" y="2159000"/>
            <a:ext cx="14732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付费筛选</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用门槛过滤低意愿用户，大幅降低后续转化成本。</a:t>
            </a:r>
          </a:p>
        </p:txBody>
      </p:sp>
      <p:sp>
        <p:nvSpPr>
          <p:cNvPr name="AutoShape 13" id="13"/>
          <p:cNvSpPr/>
          <p:nvPr/>
        </p:nvSpPr>
        <p:spPr>
          <a:xfrm rot="0" flipH="false" flipV="false">
            <a:off x="508000" y="3429000"/>
            <a:ext cx="5537200" cy="2413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98500" y="3619500"/>
            <a:ext cx="5156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核心运作：知识交付 + 权威塑造 + 价值渗透</a:t>
            </a:r>
            <a:endParaRPr lang="en-US" sz="1100"/>
          </a:p>
        </p:txBody>
      </p:sp>
      <p:cxnSp>
        <p:nvCxnSpPr>
          <p:cNvPr name="Connector 15" id="15"/>
          <p:cNvCxnSpPr/>
          <p:nvPr/>
        </p:nvCxnSpPr>
        <p:spPr>
          <a:xfrm rot="-8572" flipH="false" flipV="false">
            <a:off x="698508" y="4121150"/>
            <a:ext cx="5092700" cy="12700"/>
          </a:xfrm>
          <a:prstGeom prst="straightConnector1">
            <a:avLst/>
          </a:prstGeom>
          <a:solidFill>
            <a:srgbClr val="DEE0E3">
              <a:alpha val="100000"/>
            </a:srgbClr>
          </a:solidFill>
          <a:ln w="12700" cmpd="sng" cap="flat">
            <a:solidFill>
              <a:srgbClr val="2563EB">
                <a:alpha val="30000"/>
              </a:srgbClr>
            </a:solidFill>
            <a:prstDash val="dash"/>
            <a:round/>
            <a:headEnd type="none" w="med" len="med"/>
            <a:tailEnd type="none" w="med" len="med"/>
          </a:ln>
        </p:spPr>
      </p:cxnSp>
      <p:sp>
        <p:nvSpPr>
          <p:cNvPr name="AutoShape 16" id="16"/>
          <p:cNvSpPr/>
          <p:nvPr/>
        </p:nvSpPr>
        <p:spPr>
          <a:xfrm rot="0" flipH="false" flipV="false">
            <a:off x="698500" y="4318000"/>
            <a:ext cx="51562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以垂直领域硬核知识科普打卡为核心内容载体，确保社群活跃度与留存率。通过1个月高密度、系统化的专业交付，建立主讲人及品牌的专业权威，同时沉淀深厚的情感连接。在社群结业节点，通过专场直播自然过渡，无缝衔接美乐家事业机会介绍，完成从“知识消费者”到“事业合伙人”的初步转化路径铺设。</a:t>
            </a:r>
            <a:endParaRPr lang="en-US" sz="1100"/>
          </a:p>
        </p:txBody>
      </p:sp>
      <p:cxnSp>
        <p:nvCxnSpPr>
          <p:cNvPr name="Connector 17" id="17"/>
          <p:cNvCxnSpPr/>
          <p:nvPr/>
        </p:nvCxnSpPr>
        <p:spPr>
          <a:xfrm rot="5390708" flipH="false" flipV="false">
            <a:off x="4000500" y="3740159"/>
            <a:ext cx="4699000" cy="12700"/>
          </a:xfrm>
          <a:prstGeom prst="straightConnector1">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18" id="18"/>
          <p:cNvSpPr/>
          <p:nvPr/>
        </p:nvSpPr>
        <p:spPr>
          <a:xfrm rot="0" flipH="false" flipV="false">
            <a:off x="6604000" y="1397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B45309"/>
                </a:solidFill>
                <a:latin typeface="Noto Sans SC"/>
                <a:ea typeface="Noto Sans SC"/>
                <a:cs typeface="Noto Sans SC"/>
                <a:sym typeface="Noto Sans SC"/>
              </a:rPr>
              <a:t>退费机制：极致善意与精准筛选</a:t>
            </a:r>
            <a:endParaRPr lang="en-US" sz="1100"/>
          </a:p>
        </p:txBody>
      </p:sp>
      <p:sp>
        <p:nvSpPr>
          <p:cNvPr name="AutoShape 19" id="19"/>
          <p:cNvSpPr/>
          <p:nvPr/>
        </p:nvSpPr>
        <p:spPr>
          <a:xfrm rot="0" flipH="false" flipV="false">
            <a:off x="6604000" y="2286000"/>
            <a:ext cx="5029200" cy="1079500"/>
          </a:xfrm>
          <a:prstGeom prst="roundRect">
            <a:avLst>
              <a:gd name="adj" fmla="val 0"/>
            </a:avLst>
          </a:prstGeom>
          <a:solidFill>
            <a:srgbClr val="FFF7ED">
              <a:alpha val="100000"/>
            </a:srgbClr>
          </a:solidFill>
          <a:ln w="12700" cmpd="sng" cap="flat">
            <a:solidFill>
              <a:srgbClr val="FDBA74">
                <a:alpha val="6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794500" y="2476500"/>
            <a:ext cx="457200" cy="457200"/>
          </a:xfrm>
          <a:prstGeom prst="rect">
            <a:avLst/>
          </a:prstGeom>
        </p:spPr>
      </p:pic>
      <p:sp>
        <p:nvSpPr>
          <p:cNvPr name="AutoShape 21" id="21"/>
          <p:cNvSpPr/>
          <p:nvPr/>
        </p:nvSpPr>
        <p:spPr>
          <a:xfrm rot="0" flipH="false" flipV="false">
            <a:off x="7429500" y="2387600"/>
            <a:ext cx="4000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9A3412"/>
                </a:solidFill>
                <a:latin typeface="Noto Sans SC"/>
                <a:ea typeface="Noto Sans SC"/>
                <a:cs typeface="Noto Sans SC"/>
                <a:sym typeface="Noto Sans SC"/>
              </a:rPr>
              <a:t>01. 诚意馈赠：入群即送知识宝典</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2525B"/>
                </a:solidFill>
                <a:latin typeface="Noto Sans SC"/>
                <a:ea typeface="Noto Sans SC"/>
                <a:cs typeface="Noto Sans SC"/>
                <a:sym typeface="Noto Sans SC"/>
              </a:rPr>
              <a:t>无需任何附加条件，入群即获赠独家整理的行业知识手册。此举不仅提升用户获得感，更通过“超值见面礼”快速建立初步信任，消除付费顾虑。</a:t>
            </a:r>
          </a:p>
        </p:txBody>
      </p:sp>
      <p:sp>
        <p:nvSpPr>
          <p:cNvPr name="AutoShape 22" id="22"/>
          <p:cNvSpPr/>
          <p:nvPr/>
        </p:nvSpPr>
        <p:spPr>
          <a:xfrm rot="0" flipH="false" flipV="false">
            <a:off x="6604000" y="3556000"/>
            <a:ext cx="5029200" cy="1079500"/>
          </a:xfrm>
          <a:prstGeom prst="roundRect">
            <a:avLst>
              <a:gd name="adj" fmla="val 0"/>
            </a:avLst>
          </a:prstGeom>
          <a:solidFill>
            <a:srgbClr val="FFF7ED">
              <a:alpha val="100000"/>
            </a:srgbClr>
          </a:solidFill>
          <a:ln w="12700" cmpd="sng" cap="flat">
            <a:solidFill>
              <a:srgbClr val="FDBA74">
                <a:alpha val="6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794500" y="3746500"/>
            <a:ext cx="457200" cy="457200"/>
          </a:xfrm>
          <a:prstGeom prst="rect">
            <a:avLst/>
          </a:prstGeom>
        </p:spPr>
      </p:pic>
      <p:sp>
        <p:nvSpPr>
          <p:cNvPr name="AutoShape 24" id="24"/>
          <p:cNvSpPr/>
          <p:nvPr/>
        </p:nvSpPr>
        <p:spPr>
          <a:xfrm rot="0" flipH="false" flipV="false">
            <a:off x="7429500" y="3657600"/>
            <a:ext cx="4000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9A3412"/>
                </a:solidFill>
                <a:latin typeface="Noto Sans SC"/>
                <a:ea typeface="Noto Sans SC"/>
                <a:cs typeface="Noto Sans SC"/>
                <a:sym typeface="Noto Sans SC"/>
              </a:rPr>
              <a:t>02. 行为筛选：满勤打卡退还半费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2525B"/>
                </a:solidFill>
                <a:latin typeface="Noto Sans SC"/>
                <a:ea typeface="Noto Sans SC"/>
                <a:cs typeface="Noto Sans SC"/>
                <a:sym typeface="Noto Sans SC"/>
              </a:rPr>
              <a:t>设定每日打卡任务，完成全勤打卡的用户可获返50%入群费。这一机制有效筛选出愿意投入时间、对内容高认可的活跃用户，同时倒逼用户深度参与。</a:t>
            </a:r>
          </a:p>
        </p:txBody>
      </p:sp>
      <p:sp>
        <p:nvSpPr>
          <p:cNvPr name="AutoShape 25" id="25"/>
          <p:cNvSpPr/>
          <p:nvPr/>
        </p:nvSpPr>
        <p:spPr>
          <a:xfrm rot="0" flipH="false" flipV="false">
            <a:off x="6604000" y="4826000"/>
            <a:ext cx="5029200" cy="1079500"/>
          </a:xfrm>
          <a:prstGeom prst="roundRect">
            <a:avLst>
              <a:gd name="adj" fmla="val 0"/>
            </a:avLst>
          </a:prstGeom>
          <a:solidFill>
            <a:srgbClr val="FFF7ED">
              <a:alpha val="100000"/>
            </a:srgbClr>
          </a:solidFill>
          <a:ln w="12700" cmpd="sng" cap="flat">
            <a:solidFill>
              <a:srgbClr val="FDBA74">
                <a:alpha val="60000"/>
              </a:srgbClr>
            </a:solid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794500" y="5016500"/>
            <a:ext cx="457200" cy="457200"/>
          </a:xfrm>
          <a:prstGeom prst="rect">
            <a:avLst/>
          </a:prstGeom>
        </p:spPr>
      </p:pic>
      <p:sp>
        <p:nvSpPr>
          <p:cNvPr name="AutoShape 27" id="27"/>
          <p:cNvSpPr/>
          <p:nvPr/>
        </p:nvSpPr>
        <p:spPr>
          <a:xfrm rot="0" flipH="false" flipV="false">
            <a:off x="7429500" y="4927600"/>
            <a:ext cx="4000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9A3412"/>
                </a:solidFill>
                <a:latin typeface="Noto Sans SC"/>
                <a:ea typeface="Noto Sans SC"/>
                <a:cs typeface="Noto Sans SC"/>
                <a:sym typeface="Noto Sans SC"/>
              </a:rPr>
              <a:t>03. 零风险兜底：半年试用全额退还</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2525B"/>
                </a:solidFill>
                <a:latin typeface="Noto Sans SC"/>
                <a:ea typeface="Noto Sans SC"/>
                <a:cs typeface="Noto Sans SC"/>
                <a:sym typeface="Noto Sans SC"/>
              </a:rPr>
              <a:t>提供半年超长试用期，若用户不满意退出，不仅全额退还入群费，更承担其半年内的相关花销。极致的兜底策略既是善意的体现，也是筛选高信任度用户的终极手段。</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3810000" cy="3810000"/>
          </a:xfrm>
          <a:prstGeom prst="ellipse">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8890000" y="3810000"/>
            <a:ext cx="5080000" cy="5080000"/>
          </a:xfrm>
          <a:prstGeom prst="ellipse">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381000" y="381000"/>
            <a:ext cx="1143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第二层：美乐家会员社群（长期）</a:t>
            </a:r>
            <a:endParaRPr lang="en-US" sz="1100"/>
          </a:p>
        </p:txBody>
      </p:sp>
      <p:sp>
        <p:nvSpPr>
          <p:cNvPr name="AutoShape 5" id="5"/>
          <p:cNvSpPr/>
          <p:nvPr/>
        </p:nvSpPr>
        <p:spPr>
          <a:xfrm rot="0" flipH="false" flipV="false">
            <a:off x="444500" y="1397000"/>
            <a:ext cx="11303000" cy="1651000"/>
          </a:xfrm>
          <a:prstGeom prst="roundRect">
            <a:avLst>
              <a:gd name="adj" fmla="val 0"/>
            </a:avLst>
          </a:prstGeom>
          <a:solidFill>
            <a:srgbClr val="10B981">
              <a:alpha val="1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444500" y="1397000"/>
            <a:ext cx="101600" cy="1651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1587500"/>
            <a:ext cx="228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065F46"/>
                </a:solidFill>
                <a:latin typeface="Noto Sans SC"/>
                <a:ea typeface="Noto Sans SC"/>
                <a:cs typeface="Noto Sans SC"/>
                <a:sym typeface="Noto Sans SC"/>
              </a:rPr>
              <a:t>战略定位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065F46">
                    <a:alpha val="70196"/>
                  </a:srgbClr>
                </a:solidFill>
                <a:latin typeface="Noto Sans SC"/>
                <a:ea typeface="Noto Sans SC"/>
                <a:cs typeface="Noto Sans SC"/>
                <a:sym typeface="Noto Sans SC"/>
              </a:rPr>
              <a:t>社群运营的核心基石与方向指引，聚焦长期价值构建。</a:t>
            </a:r>
          </a:p>
        </p:txBody>
      </p:sp>
      <p:cxnSp>
        <p:nvCxnSpPr>
          <p:cNvPr name="Connector 8" id="8"/>
          <p:cNvCxnSpPr/>
          <p:nvPr/>
        </p:nvCxnSpPr>
        <p:spPr>
          <a:xfrm rot="5363814" flipH="false" flipV="false">
            <a:off x="2698750" y="2184433"/>
            <a:ext cx="1206500" cy="12700"/>
          </a:xfrm>
          <a:prstGeom prst="line">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9" id="9"/>
          <p:cNvSpPr/>
          <p:nvPr/>
        </p:nvSpPr>
        <p:spPr>
          <a:xfrm rot="0" flipH="false" flipV="false">
            <a:off x="3556000" y="1587500"/>
            <a:ext cx="241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消费习惯养成</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引导会员建立计划性消费思维，将美乐家产品自然融入日常家庭生活场景，形成稳定的周期性需求。</a:t>
            </a:r>
          </a:p>
        </p:txBody>
      </p:sp>
      <p:cxnSp>
        <p:nvCxnSpPr>
          <p:cNvPr name="Connector 10" id="10"/>
          <p:cNvCxnSpPr/>
          <p:nvPr/>
        </p:nvCxnSpPr>
        <p:spPr>
          <a:xfrm rot="5363814" flipH="false" flipV="false">
            <a:off x="5556250" y="2184433"/>
            <a:ext cx="1206500" cy="12700"/>
          </a:xfrm>
          <a:prstGeom prst="line">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11" id="11"/>
          <p:cNvSpPr/>
          <p:nvPr/>
        </p:nvSpPr>
        <p:spPr>
          <a:xfrm rot="0" flipH="false" flipV="false">
            <a:off x="6350000" y="1587500"/>
            <a:ext cx="241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产品忠诚度建立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通过真实体验分享与价值传递，强化会员对产品品质、安全及环保理念的认同，建立情感与利益的双重绑定。</a:t>
            </a:r>
          </a:p>
        </p:txBody>
      </p:sp>
      <p:cxnSp>
        <p:nvCxnSpPr>
          <p:cNvPr name="Connector 12" id="12"/>
          <p:cNvCxnSpPr/>
          <p:nvPr/>
        </p:nvCxnSpPr>
        <p:spPr>
          <a:xfrm rot="5363814" flipH="false" flipV="false">
            <a:off x="8286750" y="2184433"/>
            <a:ext cx="1206500" cy="12700"/>
          </a:xfrm>
          <a:prstGeom prst="line">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13" id="13"/>
          <p:cNvSpPr/>
          <p:nvPr/>
        </p:nvSpPr>
        <p:spPr>
          <a:xfrm rot="0" flipH="false" flipV="false">
            <a:off x="9017000" y="1587500"/>
            <a:ext cx="2476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会员留存加固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以社群服务为载体，解决使用疑虑，提升服务感知，从根源上降低流失率，保障会员生命周期价值。</a:t>
            </a:r>
          </a:p>
        </p:txBody>
      </p:sp>
      <p:sp>
        <p:nvSpPr>
          <p:cNvPr name="AutoShape 14" id="14"/>
          <p:cNvSpPr/>
          <p:nvPr/>
        </p:nvSpPr>
        <p:spPr>
          <a:xfrm rot="0" flipH="false" flipV="false">
            <a:off x="444500" y="3429000"/>
            <a:ext cx="55245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3619500"/>
            <a:ext cx="406400" cy="406400"/>
          </a:xfrm>
          <a:prstGeom prst="rect">
            <a:avLst/>
          </a:prstGeom>
        </p:spPr>
      </p:pic>
      <p:sp>
        <p:nvSpPr>
          <p:cNvPr name="AutoShape 16" id="16"/>
          <p:cNvSpPr/>
          <p:nvPr/>
        </p:nvSpPr>
        <p:spPr>
          <a:xfrm rot="0" flipH="false" flipV="false">
            <a:off x="1270000" y="3556000"/>
            <a:ext cx="425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驱动一：有用 — 提供科学消费指导</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拒绝盲目推销，专注提供产品知识、使用技巧、用量建议及家庭解决方案，让会员“懂产品、会使用”，实现物尽其用。</a:t>
            </a:r>
          </a:p>
        </p:txBody>
      </p:sp>
      <p:sp>
        <p:nvSpPr>
          <p:cNvPr name="AutoShape 17" id="17"/>
          <p:cNvSpPr/>
          <p:nvPr/>
        </p:nvSpPr>
        <p:spPr>
          <a:xfrm rot="0" flipH="false" flipV="false">
            <a:off x="6223000" y="3429000"/>
            <a:ext cx="55245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3619500"/>
            <a:ext cx="406400" cy="406400"/>
          </a:xfrm>
          <a:prstGeom prst="rect">
            <a:avLst/>
          </a:prstGeom>
        </p:spPr>
      </p:pic>
      <p:sp>
        <p:nvSpPr>
          <p:cNvPr name="AutoShape 19" id="19"/>
          <p:cNvSpPr/>
          <p:nvPr/>
        </p:nvSpPr>
        <p:spPr>
          <a:xfrm rot="0" flipH="false" flipV="false">
            <a:off x="7048500" y="3556000"/>
            <a:ext cx="425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驱动二：有趣 — 打造活跃社群氛围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定期举办话题讨论、晒单分享、知识问答等轻互动活动，打破纯广告的枯燥感，增加社群粘性与参与感，让社群“活”起来。</a:t>
            </a:r>
          </a:p>
        </p:txBody>
      </p:sp>
      <p:sp>
        <p:nvSpPr>
          <p:cNvPr name="AutoShape 20" id="20"/>
          <p:cNvSpPr/>
          <p:nvPr/>
        </p:nvSpPr>
        <p:spPr>
          <a:xfrm rot="0" flipH="false" flipV="false">
            <a:off x="444500" y="5080000"/>
            <a:ext cx="55245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 y="5270500"/>
            <a:ext cx="406400" cy="406400"/>
          </a:xfrm>
          <a:prstGeom prst="rect">
            <a:avLst/>
          </a:prstGeom>
        </p:spPr>
      </p:pic>
      <p:sp>
        <p:nvSpPr>
          <p:cNvPr name="AutoShape 22" id="22"/>
          <p:cNvSpPr/>
          <p:nvPr/>
        </p:nvSpPr>
        <p:spPr>
          <a:xfrm rot="0" flipH="false" flipV="false">
            <a:off x="1270000" y="5207000"/>
            <a:ext cx="425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驱动三：有温度 — 提供贴心人文关怀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关注会员的使用感受与生活状态，及时响应咨询，提供售后支持，建立朋友般的信任关系，传递品牌的人文温度。</a:t>
            </a:r>
          </a:p>
        </p:txBody>
      </p:sp>
      <p:sp>
        <p:nvSpPr>
          <p:cNvPr name="AutoShape 23" id="23"/>
          <p:cNvSpPr/>
          <p:nvPr/>
        </p:nvSpPr>
        <p:spPr>
          <a:xfrm rot="0" flipH="false" flipV="false">
            <a:off x="6223000" y="5080000"/>
            <a:ext cx="5524500" cy="1397000"/>
          </a:xfrm>
          <a:prstGeom prst="roundRect">
            <a:avLst>
              <a:gd name="adj" fmla="val 0"/>
            </a:avLst>
          </a:prstGeom>
          <a:solidFill>
            <a:srgbClr val="FFFBEB">
              <a:alpha val="100000"/>
            </a:srgbClr>
          </a:solidFill>
          <a:ln w="12700" cmpd="sng" cap="flat">
            <a:solidFill>
              <a:srgbClr val="FBBF24">
                <a:alpha val="50000"/>
              </a:srgbClr>
            </a:solid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5270500"/>
            <a:ext cx="406400" cy="406400"/>
          </a:xfrm>
          <a:prstGeom prst="rect">
            <a:avLst/>
          </a:prstGeom>
        </p:spPr>
      </p:pic>
      <p:sp>
        <p:nvSpPr>
          <p:cNvPr name="AutoShape 25" id="25"/>
          <p:cNvSpPr/>
          <p:nvPr/>
        </p:nvSpPr>
        <p:spPr>
          <a:xfrm rot="0" flipH="false" flipV="false">
            <a:off x="7048500" y="5207000"/>
            <a:ext cx="4254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驱动四：有收益 — 坚守底线超越目标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严守官方规则不违规促销，以95%回购率为底线，通过精细化运营挖掘会员价值，实现会员收益与平台价值的共赢增长。</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AFC">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2032000"/>
          </a:xfrm>
          <a:prstGeom prst="roundRect">
            <a:avLst>
              <a:gd name="adj" fmla="val 0"/>
            </a:avLst>
          </a:prstGeom>
          <a:solidFill>
            <a:srgbClr val="2563EB">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3A8A"/>
                </a:solidFill>
                <a:latin typeface="Noto Sans SC"/>
                <a:ea typeface="Noto Sans SC"/>
                <a:cs typeface="Noto Sans SC"/>
                <a:sym typeface="Noto Sans SC"/>
              </a:rPr>
              <a:t>第三层：经营者培育社群（进阶）</a:t>
            </a:r>
            <a:endParaRPr lang="en-US" sz="1100"/>
          </a:p>
        </p:txBody>
      </p:sp>
      <p:sp>
        <p:nvSpPr>
          <p:cNvPr name="AutoShape 4" id="4"/>
          <p:cNvSpPr/>
          <p:nvPr/>
        </p:nvSpPr>
        <p:spPr>
          <a:xfrm rot="0" flipH="false" flipV="false">
            <a:off x="508000" y="1397000"/>
            <a:ext cx="3556000" cy="1016000"/>
          </a:xfrm>
          <a:prstGeom prst="roundRect">
            <a:avLst>
              <a:gd name="adj" fmla="val 0"/>
            </a:avLst>
          </a:prstGeom>
          <a:solidFill>
            <a:srgbClr val="FFFFFF">
              <a:alpha val="100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1701800"/>
            <a:ext cx="406400" cy="406400"/>
          </a:xfrm>
          <a:prstGeom prst="rect">
            <a:avLst/>
          </a:prstGeom>
        </p:spPr>
      </p:pic>
      <p:sp>
        <p:nvSpPr>
          <p:cNvPr name="AutoShape 6" id="6"/>
          <p:cNvSpPr/>
          <p:nvPr/>
        </p:nvSpPr>
        <p:spPr>
          <a:xfrm rot="0" flipH="false" flipV="false">
            <a:off x="1270000" y="1524000"/>
            <a:ext cx="254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经营者身份孵化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从消费者向经营者的身份认知跃迁，建立商业主体意识。</a:t>
            </a:r>
          </a:p>
        </p:txBody>
      </p:sp>
      <p:sp>
        <p:nvSpPr>
          <p:cNvPr name="AutoShape 7" id="7"/>
          <p:cNvSpPr/>
          <p:nvPr/>
        </p:nvSpPr>
        <p:spPr>
          <a:xfrm rot="0" flipH="false" flipV="false">
            <a:off x="4318000" y="1397000"/>
            <a:ext cx="3556000" cy="1016000"/>
          </a:xfrm>
          <a:prstGeom prst="roundRect">
            <a:avLst>
              <a:gd name="adj" fmla="val 0"/>
            </a:avLst>
          </a:prstGeom>
          <a:solidFill>
            <a:srgbClr val="FFFFFF">
              <a:alpha val="100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1701800"/>
            <a:ext cx="406400" cy="406400"/>
          </a:xfrm>
          <a:prstGeom prst="rect">
            <a:avLst/>
          </a:prstGeom>
        </p:spPr>
      </p:pic>
      <p:sp>
        <p:nvSpPr>
          <p:cNvPr name="AutoShape 9" id="9"/>
          <p:cNvSpPr/>
          <p:nvPr/>
        </p:nvSpPr>
        <p:spPr>
          <a:xfrm rot="0" flipH="false" flipV="false">
            <a:off x="5080000" y="1524000"/>
            <a:ext cx="254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思维层次培育</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摒弃单纯销售思维，构建长期主义的商业布局与价值思维。</a:t>
            </a:r>
          </a:p>
        </p:txBody>
      </p:sp>
      <p:sp>
        <p:nvSpPr>
          <p:cNvPr name="AutoShape 10" id="10"/>
          <p:cNvSpPr/>
          <p:nvPr/>
        </p:nvSpPr>
        <p:spPr>
          <a:xfrm rot="0" flipH="false" flipV="false">
            <a:off x="8128000" y="1397000"/>
            <a:ext cx="3556000" cy="1016000"/>
          </a:xfrm>
          <a:prstGeom prst="roundRect">
            <a:avLst>
              <a:gd name="adj" fmla="val 0"/>
            </a:avLst>
          </a:prstGeom>
          <a:solidFill>
            <a:srgbClr val="FFFFFF">
              <a:alpha val="100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18500" y="1701800"/>
            <a:ext cx="406400" cy="406400"/>
          </a:xfrm>
          <a:prstGeom prst="rect">
            <a:avLst/>
          </a:prstGeom>
        </p:spPr>
      </p:pic>
      <p:sp>
        <p:nvSpPr>
          <p:cNvPr name="AutoShape 12" id="12"/>
          <p:cNvSpPr/>
          <p:nvPr/>
        </p:nvSpPr>
        <p:spPr>
          <a:xfrm rot="0" flipH="false" flipV="false">
            <a:off x="8890000" y="1524000"/>
            <a:ext cx="254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职能分工匹配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pPr>
            <a:r>
              <a:rPr lang="en-US" b="false" i="false" strike="noStrike" u="none" sz="1200">
                <a:solidFill>
                  <a:srgbClr val="64748B"/>
                </a:solidFill>
                <a:latin typeface="Noto Sans SC"/>
                <a:ea typeface="Noto Sans SC"/>
                <a:cs typeface="Noto Sans SC"/>
                <a:sym typeface="Noto Sans SC"/>
              </a:rPr>
              <a:t>根据能力禀赋精准匹配岗位，实现团队效能最大化协同。</a:t>
            </a:r>
          </a:p>
        </p:txBody>
      </p:sp>
      <p:cxnSp>
        <p:nvCxnSpPr>
          <p:cNvPr name="Connector 13" id="13"/>
          <p:cNvCxnSpPr/>
          <p:nvPr/>
        </p:nvCxnSpPr>
        <p:spPr>
          <a:xfrm rot="-3906" flipH="false" flipV="false">
            <a:off x="508004" y="2914650"/>
            <a:ext cx="11176000" cy="12700"/>
          </a:xfrm>
          <a:prstGeom prst="straightConnector1">
            <a:avLst/>
          </a:prstGeom>
          <a:solidFill>
            <a:srgbClr val="DEE0E3">
              <a:alpha val="100000"/>
            </a:srgbClr>
          </a:solidFill>
          <a:ln w="12700" cmpd="sng" cap="flat">
            <a:solidFill>
              <a:srgbClr val="CBD5E1">
                <a:alpha val="100000"/>
              </a:srgbClr>
            </a:solidFill>
            <a:prstDash val="dash"/>
            <a:round/>
            <a:headEnd type="none" w="med" len="med"/>
            <a:tailEnd type="none" w="med" len="med"/>
          </a:ln>
        </p:spPr>
      </p:cxnSp>
      <p:sp>
        <p:nvSpPr>
          <p:cNvPr name="AutoShape 14" id="14"/>
          <p:cNvSpPr/>
          <p:nvPr/>
        </p:nvSpPr>
        <p:spPr>
          <a:xfrm rot="0" flipH="false" flipV="false">
            <a:off x="508000" y="3175000"/>
            <a:ext cx="11176000" cy="1079500"/>
          </a:xfrm>
          <a:prstGeom prst="roundRect">
            <a:avLst>
              <a:gd name="adj" fmla="val 0"/>
            </a:avLst>
          </a:prstGeom>
          <a:gradFill rotWithShape="true">
            <a:gsLst>
              <a:gs pos="0">
                <a:srgbClr val="1E3A8A">
                  <a:alpha val="8000"/>
                </a:srgbClr>
              </a:gs>
              <a:gs pos="100000">
                <a:srgbClr val="1E3A8A">
                  <a:alpha val="2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08000" y="3175000"/>
            <a:ext cx="76200" cy="10795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762000" y="3276600"/>
            <a:ext cx="1066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1E3A8A"/>
                </a:solidFill>
                <a:latin typeface="Noto Sans SC"/>
                <a:ea typeface="Noto Sans SC"/>
                <a:cs typeface="Noto Sans SC"/>
                <a:sym typeface="Noto Sans SC"/>
              </a:rPr>
              <a:t>“因为你一定挣不到你认知之外的钱。”</a:t>
            </a:r>
            <a:r>
              <a:rPr lang="en-US" b="false" i="false" strike="noStrike" u="none" sz="1400">
                <a:solidFill>
                  <a:srgbClr val="475569"/>
                </a:solidFill>
                <a:latin typeface="Noto Sans SC"/>
                <a:ea typeface="Noto Sans SC"/>
                <a:cs typeface="Noto Sans SC"/>
                <a:sym typeface="Noto Sans SC"/>
              </a:rPr>
              <a:t>—— 我们不教传统课件，不教“怎么经营美乐家”，而是专注于提升核心认知：深度解析商业模式本质，培养产品经理视角看价值，建立系统化的商业运营思维。</a:t>
            </a:r>
            <a:endParaRPr lang="en-US" sz="1100"/>
          </a:p>
        </p:txBody>
      </p:sp>
      <p:sp>
        <p:nvSpPr>
          <p:cNvPr name="AutoShape 17" id="17"/>
          <p:cNvSpPr/>
          <p:nvPr/>
        </p:nvSpPr>
        <p:spPr>
          <a:xfrm rot="0" flipH="false" flipV="false">
            <a:off x="508000" y="4572000"/>
            <a:ext cx="2667000" cy="19050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08000" y="4572000"/>
            <a:ext cx="2667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98500" y="4762500"/>
            <a:ext cx="355600" cy="355600"/>
          </a:xfrm>
          <a:prstGeom prst="rect">
            <a:avLst/>
          </a:prstGeom>
        </p:spPr>
      </p:pic>
      <p:sp>
        <p:nvSpPr>
          <p:cNvPr name="AutoShape 20" id="20"/>
          <p:cNvSpPr/>
          <p:nvPr/>
        </p:nvSpPr>
        <p:spPr>
          <a:xfrm rot="0" flipH="false" flipV="false">
            <a:off x="1143000" y="4762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公域博主方向</a:t>
            </a:r>
            <a:endParaRPr lang="en-US" sz="1100"/>
          </a:p>
        </p:txBody>
      </p:sp>
      <p:cxnSp>
        <p:nvCxnSpPr>
          <p:cNvPr name="Connector 21" id="21"/>
          <p:cNvCxnSpPr/>
          <p:nvPr/>
        </p:nvCxnSpPr>
        <p:spPr>
          <a:xfrm rot="-19098" flipH="false" flipV="false">
            <a:off x="698518" y="5327650"/>
            <a:ext cx="2286000" cy="12700"/>
          </a:xfrm>
          <a:prstGeom prst="straightConnector1">
            <a:avLst/>
          </a:prstGeom>
          <a:solidFill>
            <a:srgbClr val="DEE0E3">
              <a:alpha val="100000"/>
            </a:srgbClr>
          </a:solidFill>
          <a:ln w="12700" cmpd="sng" cap="flat">
            <a:solidFill>
              <a:srgbClr val="F1F5F9">
                <a:alpha val="100000"/>
              </a:srgbClr>
            </a:solidFill>
            <a:prstDash val="solid"/>
            <a:round/>
            <a:headEnd type="none" w="med" len="med"/>
            <a:tailEnd type="none" w="med" len="med"/>
          </a:ln>
        </p:spPr>
      </p:cxnSp>
      <p:sp>
        <p:nvSpPr>
          <p:cNvPr name="AutoShape 22" id="22"/>
          <p:cNvSpPr/>
          <p:nvPr/>
        </p:nvSpPr>
        <p:spPr>
          <a:xfrm rot="0" flipH="false" flipV="false">
            <a:off x="698500" y="5461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擅长内容创作与流量获取，专注于公域平台的价值输出与粉丝沉淀，为团队提供稳定的外部流量入口。</a:t>
            </a:r>
            <a:endParaRPr lang="en-US" sz="1100"/>
          </a:p>
        </p:txBody>
      </p:sp>
      <p:sp>
        <p:nvSpPr>
          <p:cNvPr name="AutoShape 23" id="23"/>
          <p:cNvSpPr/>
          <p:nvPr/>
        </p:nvSpPr>
        <p:spPr>
          <a:xfrm rot="0" flipH="false" flipV="false">
            <a:off x="3365500" y="4572000"/>
            <a:ext cx="2667000" cy="19050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3365500" y="4572000"/>
            <a:ext cx="2667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3556000" y="4762500"/>
            <a:ext cx="355600" cy="355600"/>
          </a:xfrm>
          <a:prstGeom prst="rect">
            <a:avLst/>
          </a:prstGeom>
        </p:spPr>
      </p:pic>
      <p:sp>
        <p:nvSpPr>
          <p:cNvPr name="AutoShape 26" id="26"/>
          <p:cNvSpPr/>
          <p:nvPr/>
        </p:nvSpPr>
        <p:spPr>
          <a:xfrm rot="0" flipH="false" flipV="false">
            <a:off x="4000500" y="4762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社群运营方向</a:t>
            </a:r>
            <a:endParaRPr lang="en-US" sz="1100"/>
          </a:p>
        </p:txBody>
      </p:sp>
      <p:cxnSp>
        <p:nvCxnSpPr>
          <p:cNvPr name="Connector 27" id="27"/>
          <p:cNvCxnSpPr/>
          <p:nvPr/>
        </p:nvCxnSpPr>
        <p:spPr>
          <a:xfrm rot="-19098" flipH="false" flipV="false">
            <a:off x="3556018" y="5327650"/>
            <a:ext cx="2286000" cy="12700"/>
          </a:xfrm>
          <a:prstGeom prst="straightConnector1">
            <a:avLst/>
          </a:prstGeom>
          <a:solidFill>
            <a:srgbClr val="DEE0E3">
              <a:alpha val="100000"/>
            </a:srgbClr>
          </a:solidFill>
          <a:ln w="12700" cmpd="sng" cap="flat">
            <a:solidFill>
              <a:srgbClr val="F1F5F9">
                <a:alpha val="100000"/>
              </a:srgbClr>
            </a:solidFill>
            <a:prstDash val="solid"/>
            <a:round/>
            <a:headEnd type="none" w="med" len="med"/>
            <a:tailEnd type="none" w="med" len="med"/>
          </a:ln>
        </p:spPr>
      </p:cxnSp>
      <p:sp>
        <p:nvSpPr>
          <p:cNvPr name="AutoShape 28" id="28"/>
          <p:cNvSpPr/>
          <p:nvPr/>
        </p:nvSpPr>
        <p:spPr>
          <a:xfrm rot="0" flipH="false" flipV="false">
            <a:off x="3556000" y="5461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深耕私域用户生命周期管理，通过内容触达、活动互动提升用户活跃度与留存率，建立高粘性用户社群。</a:t>
            </a:r>
            <a:endParaRPr lang="en-US" sz="1100"/>
          </a:p>
        </p:txBody>
      </p:sp>
      <p:sp>
        <p:nvSpPr>
          <p:cNvPr name="AutoShape 29" id="29"/>
          <p:cNvSpPr/>
          <p:nvPr/>
        </p:nvSpPr>
        <p:spPr>
          <a:xfrm rot="0" flipH="false" flipV="false">
            <a:off x="6223000" y="4572000"/>
            <a:ext cx="2667000" cy="19050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223000" y="4572000"/>
            <a:ext cx="2667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13500" y="4762500"/>
            <a:ext cx="355600" cy="355600"/>
          </a:xfrm>
          <a:prstGeom prst="rect">
            <a:avLst/>
          </a:prstGeom>
        </p:spPr>
      </p:pic>
      <p:sp>
        <p:nvSpPr>
          <p:cNvPr name="AutoShape 32" id="32"/>
          <p:cNvSpPr/>
          <p:nvPr/>
        </p:nvSpPr>
        <p:spPr>
          <a:xfrm rot="0" flipH="false" flipV="false">
            <a:off x="6858000" y="4762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线下活动运营</a:t>
            </a:r>
            <a:endParaRPr lang="en-US" sz="1100"/>
          </a:p>
        </p:txBody>
      </p:sp>
      <p:cxnSp>
        <p:nvCxnSpPr>
          <p:cNvPr name="Connector 33" id="33"/>
          <p:cNvCxnSpPr/>
          <p:nvPr/>
        </p:nvCxnSpPr>
        <p:spPr>
          <a:xfrm rot="-19098" flipH="false" flipV="false">
            <a:off x="6413518" y="5327650"/>
            <a:ext cx="2286000" cy="12700"/>
          </a:xfrm>
          <a:prstGeom prst="straightConnector1">
            <a:avLst/>
          </a:prstGeom>
          <a:solidFill>
            <a:srgbClr val="DEE0E3">
              <a:alpha val="100000"/>
            </a:srgbClr>
          </a:solidFill>
          <a:ln w="12700" cmpd="sng" cap="flat">
            <a:solidFill>
              <a:srgbClr val="F1F5F9">
                <a:alpha val="100000"/>
              </a:srgbClr>
            </a:solidFill>
            <a:prstDash val="solid"/>
            <a:round/>
            <a:headEnd type="none" w="med" len="med"/>
            <a:tailEnd type="none" w="med" len="med"/>
          </a:ln>
        </p:spPr>
      </p:cxnSp>
      <p:sp>
        <p:nvSpPr>
          <p:cNvPr name="AutoShape 34" id="34"/>
          <p:cNvSpPr/>
          <p:nvPr/>
        </p:nvSpPr>
        <p:spPr>
          <a:xfrm rot="0" flipH="false" flipV="false">
            <a:off x="6413500" y="5461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策划并执行沙龙、品鉴会等线下活动，链接情感、传递价值，将线上流量转化为线下深度信任关系。</a:t>
            </a:r>
            <a:endParaRPr lang="en-US" sz="1100"/>
          </a:p>
        </p:txBody>
      </p:sp>
      <p:sp>
        <p:nvSpPr>
          <p:cNvPr name="AutoShape 35" id="35"/>
          <p:cNvSpPr/>
          <p:nvPr/>
        </p:nvSpPr>
        <p:spPr>
          <a:xfrm rot="0" flipH="false" flipV="false">
            <a:off x="9017000" y="4572000"/>
            <a:ext cx="2667000" cy="1905000"/>
          </a:xfrm>
          <a:prstGeom prst="roundRect">
            <a:avLst>
              <a:gd name="adj" fmla="val 0"/>
            </a:avLst>
          </a:prstGeom>
          <a:solidFill>
            <a:srgbClr val="FFFFFF">
              <a:alpha val="100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9017000" y="4572000"/>
            <a:ext cx="2667000" cy="508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7" id="37"/>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9207500" y="4762500"/>
            <a:ext cx="355600" cy="355600"/>
          </a:xfrm>
          <a:prstGeom prst="rect">
            <a:avLst/>
          </a:prstGeom>
        </p:spPr>
      </p:pic>
      <p:sp>
        <p:nvSpPr>
          <p:cNvPr name="AutoShape 38" id="38"/>
          <p:cNvSpPr/>
          <p:nvPr/>
        </p:nvSpPr>
        <p:spPr>
          <a:xfrm rot="0" flipH="false" flipV="false">
            <a:off x="9652000" y="47625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物料内容制作</a:t>
            </a:r>
            <a:endParaRPr lang="en-US" sz="1100"/>
          </a:p>
        </p:txBody>
      </p:sp>
      <p:cxnSp>
        <p:nvCxnSpPr>
          <p:cNvPr name="Connector 39" id="39"/>
          <p:cNvCxnSpPr/>
          <p:nvPr/>
        </p:nvCxnSpPr>
        <p:spPr>
          <a:xfrm rot="-19098" flipH="false" flipV="false">
            <a:off x="9207518" y="5327650"/>
            <a:ext cx="2286000" cy="12700"/>
          </a:xfrm>
          <a:prstGeom prst="straightConnector1">
            <a:avLst/>
          </a:prstGeom>
          <a:solidFill>
            <a:srgbClr val="DEE0E3">
              <a:alpha val="100000"/>
            </a:srgbClr>
          </a:solidFill>
          <a:ln w="12700" cmpd="sng" cap="flat">
            <a:solidFill>
              <a:srgbClr val="F1F5F9">
                <a:alpha val="100000"/>
              </a:srgbClr>
            </a:solidFill>
            <a:prstDash val="solid"/>
            <a:round/>
            <a:headEnd type="none" w="med" len="med"/>
            <a:tailEnd type="none" w="med" len="med"/>
          </a:ln>
        </p:spPr>
      </p:cxnSp>
      <p:sp>
        <p:nvSpPr>
          <p:cNvPr name="AutoShape 40" id="40"/>
          <p:cNvSpPr/>
          <p:nvPr/>
        </p:nvSpPr>
        <p:spPr>
          <a:xfrm rot="0" flipH="false" flipV="false">
            <a:off x="9207500" y="5461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负责视觉设计、文案撰写、工具包开发等专业支持，为团队提供标准化、高质量的传播素材与运营工具。</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652000" y="4318000"/>
            <a:ext cx="5080000" cy="5080000"/>
          </a:xfrm>
          <a:prstGeom prst="ellipse">
            <a:avLst/>
          </a:prstGeom>
          <a:solidFill>
            <a:srgbClr val="F59E0B">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3.3 线下体验端：三层体验体系</a:t>
            </a:r>
            <a:endParaRPr lang="en-US" sz="1100"/>
          </a:p>
        </p:txBody>
      </p:sp>
      <p:sp>
        <p:nvSpPr>
          <p:cNvPr name="AutoShape 5" id="5"/>
          <p:cNvSpPr/>
          <p:nvPr/>
        </p:nvSpPr>
        <p:spPr>
          <a:xfrm rot="0" flipH="false" flipV="false">
            <a:off x="508000" y="1397000"/>
            <a:ext cx="11176000" cy="762000"/>
          </a:xfrm>
          <a:prstGeom prst="roundRect">
            <a:avLst>
              <a:gd name="adj" fmla="val 0"/>
            </a:avLst>
          </a:prstGeom>
          <a:solidFill>
            <a:srgbClr val="FFFFFF">
              <a:alpha val="100000"/>
            </a:srgbClr>
          </a:solidFill>
          <a:ln cmpd="sng" cap="flat">
            <a:solidFill>
              <a:srgbClr val="E6CFCF">
                <a:alpha val="100000"/>
              </a:srgbClr>
            </a:solidFill>
            <a:prstDash val="solid"/>
            <a:round/>
          </a:ln>
        </p:spPr>
        <p:txBody>
          <a:bodyPr anchor="ctr" rtlCol="false" vert="horz" wrap="square" lIns="63500" rIns="63500" tIns="63500" bIns="63500"/>
          <a:lstStyle/>
          <a:p>
            <a:pPr algn="ctr">
              <a:defRPr/>
            </a:pPr>
            <a:endParaRPr/>
          </a:p>
        </p:txBody>
      </p:sp>
      <p:cxnSp>
        <p:nvCxnSpPr>
          <p:cNvPr name="Connector 6" id="6"/>
          <p:cNvCxnSpPr/>
          <p:nvPr/>
        </p:nvCxnSpPr>
        <p:spPr>
          <a:xfrm rot="5342709" flipH="false" flipV="false">
            <a:off x="127000" y="1771703"/>
            <a:ext cx="762000" cy="12700"/>
          </a:xfrm>
          <a:prstGeom prst="line">
            <a:avLst/>
          </a:prstGeom>
          <a:solidFill>
            <a:srgbClr val="DEE0E3">
              <a:alpha val="100000"/>
            </a:srgbClr>
          </a:solidFill>
          <a:ln w="50800" cmpd="sng" cap="flat">
            <a:solidFill>
              <a:srgbClr val="3B82F6">
                <a:alpha val="100000"/>
              </a:srgbClr>
            </a:solidFill>
            <a:prstDash val="solid"/>
            <a:round/>
            <a:headEnd type="none" w="lg" len="lg"/>
            <a:tailEnd type="none" w="lg" len="lg"/>
          </a:ln>
        </p:spPr>
      </p:cxnSp>
      <p:sp>
        <p:nvSpPr>
          <p:cNvPr name="AutoShape 7" id="7"/>
          <p:cNvSpPr/>
          <p:nvPr/>
        </p:nvSpPr>
        <p:spPr>
          <a:xfrm rot="0" flipH="false" flipV="false">
            <a:off x="762000" y="14605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4B5563"/>
                </a:solidFill>
                <a:latin typeface="Noto Sans SC"/>
                <a:ea typeface="Noto Sans SC"/>
                <a:cs typeface="Noto Sans SC"/>
                <a:sym typeface="Noto Sans SC"/>
              </a:rPr>
              <a:t>线下体验并非单纯的“新零售体验式特征”，而是深度承担了</a:t>
            </a:r>
            <a:r>
              <a:rPr lang="en-US" b="true" i="false" strike="noStrike" u="none" sz="1600">
                <a:solidFill>
                  <a:srgbClr val="4B5563"/>
                </a:solidFill>
                <a:latin typeface="Noto Sans SC"/>
                <a:ea typeface="Noto Sans SC"/>
                <a:cs typeface="Noto Sans SC"/>
                <a:sym typeface="Noto Sans SC"/>
              </a:rPr>
              <a:t>用户激活、价值感知、全域管控</a:t>
            </a:r>
            <a:r>
              <a:rPr lang="en-US" b="false" i="false" strike="noStrike" u="none" sz="1600">
                <a:solidFill>
                  <a:srgbClr val="4B5563"/>
                </a:solidFill>
                <a:latin typeface="Noto Sans SC"/>
                <a:ea typeface="Noto Sans SC"/>
                <a:cs typeface="Noto Sans SC"/>
                <a:sym typeface="Noto Sans SC"/>
              </a:rPr>
              <a:t>三个维度的战略功能，构建起从用户触达到商业闭环的完整生态体系。</a:t>
            </a:r>
            <a:endParaRPr lang="en-US" sz="1100"/>
          </a:p>
        </p:txBody>
      </p:sp>
      <p:sp>
        <p:nvSpPr>
          <p:cNvPr name="AutoShape 8" id="8"/>
          <p:cNvSpPr/>
          <p:nvPr/>
        </p:nvSpPr>
        <p:spPr>
          <a:xfrm rot="0" flipH="false" flipV="false">
            <a:off x="508000" y="2794000"/>
            <a:ext cx="3556000" cy="3302000"/>
          </a:xfrm>
          <a:prstGeom prst="roundRect">
            <a:avLst>
              <a:gd name="adj" fmla="val 0"/>
            </a:avLst>
          </a:prstGeom>
          <a:solidFill>
            <a:srgbClr val="FFFFFF">
              <a:alpha val="100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 y="2794000"/>
            <a:ext cx="35560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3111500"/>
            <a:ext cx="711200" cy="711200"/>
          </a:xfrm>
          <a:prstGeom prst="ellipse">
            <a:avLst/>
          </a:prstGeom>
          <a:solidFill>
            <a:srgbClr val="F59E0B">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914400" y="3263900"/>
            <a:ext cx="406400" cy="406400"/>
          </a:xfrm>
          <a:prstGeom prst="rect">
            <a:avLst/>
          </a:prstGeom>
        </p:spPr>
      </p:pic>
      <p:sp>
        <p:nvSpPr>
          <p:cNvPr name="AutoShape 12" id="12"/>
          <p:cNvSpPr/>
          <p:nvPr/>
        </p:nvSpPr>
        <p:spPr>
          <a:xfrm rot="0" flipH="false" flipV="false">
            <a:off x="1651000" y="3175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01 经营动机引发</a:t>
            </a:r>
            <a:endParaRPr lang="en-US" sz="1100"/>
          </a:p>
        </p:txBody>
      </p:sp>
      <p:cxnSp>
        <p:nvCxnSpPr>
          <p:cNvPr name="Connector 13" id="13"/>
          <p:cNvCxnSpPr/>
          <p:nvPr/>
        </p:nvCxnSpPr>
        <p:spPr>
          <a:xfrm rot="-14323" flipH="false" flipV="false">
            <a:off x="762013" y="4057650"/>
            <a:ext cx="30480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14" id="14"/>
          <p:cNvSpPr/>
          <p:nvPr/>
        </p:nvSpPr>
        <p:spPr>
          <a:xfrm rot="0" flipH="false" flipV="false">
            <a:off x="762000" y="4318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F59E0B"/>
                </a:solidFill>
                <a:latin typeface="Noto Sans SC"/>
                <a:ea typeface="Noto Sans SC"/>
                <a:cs typeface="Noto Sans SC"/>
                <a:sym typeface="Noto Sans SC"/>
              </a:rPr>
              <a:t>“会员竞争参加，而非被邀请经营”</a:t>
            </a:r>
            <a:endParaRPr lang="en-US" sz="1100"/>
          </a:p>
        </p:txBody>
      </p:sp>
      <p:sp>
        <p:nvSpPr>
          <p:cNvPr name="AutoShape 15" id="15"/>
          <p:cNvSpPr/>
          <p:nvPr/>
        </p:nvSpPr>
        <p:spPr>
          <a:xfrm rot="0" flipH="false" flipV="false">
            <a:off x="762000" y="5207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摒弃传统被动邀约模式，通过竞技性、互动性活动设计，激发会员主动参与和权益经营意识，将用户从消费者转化为品牌共创者，深度绑定情感与利益连接。</a:t>
            </a:r>
            <a:endParaRPr lang="en-US" sz="1100"/>
          </a:p>
        </p:txBody>
      </p:sp>
      <p:sp>
        <p:nvSpPr>
          <p:cNvPr name="AutoShape 16" id="16"/>
          <p:cNvSpPr/>
          <p:nvPr/>
        </p:nvSpPr>
        <p:spPr>
          <a:xfrm rot="0" flipH="false" flipV="false">
            <a:off x="4318000" y="2794000"/>
            <a:ext cx="3556000" cy="3302000"/>
          </a:xfrm>
          <a:prstGeom prst="roundRect">
            <a:avLst>
              <a:gd name="adj" fmla="val 0"/>
            </a:avLst>
          </a:prstGeom>
          <a:solidFill>
            <a:srgbClr val="FFFFFF">
              <a:alpha val="10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318000" y="2794000"/>
            <a:ext cx="3556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572000" y="3111500"/>
            <a:ext cx="711200" cy="711200"/>
          </a:xfrm>
          <a:prstGeom prst="ellipse">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724400" y="3263900"/>
            <a:ext cx="406400" cy="406400"/>
          </a:xfrm>
          <a:prstGeom prst="rect">
            <a:avLst/>
          </a:prstGeom>
        </p:spPr>
      </p:pic>
      <p:sp>
        <p:nvSpPr>
          <p:cNvPr name="AutoShape 20" id="20"/>
          <p:cNvSpPr/>
          <p:nvPr/>
        </p:nvSpPr>
        <p:spPr>
          <a:xfrm rot="0" flipH="false" flipV="false">
            <a:off x="5461000" y="3175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02 产品深度体验</a:t>
            </a:r>
            <a:endParaRPr lang="en-US" sz="1100"/>
          </a:p>
        </p:txBody>
      </p:sp>
      <p:cxnSp>
        <p:nvCxnSpPr>
          <p:cNvPr name="Connector 21" id="21"/>
          <p:cNvCxnSpPr/>
          <p:nvPr/>
        </p:nvCxnSpPr>
        <p:spPr>
          <a:xfrm rot="-14323" flipH="false" flipV="false">
            <a:off x="4572013" y="4057650"/>
            <a:ext cx="30480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22" id="22"/>
          <p:cNvSpPr/>
          <p:nvPr/>
        </p:nvSpPr>
        <p:spPr>
          <a:xfrm rot="0" flipH="false" flipV="false">
            <a:off x="4572000" y="4318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B82F6"/>
                </a:solidFill>
                <a:latin typeface="Noto Sans SC"/>
                <a:ea typeface="Noto Sans SC"/>
                <a:cs typeface="Noto Sans SC"/>
                <a:sym typeface="Noto Sans SC"/>
              </a:rPr>
              <a:t>“按产品类型定制的场景化沉浸空间”</a:t>
            </a:r>
            <a:endParaRPr lang="en-US" sz="1100"/>
          </a:p>
        </p:txBody>
      </p:sp>
      <p:sp>
        <p:nvSpPr>
          <p:cNvPr name="AutoShape 23" id="23"/>
          <p:cNvSpPr/>
          <p:nvPr/>
        </p:nvSpPr>
        <p:spPr>
          <a:xfrm rot="0" flipH="false" flipV="false">
            <a:off x="4572000" y="5207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打破标准化货架陈列，为不同品类产品构建真实的生活使用场景。让用户在沉浸式体验中直观感知产品价值，完成从“认知产品”到“认同生活方式”的深度转化。</a:t>
            </a:r>
            <a:endParaRPr lang="en-US" sz="1100"/>
          </a:p>
        </p:txBody>
      </p:sp>
      <p:sp>
        <p:nvSpPr>
          <p:cNvPr name="AutoShape 24" id="24"/>
          <p:cNvSpPr/>
          <p:nvPr/>
        </p:nvSpPr>
        <p:spPr>
          <a:xfrm rot="0" flipH="false" flipV="false">
            <a:off x="8128000" y="2794000"/>
            <a:ext cx="3556000" cy="3302000"/>
          </a:xfrm>
          <a:prstGeom prst="roundRect">
            <a:avLst>
              <a:gd name="adj" fmla="val 0"/>
            </a:avLst>
          </a:prstGeom>
          <a:solidFill>
            <a:srgbClr val="FFFFFF">
              <a:alpha val="100000"/>
            </a:srgbClr>
          </a:solidFill>
          <a:ln w="12700" cmpd="sng" cap="flat">
            <a:solidFill>
              <a:srgbClr val="4B5563">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28000" y="2794000"/>
            <a:ext cx="3556000" cy="76200"/>
          </a:xfrm>
          <a:prstGeom prst="roundRect">
            <a:avLst>
              <a:gd name="adj" fmla="val 0"/>
            </a:avLst>
          </a:prstGeom>
          <a:solidFill>
            <a:srgbClr val="4B5563">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382000" y="3111500"/>
            <a:ext cx="711200" cy="711200"/>
          </a:xfrm>
          <a:prstGeom prst="ellipse">
            <a:avLst/>
          </a:prstGeom>
          <a:solidFill>
            <a:srgbClr val="4B5563">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534400" y="3263900"/>
            <a:ext cx="406400" cy="406400"/>
          </a:xfrm>
          <a:prstGeom prst="rect">
            <a:avLst/>
          </a:prstGeom>
        </p:spPr>
      </p:pic>
      <p:sp>
        <p:nvSpPr>
          <p:cNvPr name="AutoShape 28" id="28"/>
          <p:cNvSpPr/>
          <p:nvPr/>
        </p:nvSpPr>
        <p:spPr>
          <a:xfrm rot="0" flipH="false" flipV="false">
            <a:off x="9271000" y="3175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03 全域运营中枢</a:t>
            </a:r>
            <a:endParaRPr lang="en-US" sz="1100"/>
          </a:p>
        </p:txBody>
      </p:sp>
      <p:cxnSp>
        <p:nvCxnSpPr>
          <p:cNvPr name="Connector 29" id="29"/>
          <p:cNvCxnSpPr/>
          <p:nvPr/>
        </p:nvCxnSpPr>
        <p:spPr>
          <a:xfrm rot="-14323" flipH="false" flipV="false">
            <a:off x="8382013" y="4057650"/>
            <a:ext cx="3048000" cy="12700"/>
          </a:xfrm>
          <a:prstGeom prst="line">
            <a:avLst/>
          </a:prstGeom>
          <a:solidFill>
            <a:srgbClr val="DEE0E3">
              <a:alpha val="100000"/>
            </a:srgbClr>
          </a:solidFill>
          <a:ln w="12700" cmpd="sng" cap="flat">
            <a:solidFill>
              <a:srgbClr val="E5E7EB">
                <a:alpha val="100000"/>
              </a:srgbClr>
            </a:solidFill>
            <a:prstDash val="dash"/>
            <a:round/>
            <a:headEnd type="none" w="med" len="med"/>
            <a:tailEnd type="none" w="med" len="med"/>
          </a:ln>
        </p:spPr>
      </p:cxnSp>
      <p:sp>
        <p:nvSpPr>
          <p:cNvPr name="AutoShape 30" id="30"/>
          <p:cNvSpPr/>
          <p:nvPr/>
        </p:nvSpPr>
        <p:spPr>
          <a:xfrm rot="0" flipH="false" flipV="false">
            <a:off x="8382000" y="4318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4B5563"/>
                </a:solidFill>
                <a:latin typeface="Noto Sans SC"/>
                <a:ea typeface="Noto Sans SC"/>
                <a:cs typeface="Noto Sans SC"/>
                <a:sym typeface="Noto Sans SC"/>
              </a:rPr>
              <a:t>“MelBeacon 综合功能指挥中心”</a:t>
            </a:r>
            <a:endParaRPr lang="en-US" sz="1100"/>
          </a:p>
        </p:txBody>
      </p:sp>
      <p:sp>
        <p:nvSpPr>
          <p:cNvPr name="AutoShape 31" id="31"/>
          <p:cNvSpPr/>
          <p:nvPr/>
        </p:nvSpPr>
        <p:spPr>
          <a:xfrm rot="0" flipH="false" flipV="false">
            <a:off x="8382000" y="5207000"/>
            <a:ext cx="304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B7280"/>
                </a:solidFill>
                <a:latin typeface="Noto Sans SC"/>
                <a:ea typeface="Noto Sans SC"/>
                <a:cs typeface="Noto Sans SC"/>
                <a:sym typeface="Noto Sans SC"/>
              </a:rPr>
              <a:t>作为线下物理节点与线上数据的交汇点，集成数据采集、物流调度、用户服务与社群运营功能，形成支撑全域业务的“神经中枢”，驱动线上线下高效协同运转。</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11827"/>
                </a:solidFill>
                <a:latin typeface="Noto Sans SC"/>
                <a:ea typeface="Noto Sans SC"/>
                <a:cs typeface="Noto Sans SC"/>
                <a:sym typeface="Noto Sans SC"/>
              </a:rPr>
              <a:t>第一层：经营动机引发型活动</a:t>
            </a:r>
            <a:endParaRPr lang="en-US" sz="1100"/>
          </a:p>
        </p:txBody>
      </p:sp>
      <p:sp>
        <p:nvSpPr>
          <p:cNvPr name="AutoShape 3" id="3"/>
          <p:cNvSpPr/>
          <p:nvPr/>
        </p:nvSpPr>
        <p:spPr>
          <a:xfrm rot="0" flipH="false" flipV="false">
            <a:off x="508000" y="1143000"/>
            <a:ext cx="11176000" cy="25400"/>
          </a:xfrm>
          <a:prstGeom prst="roundRect">
            <a:avLst>
              <a:gd name="adj" fmla="val 0"/>
            </a:avLst>
          </a:prstGeom>
          <a:solidFill>
            <a:srgbClr val="E5E7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1524000"/>
            <a:ext cx="5524500" cy="1905000"/>
          </a:xfrm>
          <a:prstGeom prst="roundRect">
            <a:avLst>
              <a:gd name="adj" fmla="val 0"/>
            </a:avLst>
          </a:prstGeom>
          <a:solidFill>
            <a:srgbClr val="FFF7ED">
              <a:alpha val="100000"/>
            </a:srgbClr>
          </a:solidFill>
          <a:ln w="12700" cmpd="sng" cap="flat">
            <a:solidFill>
              <a:srgbClr val="FB923C">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714500"/>
            <a:ext cx="406400" cy="406400"/>
          </a:xfrm>
          <a:prstGeom prst="rect">
            <a:avLst/>
          </a:prstGeom>
        </p:spPr>
      </p:pic>
      <p:sp>
        <p:nvSpPr>
          <p:cNvPr name="AutoShape 6" id="6"/>
          <p:cNvSpPr/>
          <p:nvPr/>
        </p:nvSpPr>
        <p:spPr>
          <a:xfrm rot="0" flipH="false" flipV="false">
            <a:off x="1333500" y="1676400"/>
            <a:ext cx="444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C2410C"/>
                </a:solidFill>
                <a:latin typeface="Noto Sans SC"/>
                <a:ea typeface="Noto Sans SC"/>
                <a:cs typeface="Noto Sans SC"/>
                <a:sym typeface="Noto Sans SC"/>
              </a:rPr>
              <a:t>战略痛点：传统模式的价值塌陷</a:t>
            </a:r>
            <a:endParaRPr lang="en-US" sz="1100"/>
          </a:p>
        </p:txBody>
      </p:sp>
      <p:cxnSp>
        <p:nvCxnSpPr>
          <p:cNvPr name="Connector 7" id="7"/>
          <p:cNvCxnSpPr/>
          <p:nvPr/>
        </p:nvCxnSpPr>
        <p:spPr>
          <a:xfrm rot="-8703" flipH="false" flipV="false">
            <a:off x="762008" y="2279650"/>
            <a:ext cx="5016500" cy="12700"/>
          </a:xfrm>
          <a:prstGeom prst="line">
            <a:avLst/>
          </a:prstGeom>
          <a:solidFill>
            <a:srgbClr val="DEE0E3">
              <a:alpha val="100000"/>
            </a:srgbClr>
          </a:solidFill>
          <a:ln w="12700" cmpd="sng" cap="flat">
            <a:solidFill>
              <a:srgbClr val="EA580C">
                <a:alpha val="20000"/>
              </a:srgbClr>
            </a:solidFill>
            <a:prstDash val="dash"/>
            <a:round/>
            <a:headEnd type="none" w="med" len="med"/>
            <a:tailEnd type="none" w="med" len="med"/>
          </a:ln>
        </p:spPr>
      </p:cxnSp>
      <p:sp>
        <p:nvSpPr>
          <p:cNvPr name="AutoShape 8" id="8"/>
          <p:cNvSpPr/>
          <p:nvPr/>
        </p:nvSpPr>
        <p:spPr>
          <a:xfrm rot="0" flipH="false" flipV="false">
            <a:off x="762000" y="2413000"/>
            <a:ext cx="5016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31407"/>
                </a:solidFill>
                <a:latin typeface="Noto Sans SC"/>
                <a:ea typeface="Noto Sans SC"/>
                <a:cs typeface="Noto Sans SC"/>
                <a:sym typeface="Noto Sans SC"/>
              </a:rPr>
              <a:t>传统美乐家中，经营者常陷入“求着会员来经营”的被动局面，不仅沟通效率极低，更严重拉低了经营者身份的专业感与价值感，导致人才吸引力不足。</a:t>
            </a:r>
            <a:endParaRPr lang="en-US" sz="1100"/>
          </a:p>
        </p:txBody>
      </p:sp>
      <p:sp>
        <p:nvSpPr>
          <p:cNvPr name="AutoShape 9" id="9"/>
          <p:cNvSpPr/>
          <p:nvPr/>
        </p:nvSpPr>
        <p:spPr>
          <a:xfrm rot="0" flipH="false" flipV="false">
            <a:off x="6286500" y="1524000"/>
            <a:ext cx="5524500" cy="1905000"/>
          </a:xfrm>
          <a:prstGeom prst="roundRect">
            <a:avLst>
              <a:gd name="adj" fmla="val 0"/>
            </a:avLst>
          </a:prstGeom>
          <a:solidFill>
            <a:srgbClr val="EFF6FF">
              <a:alpha val="10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1714500"/>
            <a:ext cx="406400" cy="406400"/>
          </a:xfrm>
          <a:prstGeom prst="rect">
            <a:avLst/>
          </a:prstGeom>
        </p:spPr>
      </p:pic>
      <p:sp>
        <p:nvSpPr>
          <p:cNvPr name="AutoShape 11" id="11"/>
          <p:cNvSpPr/>
          <p:nvPr/>
        </p:nvSpPr>
        <p:spPr>
          <a:xfrm rot="0" flipH="false" flipV="false">
            <a:off x="7112000" y="1676400"/>
            <a:ext cx="444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D4ED8"/>
                </a:solidFill>
                <a:latin typeface="Noto Sans SC"/>
                <a:ea typeface="Noto Sans SC"/>
                <a:cs typeface="Noto Sans SC"/>
                <a:sym typeface="Noto Sans SC"/>
              </a:rPr>
              <a:t>战略反转：经营机会的稀缺化重塑</a:t>
            </a:r>
            <a:endParaRPr lang="en-US" sz="1100"/>
          </a:p>
        </p:txBody>
      </p:sp>
      <p:cxnSp>
        <p:nvCxnSpPr>
          <p:cNvPr name="Connector 12" id="12"/>
          <p:cNvCxnSpPr/>
          <p:nvPr/>
        </p:nvCxnSpPr>
        <p:spPr>
          <a:xfrm rot="-8703" flipH="false" flipV="false">
            <a:off x="6540508" y="2279650"/>
            <a:ext cx="5016500" cy="12700"/>
          </a:xfrm>
          <a:prstGeom prst="line">
            <a:avLst/>
          </a:prstGeom>
          <a:solidFill>
            <a:srgbClr val="DEE0E3">
              <a:alpha val="100000"/>
            </a:srgbClr>
          </a:solidFill>
          <a:ln w="12700" cmpd="sng" cap="flat">
            <a:solidFill>
              <a:srgbClr val="2563EB">
                <a:alpha val="20000"/>
              </a:srgbClr>
            </a:solidFill>
            <a:prstDash val="dash"/>
            <a:round/>
            <a:headEnd type="none" w="med" len="med"/>
            <a:tailEnd type="none" w="med" len="med"/>
          </a:ln>
        </p:spPr>
      </p:cxnSp>
      <p:sp>
        <p:nvSpPr>
          <p:cNvPr name="AutoShape 13" id="13"/>
          <p:cNvSpPr/>
          <p:nvPr/>
        </p:nvSpPr>
        <p:spPr>
          <a:xfrm rot="0" flipH="false" flipV="false">
            <a:off x="6540500" y="2413000"/>
            <a:ext cx="5016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1E3A8A"/>
                </a:solidFill>
                <a:latin typeface="Noto Sans SC"/>
                <a:ea typeface="Noto Sans SC"/>
                <a:cs typeface="Noto Sans SC"/>
                <a:sym typeface="Noto Sans SC"/>
              </a:rPr>
              <a:t>彻底颠覆供需关系，将“了解经营机会”从被动推销转化为需要主动争取的稀缺资源。通过设置准入门槛，筛选高意向人群，重构经营者的身份价值与吸引力。</a:t>
            </a:r>
            <a:endParaRPr lang="en-US" sz="1100"/>
          </a:p>
        </p:txBody>
      </p:sp>
      <p:sp>
        <p:nvSpPr>
          <p:cNvPr name="AutoShape 14" id="14"/>
          <p:cNvSpPr/>
          <p:nvPr/>
        </p:nvSpPr>
        <p:spPr>
          <a:xfrm rot="0" flipH="false" flipV="false">
            <a:off x="508000" y="3810000"/>
            <a:ext cx="1117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74151"/>
                </a:solidFill>
                <a:latin typeface="Noto Sans SC"/>
                <a:ea typeface="Noto Sans SC"/>
                <a:cs typeface="Noto Sans SC"/>
                <a:sym typeface="Noto Sans SC"/>
              </a:rPr>
              <a:t>四大核心活动矩阵：构建稀缺价值闭环</a:t>
            </a:r>
            <a:endParaRPr lang="en-US" sz="1100"/>
          </a:p>
        </p:txBody>
      </p:sp>
      <p:cxnSp>
        <p:nvCxnSpPr>
          <p:cNvPr name="Connector 15" id="15"/>
          <p:cNvCxnSpPr/>
          <p:nvPr/>
        </p:nvCxnSpPr>
        <p:spPr>
          <a:xfrm rot="-3906" flipH="false" flipV="false">
            <a:off x="508004" y="4184650"/>
            <a:ext cx="11176000" cy="12700"/>
          </a:xfrm>
          <a:prstGeom prst="line">
            <a:avLst/>
          </a:prstGeom>
          <a:solidFill>
            <a:srgbClr val="DEE0E3">
              <a:alpha val="100000"/>
            </a:srgbClr>
          </a:solidFill>
          <a:ln w="12700" cmpd="sng" cap="flat">
            <a:solidFill>
              <a:srgbClr val="D1D5DB">
                <a:alpha val="100000"/>
              </a:srgbClr>
            </a:solidFill>
            <a:prstDash val="solid"/>
            <a:round/>
            <a:headEnd type="none" w="med" len="med"/>
            <a:tailEnd type="none" w="med" len="med"/>
          </a:ln>
        </p:spPr>
      </p:cxnSp>
      <p:sp>
        <p:nvSpPr>
          <p:cNvPr name="AutoShape 16" id="16"/>
          <p:cNvSpPr/>
          <p:nvPr/>
        </p:nvSpPr>
        <p:spPr>
          <a:xfrm rot="0" flipH="false" flipV="false">
            <a:off x="508000" y="4445000"/>
            <a:ext cx="26670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508000" y="4445000"/>
            <a:ext cx="2667000" cy="50800"/>
          </a:xfrm>
          <a:prstGeom prst="roundRect">
            <a:avLst>
              <a:gd name="adj" fmla="val 0"/>
            </a:avLst>
          </a:prstGeom>
          <a:solidFill>
            <a:srgbClr val="EA580C">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35000" y="4635500"/>
            <a:ext cx="304800" cy="304800"/>
          </a:xfrm>
          <a:prstGeom prst="rect">
            <a:avLst/>
          </a:prstGeom>
        </p:spPr>
      </p:pic>
      <p:sp>
        <p:nvSpPr>
          <p:cNvPr name="AutoShape 19" id="19"/>
          <p:cNvSpPr/>
          <p:nvPr/>
        </p:nvSpPr>
        <p:spPr>
          <a:xfrm rot="0" flipH="false" flipV="false">
            <a:off x="1016000" y="45974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经营者闭门圆桌</a:t>
            </a:r>
            <a:endParaRPr lang="en-US" sz="1100"/>
          </a:p>
        </p:txBody>
      </p:sp>
      <p:cxnSp>
        <p:nvCxnSpPr>
          <p:cNvPr name="Connector 20" id="20"/>
          <p:cNvCxnSpPr/>
          <p:nvPr/>
        </p:nvCxnSpPr>
        <p:spPr>
          <a:xfrm rot="-18093" flipH="false" flipV="false">
            <a:off x="635017" y="5073650"/>
            <a:ext cx="2413000" cy="12700"/>
          </a:xfrm>
          <a:prstGeom prst="line">
            <a:avLst/>
          </a:prstGeom>
          <a:solidFill>
            <a:srgbClr val="DEE0E3">
              <a:alpha val="100000"/>
            </a:srgbClr>
          </a:solidFill>
          <a:ln w="12700" cmpd="sng" cap="flat">
            <a:solidFill>
              <a:srgbClr val="E5E7EB">
                <a:alpha val="100000"/>
              </a:srgbClr>
            </a:solidFill>
            <a:prstDash val="dot"/>
            <a:round/>
            <a:headEnd type="none" w="med" len="med"/>
            <a:tailEnd type="none" w="med" len="med"/>
          </a:ln>
        </p:spPr>
      </p:cxnSp>
      <p:sp>
        <p:nvSpPr>
          <p:cNvPr name="AutoShape 21" id="21"/>
          <p:cNvSpPr/>
          <p:nvPr/>
        </p:nvSpPr>
        <p:spPr>
          <a:xfrm rot="0" flipH="false" flipV="false">
            <a:off x="635000" y="5207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B5563"/>
                </a:solidFill>
                <a:latin typeface="Noto Sans SC"/>
                <a:ea typeface="Noto Sans SC"/>
                <a:cs typeface="Noto Sans SC"/>
                <a:sym typeface="Noto Sans SC"/>
              </a:rPr>
              <a:t>门槛：</a:t>
            </a:r>
            <a:r>
              <a:rPr lang="en-US" b="false" i="false" strike="noStrike" u="none" sz="1200">
                <a:solidFill>
                  <a:srgbClr val="6B7280"/>
                </a:solidFill>
                <a:latin typeface="Noto Sans SC"/>
                <a:ea typeface="Noto Sans SC"/>
                <a:cs typeface="Noto Sans SC"/>
                <a:sym typeface="Noto Sans SC"/>
              </a:rPr>
              <a:t>连续消费达标 + 社群积分TOP级排名</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200">
                <a:solidFill>
                  <a:srgbClr val="4B5563"/>
                </a:solidFill>
                <a:latin typeface="Noto Sans SC"/>
                <a:ea typeface="Noto Sans SC"/>
                <a:cs typeface="Noto Sans SC"/>
                <a:sym typeface="Noto Sans SC"/>
              </a:rPr>
              <a:t>目的：</a:t>
            </a:r>
            <a:r>
              <a:rPr lang="en-US" b="false" i="false" strike="noStrike" u="none" sz="1200">
                <a:solidFill>
                  <a:srgbClr val="6B7280"/>
                </a:solidFill>
                <a:latin typeface="Noto Sans SC"/>
                <a:ea typeface="Noto Sans SC"/>
                <a:cs typeface="Noto Sans SC"/>
                <a:sym typeface="Noto Sans SC"/>
              </a:rPr>
              <a:t>近距离对话资深经营者，直观感受真实经营状态与收入结构，建立信任感。</a:t>
            </a:r>
          </a:p>
        </p:txBody>
      </p:sp>
      <p:sp>
        <p:nvSpPr>
          <p:cNvPr name="AutoShape 22" id="22"/>
          <p:cNvSpPr/>
          <p:nvPr/>
        </p:nvSpPr>
        <p:spPr>
          <a:xfrm rot="0" flipH="false" flipV="false">
            <a:off x="3365500" y="4445000"/>
            <a:ext cx="26670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3365500" y="4445000"/>
            <a:ext cx="2667000" cy="508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3492500" y="4635500"/>
            <a:ext cx="304800" cy="304800"/>
          </a:xfrm>
          <a:prstGeom prst="rect">
            <a:avLst/>
          </a:prstGeom>
        </p:spPr>
      </p:pic>
      <p:sp>
        <p:nvSpPr>
          <p:cNvPr name="AutoShape 25" id="25"/>
          <p:cNvSpPr/>
          <p:nvPr/>
        </p:nvSpPr>
        <p:spPr>
          <a:xfrm rot="0" flipH="false" flipV="false">
            <a:off x="3873500" y="45974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一日经营者体验</a:t>
            </a:r>
            <a:endParaRPr lang="en-US" sz="1100"/>
          </a:p>
        </p:txBody>
      </p:sp>
      <p:cxnSp>
        <p:nvCxnSpPr>
          <p:cNvPr name="Connector 26" id="26"/>
          <p:cNvCxnSpPr/>
          <p:nvPr/>
        </p:nvCxnSpPr>
        <p:spPr>
          <a:xfrm rot="-18093" flipH="false" flipV="false">
            <a:off x="3492517" y="5073650"/>
            <a:ext cx="2413000" cy="12700"/>
          </a:xfrm>
          <a:prstGeom prst="line">
            <a:avLst/>
          </a:prstGeom>
          <a:solidFill>
            <a:srgbClr val="DEE0E3">
              <a:alpha val="100000"/>
            </a:srgbClr>
          </a:solidFill>
          <a:ln w="12700" cmpd="sng" cap="flat">
            <a:solidFill>
              <a:srgbClr val="E5E7EB">
                <a:alpha val="100000"/>
              </a:srgbClr>
            </a:solidFill>
            <a:prstDash val="dot"/>
            <a:round/>
            <a:headEnd type="none" w="med" len="med"/>
            <a:tailEnd type="none" w="med" len="med"/>
          </a:ln>
        </p:spPr>
      </p:cxnSp>
      <p:sp>
        <p:nvSpPr>
          <p:cNvPr name="AutoShape 27" id="27"/>
          <p:cNvSpPr/>
          <p:nvPr/>
        </p:nvSpPr>
        <p:spPr>
          <a:xfrm rot="0" flipH="false" flipV="false">
            <a:off x="3492500" y="5207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B5563"/>
                </a:solidFill>
                <a:latin typeface="Noto Sans SC"/>
                <a:ea typeface="Noto Sans SC"/>
                <a:cs typeface="Noto Sans SC"/>
                <a:sym typeface="Noto Sans SC"/>
              </a:rPr>
              <a:t>门槛：</a:t>
            </a:r>
            <a:r>
              <a:rPr lang="en-US" b="false" i="false" strike="noStrike" u="none" sz="1200">
                <a:solidFill>
                  <a:srgbClr val="6B7280"/>
                </a:solidFill>
                <a:latin typeface="Noto Sans SC"/>
                <a:ea typeface="Noto Sans SC"/>
                <a:cs typeface="Noto Sans SC"/>
                <a:sym typeface="Noto Sans SC"/>
              </a:rPr>
              <a:t>消费达标 + 成功自主推荐新会员入驻</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200">
                <a:solidFill>
                  <a:srgbClr val="4B5563"/>
                </a:solidFill>
                <a:latin typeface="Noto Sans SC"/>
                <a:ea typeface="Noto Sans SC"/>
                <a:cs typeface="Noto Sans SC"/>
                <a:sym typeface="Noto Sans SC"/>
              </a:rPr>
              <a:t>目的：</a:t>
            </a:r>
            <a:r>
              <a:rPr lang="en-US" b="false" i="false" strike="noStrike" u="none" sz="1200">
                <a:solidFill>
                  <a:srgbClr val="6B7280"/>
                </a:solidFill>
                <a:latin typeface="Noto Sans SC"/>
                <a:ea typeface="Noto Sans SC"/>
                <a:cs typeface="Noto Sans SC"/>
                <a:sym typeface="Noto Sans SC"/>
              </a:rPr>
              <a:t>沉浸式参与真实业务流程，亲身体验日常工作节奏，降低认知门槛，激发参与欲。</a:t>
            </a:r>
          </a:p>
        </p:txBody>
      </p:sp>
      <p:sp>
        <p:nvSpPr>
          <p:cNvPr name="AutoShape 28" id="28"/>
          <p:cNvSpPr/>
          <p:nvPr/>
        </p:nvSpPr>
        <p:spPr>
          <a:xfrm rot="0" flipH="false" flipV="false">
            <a:off x="6223000" y="4445000"/>
            <a:ext cx="26670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223000" y="4445000"/>
            <a:ext cx="2667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0" id="3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350000" y="4635500"/>
            <a:ext cx="304800" cy="304800"/>
          </a:xfrm>
          <a:prstGeom prst="rect">
            <a:avLst/>
          </a:prstGeom>
        </p:spPr>
      </p:pic>
      <p:sp>
        <p:nvSpPr>
          <p:cNvPr name="AutoShape 31" id="31"/>
          <p:cNvSpPr/>
          <p:nvPr/>
        </p:nvSpPr>
        <p:spPr>
          <a:xfrm rot="0" flipH="false" flipV="false">
            <a:off x="6731000" y="45974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事业拆解分享会</a:t>
            </a:r>
            <a:endParaRPr lang="en-US" sz="1100"/>
          </a:p>
        </p:txBody>
      </p:sp>
      <p:cxnSp>
        <p:nvCxnSpPr>
          <p:cNvPr name="Connector 32" id="32"/>
          <p:cNvCxnSpPr/>
          <p:nvPr/>
        </p:nvCxnSpPr>
        <p:spPr>
          <a:xfrm rot="-18093" flipH="false" flipV="false">
            <a:off x="6350017" y="5073650"/>
            <a:ext cx="2413000" cy="12700"/>
          </a:xfrm>
          <a:prstGeom prst="line">
            <a:avLst/>
          </a:prstGeom>
          <a:solidFill>
            <a:srgbClr val="DEE0E3">
              <a:alpha val="100000"/>
            </a:srgbClr>
          </a:solidFill>
          <a:ln w="12700" cmpd="sng" cap="flat">
            <a:solidFill>
              <a:srgbClr val="E5E7EB">
                <a:alpha val="100000"/>
              </a:srgbClr>
            </a:solidFill>
            <a:prstDash val="dot"/>
            <a:round/>
            <a:headEnd type="none" w="med" len="med"/>
            <a:tailEnd type="none" w="med" len="med"/>
          </a:ln>
        </p:spPr>
      </p:cxnSp>
      <p:sp>
        <p:nvSpPr>
          <p:cNvPr name="AutoShape 33" id="33"/>
          <p:cNvSpPr/>
          <p:nvPr/>
        </p:nvSpPr>
        <p:spPr>
          <a:xfrm rot="0" flipH="false" flipV="false">
            <a:off x="6350000" y="5207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B5563"/>
                </a:solidFill>
                <a:latin typeface="Noto Sans SC"/>
                <a:ea typeface="Noto Sans SC"/>
                <a:cs typeface="Noto Sans SC"/>
                <a:sym typeface="Noto Sans SC"/>
              </a:rPr>
              <a:t>门槛：</a:t>
            </a:r>
            <a:r>
              <a:rPr lang="en-US" b="false" i="false" strike="noStrike" u="none" sz="1200">
                <a:solidFill>
                  <a:srgbClr val="6B7280"/>
                </a:solidFill>
                <a:latin typeface="Noto Sans SC"/>
                <a:ea typeface="Noto Sans SC"/>
                <a:cs typeface="Noto Sans SC"/>
                <a:sym typeface="Noto Sans SC"/>
              </a:rPr>
              <a:t>自愿报名 + 严格名额上限（制造稀缺）</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200">
                <a:solidFill>
                  <a:srgbClr val="4B5563"/>
                </a:solidFill>
                <a:latin typeface="Noto Sans SC"/>
                <a:ea typeface="Noto Sans SC"/>
                <a:cs typeface="Noto Sans SC"/>
                <a:sym typeface="Noto Sans SC"/>
              </a:rPr>
              <a:t>目的：</a:t>
            </a:r>
            <a:r>
              <a:rPr lang="en-US" b="false" i="false" strike="noStrike" u="none" sz="1200">
                <a:solidFill>
                  <a:srgbClr val="6B7280"/>
                </a:solidFill>
                <a:latin typeface="Noto Sans SC"/>
                <a:ea typeface="Noto Sans SC"/>
                <a:cs typeface="Noto Sans SC"/>
                <a:sym typeface="Noto Sans SC"/>
              </a:rPr>
              <a:t>系统化、专业化讲解商业模式、收入构成与清晰的晋升路径，建立长远规划信心。</a:t>
            </a:r>
          </a:p>
        </p:txBody>
      </p:sp>
      <p:sp>
        <p:nvSpPr>
          <p:cNvPr name="AutoShape 34" id="34"/>
          <p:cNvSpPr/>
          <p:nvPr/>
        </p:nvSpPr>
        <p:spPr>
          <a:xfrm rot="0" flipH="false" flipV="false">
            <a:off x="9080500" y="4445000"/>
            <a:ext cx="2667000" cy="2032000"/>
          </a:xfrm>
          <a:prstGeom prst="roundRect">
            <a:avLst>
              <a:gd name="adj" fmla="val 0"/>
            </a:avLst>
          </a:prstGeom>
          <a:solidFill>
            <a:srgbClr val="F9FAFB">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9080500" y="4445000"/>
            <a:ext cx="2667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6" id="36"/>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207500" y="4635500"/>
            <a:ext cx="304800" cy="304800"/>
          </a:xfrm>
          <a:prstGeom prst="rect">
            <a:avLst/>
          </a:prstGeom>
        </p:spPr>
      </p:pic>
      <p:sp>
        <p:nvSpPr>
          <p:cNvPr name="AutoShape 37" id="37"/>
          <p:cNvSpPr/>
          <p:nvPr/>
        </p:nvSpPr>
        <p:spPr>
          <a:xfrm rot="0" flipH="false" flipV="false">
            <a:off x="9588500" y="4597400"/>
            <a:ext cx="203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F2937"/>
                </a:solidFill>
                <a:latin typeface="Noto Sans SC"/>
                <a:ea typeface="Noto Sans SC"/>
                <a:cs typeface="Noto Sans SC"/>
                <a:sym typeface="Noto Sans SC"/>
              </a:rPr>
              <a:t>FTT挑战观摩团</a:t>
            </a:r>
            <a:endParaRPr lang="en-US" sz="1100"/>
          </a:p>
        </p:txBody>
      </p:sp>
      <p:cxnSp>
        <p:nvCxnSpPr>
          <p:cNvPr name="Connector 38" id="38"/>
          <p:cNvCxnSpPr/>
          <p:nvPr/>
        </p:nvCxnSpPr>
        <p:spPr>
          <a:xfrm rot="-18093" flipH="false" flipV="false">
            <a:off x="9207517" y="5073650"/>
            <a:ext cx="2413000" cy="12700"/>
          </a:xfrm>
          <a:prstGeom prst="line">
            <a:avLst/>
          </a:prstGeom>
          <a:solidFill>
            <a:srgbClr val="DEE0E3">
              <a:alpha val="100000"/>
            </a:srgbClr>
          </a:solidFill>
          <a:ln w="12700" cmpd="sng" cap="flat">
            <a:solidFill>
              <a:srgbClr val="E5E7EB">
                <a:alpha val="100000"/>
              </a:srgbClr>
            </a:solidFill>
            <a:prstDash val="dot"/>
            <a:round/>
            <a:headEnd type="none" w="med" len="med"/>
            <a:tailEnd type="none" w="med" len="med"/>
          </a:ln>
        </p:spPr>
      </p:cxnSp>
      <p:sp>
        <p:nvSpPr>
          <p:cNvPr name="AutoShape 39" id="39"/>
          <p:cNvSpPr/>
          <p:nvPr/>
        </p:nvSpPr>
        <p:spPr>
          <a:xfrm rot="0" flipH="false" flipV="false">
            <a:off x="9207500" y="5207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4B5563"/>
                </a:solidFill>
                <a:latin typeface="Noto Sans SC"/>
                <a:ea typeface="Noto Sans SC"/>
                <a:cs typeface="Noto Sans SC"/>
                <a:sym typeface="Noto Sans SC"/>
              </a:rPr>
              <a:t>门槛：</a:t>
            </a:r>
            <a:r>
              <a:rPr lang="en-US" b="false" i="false" strike="noStrike" u="none" sz="1200">
                <a:solidFill>
                  <a:srgbClr val="6B7280"/>
                </a:solidFill>
                <a:latin typeface="Noto Sans SC"/>
                <a:ea typeface="Noto Sans SC"/>
                <a:cs typeface="Noto Sans SC"/>
                <a:sym typeface="Noto Sans SC"/>
              </a:rPr>
              <a:t>积分兑换门票 + 消费达标 + 活跃度评选</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true" i="false" strike="noStrike" u="none" sz="1200">
                <a:solidFill>
                  <a:srgbClr val="4B5563"/>
                </a:solidFill>
                <a:latin typeface="Noto Sans SC"/>
                <a:ea typeface="Noto Sans SC"/>
                <a:cs typeface="Noto Sans SC"/>
                <a:sym typeface="Noto Sans SC"/>
              </a:rPr>
              <a:t>目的：</a:t>
            </a:r>
            <a:r>
              <a:rPr lang="en-US" b="false" i="false" strike="noStrike" u="none" sz="1200">
                <a:solidFill>
                  <a:srgbClr val="6B7280"/>
                </a:solidFill>
                <a:latin typeface="Noto Sans SC"/>
                <a:ea typeface="Noto Sans SC"/>
                <a:cs typeface="Noto Sans SC"/>
                <a:sym typeface="Noto Sans SC"/>
              </a:rPr>
              <a:t>实地观摩顶级团队挑战现场，直观感受公司实力与团队氛围，强化归属感与荣誉感。</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329"/>
                </a:solidFill>
                <a:latin typeface="Noto Sans SC"/>
                <a:ea typeface="Noto Sans SC"/>
                <a:cs typeface="Noto Sans SC"/>
                <a:sym typeface="Noto Sans SC"/>
              </a:rPr>
              <a:t>第二层：产品深度体验馆</a:t>
            </a:r>
            <a:endParaRPr lang="en-US" sz="1100"/>
          </a:p>
        </p:txBody>
      </p:sp>
      <p:sp>
        <p:nvSpPr>
          <p:cNvPr name="AutoShape 3" id="3"/>
          <p:cNvSpPr/>
          <p:nvPr/>
        </p:nvSpPr>
        <p:spPr>
          <a:xfrm rot="0" flipH="false" flipV="false">
            <a:off x="508000" y="952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46A73"/>
                </a:solidFill>
                <a:latin typeface="Noto Sans SC"/>
                <a:ea typeface="Noto Sans SC"/>
                <a:cs typeface="Noto Sans SC"/>
                <a:sym typeface="Noto Sans SC"/>
              </a:rPr>
              <a:t>按产品类型的场景化空间，打造沉浸式、专业化的产品体验闭环</a:t>
            </a:r>
            <a:endParaRPr lang="en-US" sz="1100"/>
          </a:p>
        </p:txBody>
      </p:sp>
      <p:cxnSp>
        <p:nvCxnSpPr>
          <p:cNvPr name="Connector 4" id="4"/>
          <p:cNvCxnSpPr/>
          <p:nvPr/>
        </p:nvCxnSpPr>
        <p:spPr>
          <a:xfrm rot="-3906" flipH="false" flipV="false">
            <a:off x="508004" y="1517650"/>
            <a:ext cx="11176000" cy="12700"/>
          </a:xfrm>
          <a:prstGeom prst="straightConnector1">
            <a:avLst/>
          </a:prstGeom>
          <a:solidFill>
            <a:srgbClr val="DEE0E3">
              <a:alpha val="100000"/>
            </a:srgbClr>
          </a:solidFill>
          <a:ln w="12700" cmpd="sng" cap="flat">
            <a:solidFill>
              <a:srgbClr val="1F2329">
                <a:alpha val="10000"/>
              </a:srgbClr>
            </a:solidFill>
            <a:prstDash val="solid"/>
            <a:round/>
            <a:headEnd type="none" w="med" len="med"/>
            <a:tailEnd type="none" w="med" len="med"/>
          </a:ln>
        </p:spPr>
      </p:cxnSp>
      <p:sp>
        <p:nvSpPr>
          <p:cNvPr name="AutoShape 5" id="5"/>
          <p:cNvSpPr/>
          <p:nvPr/>
        </p:nvSpPr>
        <p:spPr>
          <a:xfrm rot="0" flipH="false" flipV="false">
            <a:off x="508000" y="1905000"/>
            <a:ext cx="2667000" cy="4191000"/>
          </a:xfrm>
          <a:prstGeom prst="roundRect">
            <a:avLst>
              <a:gd name="adj" fmla="val 0"/>
            </a:avLst>
          </a:prstGeom>
          <a:solidFill>
            <a:srgbClr val="FFFFFF">
              <a:alpha val="100000"/>
            </a:srgbClr>
          </a:solidFill>
          <a:ln w="12700" cmpd="sng" cap="flat">
            <a:solidFill>
              <a:srgbClr val="9370DB">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905000"/>
            <a:ext cx="2667000" cy="76200"/>
          </a:xfrm>
          <a:prstGeom prst="roundRect">
            <a:avLst>
              <a:gd name="adj" fmla="val 0"/>
            </a:avLst>
          </a:prstGeom>
          <a:solidFill>
            <a:srgbClr val="9370D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222500"/>
            <a:ext cx="355600" cy="355600"/>
          </a:xfrm>
          <a:prstGeom prst="rect">
            <a:avLst/>
          </a:prstGeom>
        </p:spPr>
      </p:pic>
      <p:sp>
        <p:nvSpPr>
          <p:cNvPr name="AutoShape 8" id="8"/>
          <p:cNvSpPr/>
          <p:nvPr/>
        </p:nvSpPr>
        <p:spPr>
          <a:xfrm rot="0" flipH="false" flipV="false">
            <a:off x="1143000" y="2184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香氛与精油体验馆</a:t>
            </a:r>
            <a:endParaRPr lang="en-US" sz="1100"/>
          </a:p>
        </p:txBody>
      </p:sp>
      <p:cxnSp>
        <p:nvCxnSpPr>
          <p:cNvPr name="Connector 9" id="9"/>
          <p:cNvCxnSpPr/>
          <p:nvPr/>
        </p:nvCxnSpPr>
        <p:spPr>
          <a:xfrm rot="-19098" flipH="false" flipV="false">
            <a:off x="698518" y="2787650"/>
            <a:ext cx="2286000" cy="12700"/>
          </a:xfrm>
          <a:prstGeom prst="straightConnector1">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0" id="10"/>
          <p:cNvSpPr/>
          <p:nvPr/>
        </p:nvSpPr>
        <p:spPr>
          <a:xfrm rot="0" flipH="false" flipV="false">
            <a:off x="635000" y="29845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9370DB"/>
                </a:solidFill>
                <a:latin typeface="Noto Sans SC"/>
                <a:ea typeface="Noto Sans SC"/>
                <a:cs typeface="Noto Sans SC"/>
                <a:sym typeface="Noto Sans SC"/>
              </a:rPr>
              <a:t>▌核心产品矩阵</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涵盖纯质精油系列、香氛水氧机、茶树精油等全线产品，严选天然植萃原料。</a:t>
            </a:r>
          </a:p>
        </p:txBody>
      </p:sp>
      <p:sp>
        <p:nvSpPr>
          <p:cNvPr name="AutoShape 11" id="11"/>
          <p:cNvSpPr/>
          <p:nvPr/>
        </p:nvSpPr>
        <p:spPr>
          <a:xfrm rot="0" flipH="false" flipV="false">
            <a:off x="635000" y="4191000"/>
            <a:ext cx="241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9370DB"/>
                </a:solidFill>
                <a:latin typeface="Noto Sans SC"/>
                <a:ea typeface="Noto Sans SC"/>
                <a:cs typeface="Noto Sans SC"/>
                <a:sym typeface="Noto Sans SC"/>
              </a:rPr>
              <a:t>▌沉浸式体验内容</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开设精油知识课程，提供个人香氛调配DIY、芳疗放松体验及精油手作工坊。</a:t>
            </a:r>
          </a:p>
        </p:txBody>
      </p:sp>
      <p:sp>
        <p:nvSpPr>
          <p:cNvPr name="AutoShape 12" id="12"/>
          <p:cNvSpPr/>
          <p:nvPr/>
        </p:nvSpPr>
        <p:spPr>
          <a:xfrm rot="0" flipH="false" flipV="false">
            <a:off x="571500" y="5524500"/>
            <a:ext cx="2540000" cy="508000"/>
          </a:xfrm>
          <a:prstGeom prst="roundRect">
            <a:avLst>
              <a:gd name="adj" fmla="val 0"/>
            </a:avLst>
          </a:prstGeom>
          <a:solidFill>
            <a:srgbClr val="9370D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 y="5588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6A4C93"/>
                </a:solidFill>
                <a:latin typeface="Noto Sans SC"/>
                <a:ea typeface="Noto Sans SC"/>
                <a:cs typeface="Noto Sans SC"/>
                <a:sym typeface="Noto Sans SC"/>
              </a:rPr>
              <a:t>目标：追求生活品质、注重身心疗愈的精致女性群体</a:t>
            </a:r>
            <a:endParaRPr lang="en-US" sz="1100"/>
          </a:p>
        </p:txBody>
      </p:sp>
      <p:sp>
        <p:nvSpPr>
          <p:cNvPr name="AutoShape 14" id="14"/>
          <p:cNvSpPr/>
          <p:nvPr/>
        </p:nvSpPr>
        <p:spPr>
          <a:xfrm rot="0" flipH="false" flipV="false">
            <a:off x="3429000" y="1905000"/>
            <a:ext cx="2667000" cy="4191000"/>
          </a:xfrm>
          <a:prstGeom prst="roundRect">
            <a:avLst>
              <a:gd name="adj" fmla="val 0"/>
            </a:avLst>
          </a:prstGeom>
          <a:solidFill>
            <a:srgbClr val="FFFFFF">
              <a:alpha val="100000"/>
            </a:srgbClr>
          </a:solidFill>
          <a:ln w="12700" cmpd="sng" cap="flat">
            <a:solidFill>
              <a:srgbClr val="E91E63">
                <a:alpha val="2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3429000" y="1905000"/>
            <a:ext cx="2667000" cy="76200"/>
          </a:xfrm>
          <a:prstGeom prst="roundRect">
            <a:avLst>
              <a:gd name="adj" fmla="val 0"/>
            </a:avLst>
          </a:prstGeom>
          <a:solidFill>
            <a:srgbClr val="E91E6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619500" y="2222500"/>
            <a:ext cx="355600" cy="355600"/>
          </a:xfrm>
          <a:prstGeom prst="rect">
            <a:avLst/>
          </a:prstGeom>
        </p:spPr>
      </p:pic>
      <p:sp>
        <p:nvSpPr>
          <p:cNvPr name="AutoShape 17" id="17"/>
          <p:cNvSpPr/>
          <p:nvPr/>
        </p:nvSpPr>
        <p:spPr>
          <a:xfrm rot="0" flipH="false" flipV="false">
            <a:off x="4064000" y="2184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美妆护肤科技体验馆</a:t>
            </a:r>
            <a:endParaRPr lang="en-US" sz="1100"/>
          </a:p>
        </p:txBody>
      </p:sp>
      <p:cxnSp>
        <p:nvCxnSpPr>
          <p:cNvPr name="Connector 18" id="18"/>
          <p:cNvCxnSpPr/>
          <p:nvPr/>
        </p:nvCxnSpPr>
        <p:spPr>
          <a:xfrm rot="-19098" flipH="false" flipV="false">
            <a:off x="3619518" y="2787650"/>
            <a:ext cx="2286000" cy="12700"/>
          </a:xfrm>
          <a:prstGeom prst="straightConnector1">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9" id="19"/>
          <p:cNvSpPr/>
          <p:nvPr/>
        </p:nvSpPr>
        <p:spPr>
          <a:xfrm rot="0" flipH="false" flipV="false">
            <a:off x="3556000" y="29845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91E63"/>
                </a:solidFill>
                <a:latin typeface="Noto Sans SC"/>
                <a:ea typeface="Noto Sans SC"/>
                <a:cs typeface="Noto Sans SC"/>
                <a:sym typeface="Noto Sans SC"/>
              </a:rPr>
              <a:t>▌核心产品矩阵</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水·贝娜奢养系列、专业沙龙美发产品、自然轻妆彩妆线，主打科技护肤理念。</a:t>
            </a:r>
          </a:p>
        </p:txBody>
      </p:sp>
      <p:sp>
        <p:nvSpPr>
          <p:cNvPr name="AutoShape 20" id="20"/>
          <p:cNvSpPr/>
          <p:nvPr/>
        </p:nvSpPr>
        <p:spPr>
          <a:xfrm rot="0" flipH="false" flipV="false">
            <a:off x="3556000" y="4191000"/>
            <a:ext cx="241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91E63"/>
                </a:solidFill>
                <a:latin typeface="Noto Sans SC"/>
                <a:ea typeface="Noto Sans SC"/>
                <a:cs typeface="Noto Sans SC"/>
                <a:sym typeface="Noto Sans SC"/>
              </a:rPr>
              <a:t>▌科技化体验内容</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AI皮肤检测+定制护肤流程，高端美容仪器实操体验，建立长期肤质改善追踪档案。</a:t>
            </a:r>
          </a:p>
        </p:txBody>
      </p:sp>
      <p:sp>
        <p:nvSpPr>
          <p:cNvPr name="AutoShape 21" id="21"/>
          <p:cNvSpPr/>
          <p:nvPr/>
        </p:nvSpPr>
        <p:spPr>
          <a:xfrm rot="0" flipH="false" flipV="false">
            <a:off x="3492500" y="5524500"/>
            <a:ext cx="2540000" cy="508000"/>
          </a:xfrm>
          <a:prstGeom prst="roundRect">
            <a:avLst>
              <a:gd name="adj" fmla="val 0"/>
            </a:avLst>
          </a:prstGeom>
          <a:solidFill>
            <a:srgbClr val="E91E63">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3556000" y="5588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C2185B"/>
                </a:solidFill>
                <a:latin typeface="Noto Sans SC"/>
                <a:ea typeface="Noto Sans SC"/>
                <a:cs typeface="Noto Sans SC"/>
                <a:sym typeface="Noto Sans SC"/>
              </a:rPr>
              <a:t>目标：25-55岁关注抗衰、追求专业护肤方案的成熟女性</a:t>
            </a:r>
            <a:endParaRPr lang="en-US" sz="1100"/>
          </a:p>
        </p:txBody>
      </p:sp>
      <p:sp>
        <p:nvSpPr>
          <p:cNvPr name="AutoShape 23" id="23"/>
          <p:cNvSpPr/>
          <p:nvPr/>
        </p:nvSpPr>
        <p:spPr>
          <a:xfrm rot="0" flipH="false" flipV="false">
            <a:off x="6350000" y="1905000"/>
            <a:ext cx="2667000" cy="4191000"/>
          </a:xfrm>
          <a:prstGeom prst="roundRect">
            <a:avLst>
              <a:gd name="adj" fmla="val 0"/>
            </a:avLst>
          </a:prstGeom>
          <a:solidFill>
            <a:srgbClr val="FFFFFF">
              <a:alpha val="100000"/>
            </a:srgbClr>
          </a:solidFill>
          <a:ln w="12700" cmpd="sng" cap="flat">
            <a:solidFill>
              <a:srgbClr val="2E7D32">
                <a:alpha val="2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350000" y="1905000"/>
            <a:ext cx="2667000" cy="76200"/>
          </a:xfrm>
          <a:prstGeom prst="roundRect">
            <a:avLst>
              <a:gd name="adj" fmla="val 0"/>
            </a:avLst>
          </a:prstGeom>
          <a:solidFill>
            <a:srgbClr val="2E7D3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2222500"/>
            <a:ext cx="355600" cy="355600"/>
          </a:xfrm>
          <a:prstGeom prst="rect">
            <a:avLst/>
          </a:prstGeom>
        </p:spPr>
      </p:pic>
      <p:sp>
        <p:nvSpPr>
          <p:cNvPr name="AutoShape 26" id="26"/>
          <p:cNvSpPr/>
          <p:nvPr/>
        </p:nvSpPr>
        <p:spPr>
          <a:xfrm rot="0" flipH="false" flipV="false">
            <a:off x="6985000" y="2184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健康生活与运动营养馆</a:t>
            </a:r>
            <a:endParaRPr lang="en-US" sz="1100"/>
          </a:p>
        </p:txBody>
      </p:sp>
      <p:cxnSp>
        <p:nvCxnSpPr>
          <p:cNvPr name="Connector 27" id="27"/>
          <p:cNvCxnSpPr/>
          <p:nvPr/>
        </p:nvCxnSpPr>
        <p:spPr>
          <a:xfrm rot="-19098" flipH="false" flipV="false">
            <a:off x="6540518" y="2787650"/>
            <a:ext cx="2286000" cy="12700"/>
          </a:xfrm>
          <a:prstGeom prst="straightConnector1">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28" id="28"/>
          <p:cNvSpPr/>
          <p:nvPr/>
        </p:nvSpPr>
        <p:spPr>
          <a:xfrm rot="0" flipH="false" flipV="false">
            <a:off x="6477000" y="29845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2E7D32"/>
                </a:solidFill>
                <a:latin typeface="Noto Sans SC"/>
                <a:ea typeface="Noto Sans SC"/>
                <a:cs typeface="Noto Sans SC"/>
                <a:sym typeface="Noto Sans SC"/>
              </a:rPr>
              <a:t>▌核心产品矩阵</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全系列营养辅助食品、复源力蛋白粉、科学体型管理方案及代餐产品。</a:t>
            </a:r>
          </a:p>
        </p:txBody>
      </p:sp>
      <p:sp>
        <p:nvSpPr>
          <p:cNvPr name="AutoShape 29" id="29"/>
          <p:cNvSpPr/>
          <p:nvPr/>
        </p:nvSpPr>
        <p:spPr>
          <a:xfrm rot="0" flipH="false" flipV="false">
            <a:off x="6477000" y="4191000"/>
            <a:ext cx="241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2E7D32"/>
                </a:solidFill>
                <a:latin typeface="Noto Sans SC"/>
                <a:ea typeface="Noto Sans SC"/>
                <a:cs typeface="Noto Sans SC"/>
                <a:sym typeface="Noto Sans SC"/>
              </a:rPr>
              <a:t>▌互动化体验内容</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专业体测分析生成私人营养方案，定期举办运动课程、社群减脂挑战营活动。</a:t>
            </a:r>
          </a:p>
        </p:txBody>
      </p:sp>
      <p:sp>
        <p:nvSpPr>
          <p:cNvPr name="AutoShape 30" id="30"/>
          <p:cNvSpPr/>
          <p:nvPr/>
        </p:nvSpPr>
        <p:spPr>
          <a:xfrm rot="0" flipH="false" flipV="false">
            <a:off x="6413500" y="5524500"/>
            <a:ext cx="2540000" cy="508000"/>
          </a:xfrm>
          <a:prstGeom prst="roundRect">
            <a:avLst>
              <a:gd name="adj" fmla="val 0"/>
            </a:avLst>
          </a:prstGeom>
          <a:solidFill>
            <a:srgbClr val="2E7D32">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477000" y="5588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1B5E20"/>
                </a:solidFill>
                <a:latin typeface="Noto Sans SC"/>
                <a:ea typeface="Noto Sans SC"/>
                <a:cs typeface="Noto Sans SC"/>
                <a:sym typeface="Noto Sans SC"/>
              </a:rPr>
              <a:t>目标：关注健康体态、科学减脂的年轻男女及健身爱好者</a:t>
            </a:r>
            <a:endParaRPr lang="en-US" sz="1100"/>
          </a:p>
        </p:txBody>
      </p:sp>
      <p:sp>
        <p:nvSpPr>
          <p:cNvPr name="AutoShape 32" id="32"/>
          <p:cNvSpPr/>
          <p:nvPr/>
        </p:nvSpPr>
        <p:spPr>
          <a:xfrm rot="0" flipH="false" flipV="false">
            <a:off x="9207500" y="1905000"/>
            <a:ext cx="2667000" cy="4191000"/>
          </a:xfrm>
          <a:prstGeom prst="roundRect">
            <a:avLst>
              <a:gd name="adj" fmla="val 0"/>
            </a:avLst>
          </a:prstGeom>
          <a:solidFill>
            <a:srgbClr val="FFFFFF">
              <a:alpha val="100000"/>
            </a:srgbClr>
          </a:solidFill>
          <a:ln w="12700" cmpd="sng" cap="flat">
            <a:solidFill>
              <a:srgbClr val="2196F3">
                <a:alpha val="2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9207500" y="1905000"/>
            <a:ext cx="2667000" cy="76200"/>
          </a:xfrm>
          <a:prstGeom prst="roundRect">
            <a:avLst>
              <a:gd name="adj" fmla="val 0"/>
            </a:avLst>
          </a:prstGeom>
          <a:solidFill>
            <a:srgbClr val="2196F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398000" y="2222500"/>
            <a:ext cx="355600" cy="355600"/>
          </a:xfrm>
          <a:prstGeom prst="rect">
            <a:avLst/>
          </a:prstGeom>
        </p:spPr>
      </p:pic>
      <p:sp>
        <p:nvSpPr>
          <p:cNvPr name="AutoShape 35" id="35"/>
          <p:cNvSpPr/>
          <p:nvPr/>
        </p:nvSpPr>
        <p:spPr>
          <a:xfrm rot="0" flipH="false" flipV="false">
            <a:off x="9842500" y="21844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居家清洁与生活美学馆</a:t>
            </a:r>
            <a:endParaRPr lang="en-US" sz="1100"/>
          </a:p>
        </p:txBody>
      </p:sp>
      <p:cxnSp>
        <p:nvCxnSpPr>
          <p:cNvPr name="Connector 36" id="36"/>
          <p:cNvCxnSpPr/>
          <p:nvPr/>
        </p:nvCxnSpPr>
        <p:spPr>
          <a:xfrm rot="-19098" flipH="false" flipV="false">
            <a:off x="9398018" y="2787650"/>
            <a:ext cx="2286000" cy="12700"/>
          </a:xfrm>
          <a:prstGeom prst="straightConnector1">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37" id="37"/>
          <p:cNvSpPr/>
          <p:nvPr/>
        </p:nvSpPr>
        <p:spPr>
          <a:xfrm rot="0" flipH="false" flipV="false">
            <a:off x="9334500" y="2984500"/>
            <a:ext cx="2413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2196F3"/>
                </a:solidFill>
                <a:latin typeface="Noto Sans SC"/>
                <a:ea typeface="Noto Sans SC"/>
                <a:cs typeface="Noto Sans SC"/>
                <a:sym typeface="Noto Sans SC"/>
              </a:rPr>
              <a:t>▌核心产品矩阵</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新净界清洁系列、植物清香喷剂、9倍浓缩洗衣精，主打环保与高效清洁。</a:t>
            </a:r>
          </a:p>
        </p:txBody>
      </p:sp>
      <p:sp>
        <p:nvSpPr>
          <p:cNvPr name="AutoShape 38" id="38"/>
          <p:cNvSpPr/>
          <p:nvPr/>
        </p:nvSpPr>
        <p:spPr>
          <a:xfrm rot="0" flipH="false" flipV="false">
            <a:off x="9334500" y="4191000"/>
            <a:ext cx="241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2196F3"/>
                </a:solidFill>
                <a:latin typeface="Noto Sans SC"/>
                <a:ea typeface="Noto Sans SC"/>
                <a:cs typeface="Noto Sans SC"/>
                <a:sym typeface="Noto Sans SC"/>
              </a:rPr>
              <a:t>▌场景化体验内容</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555555"/>
                </a:solidFill>
                <a:latin typeface="Noto Sans SC"/>
                <a:ea typeface="Noto Sans SC"/>
                <a:cs typeface="Noto Sans SC"/>
                <a:sym typeface="Noto Sans SC"/>
              </a:rPr>
              <a:t>现场进行产品清洁力对比实测，展示全屋清洁解决方案及收纳与居家美学课程。</a:t>
            </a:r>
          </a:p>
        </p:txBody>
      </p:sp>
      <p:sp>
        <p:nvSpPr>
          <p:cNvPr name="AutoShape 39" id="39"/>
          <p:cNvSpPr/>
          <p:nvPr/>
        </p:nvSpPr>
        <p:spPr>
          <a:xfrm rot="0" flipH="false" flipV="false">
            <a:off x="9271000" y="5524500"/>
            <a:ext cx="2540000" cy="508000"/>
          </a:xfrm>
          <a:prstGeom prst="roundRect">
            <a:avLst>
              <a:gd name="adj" fmla="val 0"/>
            </a:avLst>
          </a:prstGeom>
          <a:solidFill>
            <a:srgbClr val="2196F3">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9334500" y="5588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0D47A1"/>
                </a:solidFill>
                <a:latin typeface="Noto Sans SC"/>
                <a:ea typeface="Noto Sans SC"/>
                <a:cs typeface="Noto Sans SC"/>
                <a:sym typeface="Noto Sans SC"/>
              </a:rPr>
              <a:t>目标：家庭主妇、关注居家环境健康与品质生活的人群</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3A8A"/>
                </a:solidFill>
                <a:latin typeface="Noto Sans SC"/>
                <a:ea typeface="Noto Sans SC"/>
                <a:cs typeface="Noto Sans SC"/>
                <a:sym typeface="Noto Sans SC"/>
              </a:rPr>
              <a:t>第三层：运营中枢——MelBeacon综合功能空间</a:t>
            </a:r>
            <a:endParaRPr lang="en-US" sz="1100"/>
          </a:p>
        </p:txBody>
      </p:sp>
      <p:cxnSp>
        <p:nvCxnSpPr>
          <p:cNvPr name="Connector 3" id="3"/>
          <p:cNvCxnSpPr/>
          <p:nvPr/>
        </p:nvCxnSpPr>
        <p:spPr>
          <a:xfrm rot="-3906" flipH="false" flipV="false">
            <a:off x="508004" y="1136650"/>
            <a:ext cx="11176000" cy="12700"/>
          </a:xfrm>
          <a:prstGeom prst="straightConnector1">
            <a:avLst/>
          </a:prstGeom>
          <a:solidFill>
            <a:srgbClr val="DEE0E3">
              <a:alpha val="100000"/>
            </a:srgbClr>
          </a:solidFill>
          <a:ln w="12700" cmpd="sng" cap="flat">
            <a:solidFill>
              <a:srgbClr val="1E3A8A">
                <a:alpha val="15000"/>
              </a:srgbClr>
            </a:solidFill>
            <a:prstDash val="solid"/>
            <a:round/>
            <a:headEnd type="none" w="med" len="med"/>
            <a:tailEnd type="none" w="med" len="med"/>
          </a:ln>
        </p:spPr>
      </p:cxnSp>
      <p:sp>
        <p:nvSpPr>
          <p:cNvPr name="AutoShape 4" id="4"/>
          <p:cNvSpPr/>
          <p:nvPr/>
        </p:nvSpPr>
        <p:spPr>
          <a:xfrm rot="0" flipH="false" flipV="false">
            <a:off x="508000" y="1524000"/>
            <a:ext cx="2286000" cy="22225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524000"/>
            <a:ext cx="2286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60400" y="1714500"/>
            <a:ext cx="304800" cy="304800"/>
          </a:xfrm>
          <a:prstGeom prst="rect">
            <a:avLst/>
          </a:prstGeom>
        </p:spPr>
      </p:pic>
      <p:sp>
        <p:nvSpPr>
          <p:cNvPr name="AutoShape 7" id="7"/>
          <p:cNvSpPr/>
          <p:nvPr/>
        </p:nvSpPr>
        <p:spPr>
          <a:xfrm rot="0" flipH="false" flipV="false">
            <a:off x="1041400" y="1676400"/>
            <a:ext cx="165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会议与培训空间</a:t>
            </a:r>
            <a:endParaRPr lang="en-US" sz="1100"/>
          </a:p>
        </p:txBody>
      </p:sp>
      <p:cxnSp>
        <p:nvCxnSpPr>
          <p:cNvPr name="Connector 8" id="8"/>
          <p:cNvCxnSpPr/>
          <p:nvPr/>
        </p:nvCxnSpPr>
        <p:spPr>
          <a:xfrm rot="-22036" flipH="false" flipV="false">
            <a:off x="660420" y="2152650"/>
            <a:ext cx="1981200" cy="12700"/>
          </a:xfrm>
          <a:prstGeom prst="straightConnector1">
            <a:avLst/>
          </a:prstGeom>
          <a:solidFill>
            <a:srgbClr val="DEE0E3">
              <a:alpha val="100000"/>
            </a:srgbClr>
          </a:solidFill>
          <a:ln w="12700" cmpd="sng" cap="flat">
            <a:solidFill>
              <a:srgbClr val="1E3A8A">
                <a:alpha val="10000"/>
              </a:srgbClr>
            </a:solidFill>
            <a:prstDash val="solid"/>
            <a:round/>
            <a:headEnd type="none" w="med" len="med"/>
            <a:tailEnd type="none" w="med" len="med"/>
          </a:ln>
        </p:spPr>
      </p:cxnSp>
      <p:sp>
        <p:nvSpPr>
          <p:cNvPr name="AutoShape 9" id="9"/>
          <p:cNvSpPr/>
          <p:nvPr/>
        </p:nvSpPr>
        <p:spPr>
          <a:xfrm rot="0" flipH="false" flipV="false">
            <a:off x="635000" y="2286000"/>
            <a:ext cx="203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可容纳20-50人，承接团队技能培训、战略闭门会议及经营者圆桌论坛，满足规模化沟通需求。</a:t>
            </a:r>
            <a:endParaRPr lang="en-US" sz="1100"/>
          </a:p>
        </p:txBody>
      </p:sp>
      <p:sp>
        <p:nvSpPr>
          <p:cNvPr name="AutoShape 10" id="10"/>
          <p:cNvSpPr/>
          <p:nvPr/>
        </p:nvSpPr>
        <p:spPr>
          <a:xfrm rot="0" flipH="false" flipV="false">
            <a:off x="635000" y="3302000"/>
            <a:ext cx="203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3B82F6"/>
                </a:solidFill>
                <a:latin typeface="Noto Sans SC"/>
                <a:ea typeface="Noto Sans SC"/>
                <a:cs typeface="Noto Sans SC"/>
                <a:sym typeface="Noto Sans SC"/>
              </a:rPr>
              <a:t>核心用户：全部团队成员</a:t>
            </a:r>
            <a:endParaRPr lang="en-US" sz="1100"/>
          </a:p>
        </p:txBody>
      </p:sp>
      <p:sp>
        <p:nvSpPr>
          <p:cNvPr name="AutoShape 11" id="11"/>
          <p:cNvSpPr/>
          <p:nvPr/>
        </p:nvSpPr>
        <p:spPr>
          <a:xfrm rot="0" flipH="false" flipV="false">
            <a:off x="3048000" y="1524000"/>
            <a:ext cx="2286000" cy="22225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048000" y="1524000"/>
            <a:ext cx="2286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200400" y="1714500"/>
            <a:ext cx="304800" cy="304800"/>
          </a:xfrm>
          <a:prstGeom prst="rect">
            <a:avLst/>
          </a:prstGeom>
        </p:spPr>
      </p:pic>
      <p:sp>
        <p:nvSpPr>
          <p:cNvPr name="AutoShape 14" id="14"/>
          <p:cNvSpPr/>
          <p:nvPr/>
        </p:nvSpPr>
        <p:spPr>
          <a:xfrm rot="0" flipH="false" flipV="false">
            <a:off x="3581400" y="1676400"/>
            <a:ext cx="165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阅读与学习区</a:t>
            </a:r>
            <a:endParaRPr lang="en-US" sz="1100"/>
          </a:p>
        </p:txBody>
      </p:sp>
      <p:cxnSp>
        <p:nvCxnSpPr>
          <p:cNvPr name="Connector 15" id="15"/>
          <p:cNvCxnSpPr/>
          <p:nvPr/>
        </p:nvCxnSpPr>
        <p:spPr>
          <a:xfrm rot="-22036" flipH="false" flipV="false">
            <a:off x="3200420" y="2152650"/>
            <a:ext cx="1981200" cy="12700"/>
          </a:xfrm>
          <a:prstGeom prst="straightConnector1">
            <a:avLst/>
          </a:prstGeom>
          <a:solidFill>
            <a:srgbClr val="DEE0E3">
              <a:alpha val="100000"/>
            </a:srgbClr>
          </a:solidFill>
          <a:ln w="12700" cmpd="sng" cap="flat">
            <a:solidFill>
              <a:srgbClr val="1E3A8A">
                <a:alpha val="10000"/>
              </a:srgbClr>
            </a:solidFill>
            <a:prstDash val="solid"/>
            <a:round/>
            <a:headEnd type="none" w="med" len="med"/>
            <a:tailEnd type="none" w="med" len="med"/>
          </a:ln>
        </p:spPr>
      </p:cxnSp>
      <p:sp>
        <p:nvSpPr>
          <p:cNvPr name="AutoShape 16" id="16"/>
          <p:cNvSpPr/>
          <p:nvPr/>
        </p:nvSpPr>
        <p:spPr>
          <a:xfrm rot="0" flipH="false" flipV="false">
            <a:off x="3175000" y="2286000"/>
            <a:ext cx="203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陈列事业书籍、产品资料库与行业深度报告，定期举办主题读书会，打造沉浸式学习氛围。</a:t>
            </a:r>
            <a:endParaRPr lang="en-US" sz="1100"/>
          </a:p>
        </p:txBody>
      </p:sp>
      <p:sp>
        <p:nvSpPr>
          <p:cNvPr name="AutoShape 17" id="17"/>
          <p:cNvSpPr/>
          <p:nvPr/>
        </p:nvSpPr>
        <p:spPr>
          <a:xfrm rot="0" flipH="false" flipV="false">
            <a:off x="3175000" y="3302000"/>
            <a:ext cx="203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3B82F6"/>
                </a:solidFill>
                <a:latin typeface="Noto Sans SC"/>
                <a:ea typeface="Noto Sans SC"/>
                <a:cs typeface="Noto Sans SC"/>
                <a:sym typeface="Noto Sans SC"/>
              </a:rPr>
              <a:t>核心用户：全员，侧重培育期伙伴</a:t>
            </a:r>
            <a:endParaRPr lang="en-US" sz="1100"/>
          </a:p>
        </p:txBody>
      </p:sp>
      <p:sp>
        <p:nvSpPr>
          <p:cNvPr name="AutoShape 18" id="18"/>
          <p:cNvSpPr/>
          <p:nvPr/>
        </p:nvSpPr>
        <p:spPr>
          <a:xfrm rot="0" flipH="false" flipV="false">
            <a:off x="5588000" y="1524000"/>
            <a:ext cx="2286000" cy="22225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588000" y="1524000"/>
            <a:ext cx="2286000" cy="508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740400" y="1714500"/>
            <a:ext cx="304800" cy="304800"/>
          </a:xfrm>
          <a:prstGeom prst="rect">
            <a:avLst/>
          </a:prstGeom>
        </p:spPr>
      </p:pic>
      <p:sp>
        <p:nvSpPr>
          <p:cNvPr name="AutoShape 21" id="21"/>
          <p:cNvSpPr/>
          <p:nvPr/>
        </p:nvSpPr>
        <p:spPr>
          <a:xfrm rot="0" flipH="false" flipV="false">
            <a:off x="6121400" y="1676400"/>
            <a:ext cx="165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饮品甜品吧台</a:t>
            </a:r>
            <a:endParaRPr lang="en-US" sz="1100"/>
          </a:p>
        </p:txBody>
      </p:sp>
      <p:cxnSp>
        <p:nvCxnSpPr>
          <p:cNvPr name="Connector 22" id="22"/>
          <p:cNvCxnSpPr/>
          <p:nvPr/>
        </p:nvCxnSpPr>
        <p:spPr>
          <a:xfrm rot="-22036" flipH="false" flipV="false">
            <a:off x="5740420" y="2152650"/>
            <a:ext cx="1981200" cy="12700"/>
          </a:xfrm>
          <a:prstGeom prst="straightConnector1">
            <a:avLst/>
          </a:prstGeom>
          <a:solidFill>
            <a:srgbClr val="DEE0E3">
              <a:alpha val="100000"/>
            </a:srgbClr>
          </a:solidFill>
          <a:ln w="12700" cmpd="sng" cap="flat">
            <a:solidFill>
              <a:srgbClr val="1E3A8A">
                <a:alpha val="10000"/>
              </a:srgbClr>
            </a:solidFill>
            <a:prstDash val="solid"/>
            <a:round/>
            <a:headEnd type="none" w="med" len="med"/>
            <a:tailEnd type="none" w="med" len="med"/>
          </a:ln>
        </p:spPr>
      </p:cxnSp>
      <p:sp>
        <p:nvSpPr>
          <p:cNvPr name="AutoShape 23" id="23"/>
          <p:cNvSpPr/>
          <p:nvPr/>
        </p:nvSpPr>
        <p:spPr>
          <a:xfrm rot="0" flipH="false" flipV="false">
            <a:off x="5715000" y="2286000"/>
            <a:ext cx="203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使用美乐家蛋白粉、奶昔等产品现场制作健康饮品，构建轻松无压力的社交与洽谈场景。</a:t>
            </a:r>
            <a:endParaRPr lang="en-US" sz="1100"/>
          </a:p>
        </p:txBody>
      </p:sp>
      <p:sp>
        <p:nvSpPr>
          <p:cNvPr name="AutoShape 24" id="24"/>
          <p:cNvSpPr/>
          <p:nvPr/>
        </p:nvSpPr>
        <p:spPr>
          <a:xfrm rot="0" flipH="false" flipV="false">
            <a:off x="5715000" y="3302000"/>
            <a:ext cx="203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3B82F6"/>
                </a:solidFill>
                <a:latin typeface="Noto Sans SC"/>
                <a:ea typeface="Noto Sans SC"/>
                <a:cs typeface="Noto Sans SC"/>
                <a:sym typeface="Noto Sans SC"/>
              </a:rPr>
              <a:t>核心用户：会员及潜在经营者</a:t>
            </a:r>
            <a:endParaRPr lang="en-US" sz="1100"/>
          </a:p>
        </p:txBody>
      </p:sp>
      <p:sp>
        <p:nvSpPr>
          <p:cNvPr name="AutoShape 25" id="25"/>
          <p:cNvSpPr/>
          <p:nvPr/>
        </p:nvSpPr>
        <p:spPr>
          <a:xfrm rot="0" flipH="false" flipV="false">
            <a:off x="508000" y="4064000"/>
            <a:ext cx="3556000" cy="2095500"/>
          </a:xfrm>
          <a:prstGeom prst="roundRect">
            <a:avLst>
              <a:gd name="adj" fmla="val 0"/>
            </a:avLst>
          </a:prstGeom>
          <a:solidFill>
            <a:srgbClr val="FFF7ED">
              <a:alpha val="100000"/>
            </a:srgbClr>
          </a:solidFill>
          <a:ln cmpd="sng" cap="flat">
            <a:solidFill>
              <a:srgbClr val="E6D4BE">
                <a:alpha val="10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508000" y="4064000"/>
            <a:ext cx="3556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7" id="27"/>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 y="4254500"/>
            <a:ext cx="304800" cy="304800"/>
          </a:xfrm>
          <a:prstGeom prst="rect">
            <a:avLst/>
          </a:prstGeom>
        </p:spPr>
      </p:pic>
      <p:sp>
        <p:nvSpPr>
          <p:cNvPr name="AutoShape 28" id="28"/>
          <p:cNvSpPr/>
          <p:nvPr/>
        </p:nvSpPr>
        <p:spPr>
          <a:xfrm rot="0" flipH="false" flipV="false">
            <a:off x="1041400" y="42164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C2410C"/>
                </a:solidFill>
                <a:latin typeface="Noto Sans SC"/>
                <a:ea typeface="Noto Sans SC"/>
                <a:cs typeface="Noto Sans SC"/>
                <a:sym typeface="Noto Sans SC"/>
              </a:rPr>
              <a:t>内容创作中心</a:t>
            </a:r>
            <a:endParaRPr lang="en-US" sz="1100"/>
          </a:p>
        </p:txBody>
      </p:sp>
      <p:cxnSp>
        <p:nvCxnSpPr>
          <p:cNvPr name="Connector 29" id="29"/>
          <p:cNvCxnSpPr/>
          <p:nvPr/>
        </p:nvCxnSpPr>
        <p:spPr>
          <a:xfrm rot="-13428" flipH="false" flipV="false">
            <a:off x="660412" y="4692650"/>
            <a:ext cx="3251200" cy="12700"/>
          </a:xfrm>
          <a:prstGeom prst="straightConnector1">
            <a:avLst/>
          </a:prstGeom>
          <a:solidFill>
            <a:srgbClr val="DEE0E3">
              <a:alpha val="100000"/>
            </a:srgbClr>
          </a:solidFill>
          <a:ln w="12700" cmpd="sng" cap="flat">
            <a:solidFill>
              <a:srgbClr val="C2410C">
                <a:alpha val="15000"/>
              </a:srgbClr>
            </a:solidFill>
            <a:prstDash val="solid"/>
            <a:round/>
            <a:headEnd type="none" w="med" len="med"/>
            <a:tailEnd type="none" w="med" len="med"/>
          </a:ln>
        </p:spPr>
      </p:cxnSp>
      <p:sp>
        <p:nvSpPr>
          <p:cNvPr name="AutoShape 30" id="30"/>
          <p:cNvSpPr/>
          <p:nvPr/>
        </p:nvSpPr>
        <p:spPr>
          <a:xfrm rot="0" flipH="false" flipV="false">
            <a:off x="635000" y="48260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配备专业拍摄灯光、直播支架及全系列产品展示架，支持博主与内容团队进行短视频录制、直播带货及素材创作，沉淀高质量内容资产。</a:t>
            </a:r>
            <a:endParaRPr lang="en-US" sz="1100"/>
          </a:p>
        </p:txBody>
      </p:sp>
      <p:sp>
        <p:nvSpPr>
          <p:cNvPr name="AutoShape 31" id="31"/>
          <p:cNvSpPr/>
          <p:nvPr/>
        </p:nvSpPr>
        <p:spPr>
          <a:xfrm rot="0" flipH="false" flipV="false">
            <a:off x="635000" y="5842000"/>
            <a:ext cx="330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F97316"/>
                </a:solidFill>
                <a:latin typeface="Noto Sans SC"/>
                <a:ea typeface="Noto Sans SC"/>
                <a:cs typeface="Noto Sans SC"/>
                <a:sym typeface="Noto Sans SC"/>
              </a:rPr>
              <a:t>核心用户：博主团队、专业内容制作人员</a:t>
            </a:r>
            <a:endParaRPr lang="en-US" sz="1100"/>
          </a:p>
        </p:txBody>
      </p:sp>
      <p:sp>
        <p:nvSpPr>
          <p:cNvPr name="AutoShape 32" id="32"/>
          <p:cNvSpPr/>
          <p:nvPr/>
        </p:nvSpPr>
        <p:spPr>
          <a:xfrm rot="0" flipH="false" flipV="false">
            <a:off x="4318000" y="4064000"/>
            <a:ext cx="3556000" cy="2095500"/>
          </a:xfrm>
          <a:prstGeom prst="roundRect">
            <a:avLst>
              <a:gd name="adj" fmla="val 0"/>
            </a:avLst>
          </a:prstGeom>
          <a:solidFill>
            <a:srgbClr val="FFF7ED">
              <a:alpha val="100000"/>
            </a:srgbClr>
          </a:solidFill>
          <a:ln cmpd="sng" cap="flat">
            <a:solidFill>
              <a:srgbClr val="E6D4BE">
                <a:alpha val="10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4318000" y="4064000"/>
            <a:ext cx="3556000" cy="50800"/>
          </a:xfrm>
          <a:prstGeom prst="roundRect">
            <a:avLst>
              <a:gd name="adj" fmla="val 0"/>
            </a:avLst>
          </a:prstGeom>
          <a:solidFill>
            <a:srgbClr val="F9731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4" id="3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4470400" y="4254500"/>
            <a:ext cx="304800" cy="304800"/>
          </a:xfrm>
          <a:prstGeom prst="rect">
            <a:avLst/>
          </a:prstGeom>
        </p:spPr>
      </p:pic>
      <p:sp>
        <p:nvSpPr>
          <p:cNvPr name="AutoShape 35" id="35"/>
          <p:cNvSpPr/>
          <p:nvPr/>
        </p:nvSpPr>
        <p:spPr>
          <a:xfrm rot="0" flipH="false" flipV="false">
            <a:off x="4851400" y="4216400"/>
            <a:ext cx="279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C2410C"/>
                </a:solidFill>
                <a:latin typeface="Noto Sans SC"/>
                <a:ea typeface="Noto Sans SC"/>
                <a:cs typeface="Noto Sans SC"/>
                <a:sym typeface="Noto Sans SC"/>
              </a:rPr>
              <a:t>场景化产品体验墙</a:t>
            </a:r>
            <a:endParaRPr lang="en-US" sz="1100"/>
          </a:p>
        </p:txBody>
      </p:sp>
      <p:cxnSp>
        <p:nvCxnSpPr>
          <p:cNvPr name="Connector 36" id="36"/>
          <p:cNvCxnSpPr/>
          <p:nvPr/>
        </p:nvCxnSpPr>
        <p:spPr>
          <a:xfrm rot="-13428" flipH="false" flipV="false">
            <a:off x="4470412" y="4692650"/>
            <a:ext cx="3251200" cy="12700"/>
          </a:xfrm>
          <a:prstGeom prst="straightConnector1">
            <a:avLst/>
          </a:prstGeom>
          <a:solidFill>
            <a:srgbClr val="DEE0E3">
              <a:alpha val="100000"/>
            </a:srgbClr>
          </a:solidFill>
          <a:ln w="12700" cmpd="sng" cap="flat">
            <a:solidFill>
              <a:srgbClr val="C2410C">
                <a:alpha val="15000"/>
              </a:srgbClr>
            </a:solidFill>
            <a:prstDash val="solid"/>
            <a:round/>
            <a:headEnd type="none" w="med" len="med"/>
            <a:tailEnd type="none" w="med" len="med"/>
          </a:ln>
        </p:spPr>
      </p:cxnSp>
      <p:sp>
        <p:nvSpPr>
          <p:cNvPr name="AutoShape 37" id="37"/>
          <p:cNvSpPr/>
          <p:nvPr/>
        </p:nvSpPr>
        <p:spPr>
          <a:xfrm rot="0" flipH="false" flipV="false">
            <a:off x="4445000" y="4826000"/>
            <a:ext cx="330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B5563"/>
                </a:solidFill>
                <a:latin typeface="Noto Sans SC"/>
                <a:ea typeface="Noto Sans SC"/>
                <a:cs typeface="Noto Sans SC"/>
                <a:sym typeface="Noto Sans SC"/>
              </a:rPr>
              <a:t>摒弃传统货架陈列，打造“浴室清洁方案”“厨房营养方案”等生活化场景，让访客直观感受产品在真实生活中的应用价值。</a:t>
            </a:r>
            <a:endParaRPr lang="en-US" sz="1100"/>
          </a:p>
        </p:txBody>
      </p:sp>
      <p:sp>
        <p:nvSpPr>
          <p:cNvPr name="AutoShape 38" id="38"/>
          <p:cNvSpPr/>
          <p:nvPr/>
        </p:nvSpPr>
        <p:spPr>
          <a:xfrm rot="0" flipH="false" flipV="false">
            <a:off x="4445000" y="5842000"/>
            <a:ext cx="330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100">
                <a:solidFill>
                  <a:srgbClr val="F97316"/>
                </a:solidFill>
                <a:latin typeface="Noto Sans SC"/>
                <a:ea typeface="Noto Sans SC"/>
                <a:cs typeface="Noto Sans SC"/>
                <a:sym typeface="Noto Sans SC"/>
              </a:rPr>
              <a:t>核心用户：新会员参观、潜在经营者体验</a:t>
            </a:r>
            <a:endParaRPr lang="en-US" sz="1100"/>
          </a:p>
        </p:txBody>
      </p:sp>
      <p:cxnSp>
        <p:nvCxnSpPr>
          <p:cNvPr name="Connector 39" id="39"/>
          <p:cNvCxnSpPr/>
          <p:nvPr/>
        </p:nvCxnSpPr>
        <p:spPr>
          <a:xfrm rot="5390708" flipH="false" flipV="false">
            <a:off x="5778500" y="3867159"/>
            <a:ext cx="4699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40" id="40"/>
          <p:cNvSpPr/>
          <p:nvPr/>
        </p:nvSpPr>
        <p:spPr>
          <a:xfrm rot="0" flipH="false" flipV="false">
            <a:off x="8382000" y="1524000"/>
            <a:ext cx="3302000" cy="1968500"/>
          </a:xfrm>
          <a:prstGeom prst="roundRect">
            <a:avLst>
              <a:gd name="adj" fmla="val 0"/>
            </a:avLst>
          </a:prstGeom>
          <a:solidFill>
            <a:srgbClr val="1E3A8A">
              <a:alpha val="5000"/>
            </a:srgbClr>
          </a:solidFill>
          <a:ln cmpd="sng" cap="flat">
            <a:solidFill>
              <a:srgbClr val="0D2771">
                <a:alpha val="5000"/>
              </a:srgbClr>
            </a:solid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382000" y="1524000"/>
            <a:ext cx="76200" cy="19685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2" id="42"/>
          <p:cNvSpPr/>
          <p:nvPr/>
        </p:nvSpPr>
        <p:spPr>
          <a:xfrm rot="0" flipH="false" flipV="false">
            <a:off x="8636000" y="16510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3A8A"/>
                </a:solidFill>
                <a:latin typeface="Noto Sans SC"/>
                <a:ea typeface="Noto Sans SC"/>
                <a:cs typeface="Noto Sans SC"/>
                <a:sym typeface="Noto Sans SC"/>
              </a:rPr>
              <a:t>战略定位：灯塔总部</a:t>
            </a:r>
            <a:endParaRPr lang="en-US" sz="1100"/>
          </a:p>
        </p:txBody>
      </p:sp>
      <p:sp>
        <p:nvSpPr>
          <p:cNvPr name="AutoShape 43" id="43"/>
          <p:cNvSpPr/>
          <p:nvPr/>
        </p:nvSpPr>
        <p:spPr>
          <a:xfrm rot="0" flipH="false" flipV="false">
            <a:off x="8636000" y="2159000"/>
            <a:ext cx="292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它不是一个传统意义上的行政办公室，而是集“会议决策、知识沉淀、社交连接、内容生产、产品体验”于一体的复合型功能中枢，是灯塔系统的物理锚点。</a:t>
            </a:r>
            <a:endParaRPr lang="en-US" sz="1100"/>
          </a:p>
        </p:txBody>
      </p:sp>
      <p:sp>
        <p:nvSpPr>
          <p:cNvPr name="AutoShape 44" id="44"/>
          <p:cNvSpPr/>
          <p:nvPr/>
        </p:nvSpPr>
        <p:spPr>
          <a:xfrm rot="0" flipH="false" flipV="false">
            <a:off x="8382000" y="3810000"/>
            <a:ext cx="3302000" cy="1079500"/>
          </a:xfrm>
          <a:prstGeom prst="roundRect">
            <a:avLst>
              <a:gd name="adj" fmla="val 0"/>
            </a:avLst>
          </a:prstGeom>
          <a:solidFill>
            <a:srgbClr val="F97316">
              <a:alpha val="8000"/>
            </a:srgbClr>
          </a:solidFill>
          <a:ln cmpd="sng" cap="flat">
            <a:solidFill>
              <a:srgbClr val="E05C00">
                <a:alpha val="8000"/>
              </a:srgbClr>
            </a:solidFill>
            <a:prstDash val="solid"/>
            <a:round/>
          </a:ln>
        </p:spPr>
        <p:txBody>
          <a:bodyPr anchor="ctr" rtlCol="false" vert="horz" wrap="square" lIns="63500" rIns="63500" tIns="63500" bIns="63500"/>
          <a:lstStyle/>
          <a:p>
            <a:pPr algn="ctr">
              <a:defRPr/>
            </a:pPr>
            <a:endParaRPr/>
          </a:p>
        </p:txBody>
      </p:sp>
      <p:pic>
        <p:nvPicPr>
          <p:cNvPr name="Picture 45" id="45"/>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8509000" y="3937000"/>
            <a:ext cx="304800" cy="304800"/>
          </a:xfrm>
          <a:prstGeom prst="rect">
            <a:avLst/>
          </a:prstGeom>
        </p:spPr>
      </p:pic>
      <p:sp>
        <p:nvSpPr>
          <p:cNvPr name="AutoShape 46" id="46"/>
          <p:cNvSpPr/>
          <p:nvPr/>
        </p:nvSpPr>
        <p:spPr>
          <a:xfrm rot="0" flipH="false" flipV="false">
            <a:off x="8953500" y="3911600"/>
            <a:ext cx="2603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C2410C"/>
                </a:solidFill>
                <a:latin typeface="Noto Sans SC"/>
                <a:ea typeface="Noto Sans SC"/>
                <a:cs typeface="Noto Sans SC"/>
                <a:sym typeface="Noto Sans SC"/>
              </a:rPr>
              <a:t>心理认同的基石</a:t>
            </a:r>
            <a:endParaRPr lang="en-US" sz="1100"/>
          </a:p>
        </p:txBody>
      </p:sp>
      <p:sp>
        <p:nvSpPr>
          <p:cNvPr name="AutoShape 47" id="47"/>
          <p:cNvSpPr/>
          <p:nvPr/>
        </p:nvSpPr>
        <p:spPr>
          <a:xfrm rot="0" flipH="false" flipV="false">
            <a:off x="8509000" y="4381500"/>
            <a:ext cx="304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实体空间赋予团队归属感与安全感，极大增强成员对平台的信任感与凝聚力。</a:t>
            </a:r>
            <a:endParaRPr lang="en-US" sz="1100"/>
          </a:p>
        </p:txBody>
      </p:sp>
      <p:sp>
        <p:nvSpPr>
          <p:cNvPr name="AutoShape 48" id="48"/>
          <p:cNvSpPr/>
          <p:nvPr/>
        </p:nvSpPr>
        <p:spPr>
          <a:xfrm rot="0" flipH="false" flipV="false">
            <a:off x="8382000" y="5080000"/>
            <a:ext cx="3302000" cy="1079500"/>
          </a:xfrm>
          <a:prstGeom prst="roundRect">
            <a:avLst>
              <a:gd name="adj" fmla="val 0"/>
            </a:avLst>
          </a:prstGeom>
          <a:solidFill>
            <a:srgbClr val="F97316">
              <a:alpha val="8000"/>
            </a:srgbClr>
          </a:solidFill>
          <a:ln cmpd="sng" cap="flat">
            <a:solidFill>
              <a:srgbClr val="E05C00">
                <a:alpha val="8000"/>
              </a:srgbClr>
            </a:solidFill>
            <a:prstDash val="solid"/>
            <a:round/>
          </a:ln>
        </p:spPr>
        <p:txBody>
          <a:bodyPr anchor="ctr" rtlCol="false" vert="horz" wrap="square" lIns="63500" rIns="63500" tIns="63500" bIns="63500"/>
          <a:lstStyle/>
          <a:p>
            <a:pPr algn="ctr">
              <a:defRPr/>
            </a:pPr>
            <a:endParaRPr/>
          </a:p>
        </p:txBody>
      </p:sp>
      <p:pic>
        <p:nvPicPr>
          <p:cNvPr name="Picture 49" id="49"/>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8509000" y="5207000"/>
            <a:ext cx="304800" cy="304800"/>
          </a:xfrm>
          <a:prstGeom prst="rect">
            <a:avLst/>
          </a:prstGeom>
        </p:spPr>
      </p:pic>
      <p:sp>
        <p:nvSpPr>
          <p:cNvPr name="AutoShape 50" id="50"/>
          <p:cNvSpPr/>
          <p:nvPr/>
        </p:nvSpPr>
        <p:spPr>
          <a:xfrm rot="0" flipH="false" flipV="false">
            <a:off x="8953500" y="5181600"/>
            <a:ext cx="2603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C2410C"/>
                </a:solidFill>
                <a:latin typeface="Noto Sans SC"/>
                <a:ea typeface="Noto Sans SC"/>
                <a:cs typeface="Noto Sans SC"/>
                <a:sym typeface="Noto Sans SC"/>
              </a:rPr>
              <a:t>线下转化的核心阵地</a:t>
            </a:r>
            <a:endParaRPr lang="en-US" sz="1100"/>
          </a:p>
        </p:txBody>
      </p:sp>
      <p:sp>
        <p:nvSpPr>
          <p:cNvPr name="AutoShape 51" id="51"/>
          <p:cNvSpPr/>
          <p:nvPr/>
        </p:nvSpPr>
        <p:spPr>
          <a:xfrm rot="0" flipH="false" flipV="false">
            <a:off x="8509000" y="5651500"/>
            <a:ext cx="3048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作为新会员参观的第一站和考察锚点，实现从线上认知到线下信任的关键闭环。</a:t>
            </a:r>
            <a:endParaRPr lang="en-US" sz="1100"/>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329"/>
                </a:solidFill>
                <a:latin typeface="Noto Sans SC"/>
                <a:ea typeface="Noto Sans SC"/>
                <a:cs typeface="Noto Sans SC"/>
                <a:sym typeface="Noto Sans SC"/>
              </a:rPr>
              <a:t>3.4 线下体验的战略闭环总结</a:t>
            </a:r>
            <a:endParaRPr lang="en-US" sz="1100"/>
          </a:p>
        </p:txBody>
      </p:sp>
      <p:cxnSp>
        <p:nvCxnSpPr>
          <p:cNvPr name="Connector 3" id="3"/>
          <p:cNvCxnSpPr/>
          <p:nvPr/>
        </p:nvCxnSpPr>
        <p:spPr>
          <a:xfrm rot="-3906" flipH="false" flipV="false">
            <a:off x="508004" y="1009650"/>
            <a:ext cx="11176000" cy="12700"/>
          </a:xfrm>
          <a:prstGeom prst="line">
            <a:avLst/>
          </a:prstGeom>
          <a:solidFill>
            <a:srgbClr val="DEE0E3">
              <a:alpha val="100000"/>
            </a:srgbClr>
          </a:solidFill>
          <a:ln w="12700" cmpd="sng" cap="flat">
            <a:solidFill>
              <a:srgbClr val="DEE0E3">
                <a:alpha val="100000"/>
              </a:srgbClr>
            </a:solidFill>
            <a:prstDash val="solid"/>
            <a:round/>
            <a:headEnd type="none" w="med" len="med"/>
            <a:tailEnd type="none" w="med" len="med"/>
          </a:ln>
        </p:spPr>
      </p:cxnSp>
      <p:sp>
        <p:nvSpPr>
          <p:cNvPr name="AutoShape 4" id="4"/>
          <p:cNvSpPr/>
          <p:nvPr/>
        </p:nvSpPr>
        <p:spPr>
          <a:xfrm rot="0" flipH="false" flipV="false">
            <a:off x="508000" y="1270000"/>
            <a:ext cx="11176000" cy="8890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270000"/>
            <a:ext cx="76200" cy="889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371600"/>
            <a:ext cx="10668000" cy="6858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600">
                <a:solidFill>
                  <a:srgbClr val="1F2329"/>
                </a:solidFill>
                <a:latin typeface="Noto Sans SC"/>
                <a:ea typeface="Noto Sans SC"/>
                <a:cs typeface="Noto Sans SC"/>
                <a:sym typeface="Noto Sans SC"/>
              </a:rPr>
              <a:t>三层线下体验分别对应三个核心战略目标，通过场景化的设计与运营，彻底重构了品牌与用户的关系，共同完成了从传统模式“谁求谁”的被动交易，到新模式下“谁吸引谁”的主动连接的根本性逆转。</a:t>
            </a:r>
            <a:endParaRPr lang="en-US" sz="1100"/>
          </a:p>
        </p:txBody>
      </p:sp>
      <p:sp>
        <p:nvSpPr>
          <p:cNvPr name="AutoShape 7" id="7"/>
          <p:cNvSpPr/>
          <p:nvPr/>
        </p:nvSpPr>
        <p:spPr>
          <a:xfrm rot="0" flipH="false" flipV="false">
            <a:off x="508000" y="2540000"/>
            <a:ext cx="3556000" cy="2667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508000" y="2540000"/>
            <a:ext cx="3556000" cy="508000"/>
          </a:xfrm>
          <a:prstGeom prst="roundRect">
            <a:avLst>
              <a:gd name="adj" fmla="val 0"/>
            </a:avLst>
          </a:prstGeom>
          <a:solidFill>
            <a:srgbClr val="3B82F6">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2641600"/>
            <a:ext cx="304800" cy="304800"/>
          </a:xfrm>
          <a:prstGeom prst="rect">
            <a:avLst/>
          </a:prstGeom>
        </p:spPr>
      </p:pic>
      <p:sp>
        <p:nvSpPr>
          <p:cNvPr name="AutoShape 10" id="10"/>
          <p:cNvSpPr/>
          <p:nvPr/>
        </p:nvSpPr>
        <p:spPr>
          <a:xfrm rot="0" flipH="false" flipV="false">
            <a:off x="1016000" y="26035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40AF"/>
                </a:solidFill>
                <a:latin typeface="Noto Sans SC"/>
                <a:ea typeface="Noto Sans SC"/>
                <a:cs typeface="Noto Sans SC"/>
                <a:sym typeface="Noto Sans SC"/>
              </a:rPr>
              <a:t>01 经营动机引发活动</a:t>
            </a:r>
            <a:endParaRPr lang="en-US" sz="1100"/>
          </a:p>
        </p:txBody>
      </p:sp>
      <p:cxnSp>
        <p:nvCxnSpPr>
          <p:cNvPr name="Connector 11" id="11"/>
          <p:cNvCxnSpPr/>
          <p:nvPr/>
        </p:nvCxnSpPr>
        <p:spPr>
          <a:xfrm rot="-13750" flipH="false" flipV="false">
            <a:off x="698513" y="3232150"/>
            <a:ext cx="3175000" cy="12700"/>
          </a:xfrm>
          <a:prstGeom prst="line">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12" id="12"/>
          <p:cNvSpPr/>
          <p:nvPr/>
        </p:nvSpPr>
        <p:spPr>
          <a:xfrm rot="0" flipH="false" flipV="false">
            <a:off x="635000" y="33655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74151"/>
                </a:solidFill>
                <a:latin typeface="Noto Sans SC"/>
                <a:ea typeface="Noto Sans SC"/>
                <a:cs typeface="Noto Sans SC"/>
                <a:sym typeface="Noto Sans SC"/>
              </a:rPr>
              <a:t>核心目标：经营者精准筛选</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聚焦于挖掘潜在经营者的意愿与能力，建立高质量的经营伙伴池。</a:t>
            </a:r>
          </a:p>
        </p:txBody>
      </p:sp>
      <p:sp>
        <p:nvSpPr>
          <p:cNvPr name="AutoShape 13" id="13"/>
          <p:cNvSpPr/>
          <p:nvPr/>
        </p:nvSpPr>
        <p:spPr>
          <a:xfrm rot="0" flipH="false" flipV="false">
            <a:off x="635000" y="4445000"/>
            <a:ext cx="3302000" cy="635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98500" y="4508500"/>
            <a:ext cx="317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9CA3AF"/>
                </a:solidFill>
                <a:latin typeface="Noto Sans SC"/>
                <a:ea typeface="Noto Sans SC"/>
                <a:cs typeface="Noto Sans SC"/>
                <a:sym typeface="Noto Sans SC"/>
              </a:rPr>
              <a:t>传统：求着会员来经营 →</a:t>
            </a:r>
            <a:r>
              <a:rPr lang="en-US" b="true" i="false" strike="noStrike" u="none" sz="1200">
                <a:solidFill>
                  <a:srgbClr val="2563EB"/>
                </a:solidFill>
                <a:latin typeface="Noto Sans SC"/>
                <a:ea typeface="Noto Sans SC"/>
                <a:cs typeface="Noto Sans SC"/>
                <a:sym typeface="Noto Sans SC"/>
              </a:rPr>
              <a:t>现在：会员竞争参与了解经营</a:t>
            </a:r>
            <a:endParaRPr lang="en-US" sz="1100"/>
          </a:p>
        </p:txBody>
      </p:sp>
      <p:sp>
        <p:nvSpPr>
          <p:cNvPr name="AutoShape 15" id="15"/>
          <p:cNvSpPr/>
          <p:nvPr/>
        </p:nvSpPr>
        <p:spPr>
          <a:xfrm rot="0" flipH="false" flipV="false">
            <a:off x="4318000" y="2540000"/>
            <a:ext cx="3556000" cy="26670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318000" y="2540000"/>
            <a:ext cx="3556000" cy="508000"/>
          </a:xfrm>
          <a:prstGeom prst="roundRect">
            <a:avLst>
              <a:gd name="adj" fmla="val 0"/>
            </a:avLst>
          </a:prstGeom>
          <a:solidFill>
            <a:srgbClr val="10B981">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445000" y="2641600"/>
            <a:ext cx="304800" cy="304800"/>
          </a:xfrm>
          <a:prstGeom prst="rect">
            <a:avLst/>
          </a:prstGeom>
        </p:spPr>
      </p:pic>
      <p:sp>
        <p:nvSpPr>
          <p:cNvPr name="AutoShape 18" id="18"/>
          <p:cNvSpPr/>
          <p:nvPr/>
        </p:nvSpPr>
        <p:spPr>
          <a:xfrm rot="0" flipH="false" flipV="false">
            <a:off x="4826000" y="26035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02 产品深度体验馆</a:t>
            </a:r>
            <a:endParaRPr lang="en-US" sz="1100"/>
          </a:p>
        </p:txBody>
      </p:sp>
      <p:cxnSp>
        <p:nvCxnSpPr>
          <p:cNvPr name="Connector 19" id="19"/>
          <p:cNvCxnSpPr/>
          <p:nvPr/>
        </p:nvCxnSpPr>
        <p:spPr>
          <a:xfrm rot="-13750" flipH="false" flipV="false">
            <a:off x="4508513" y="3232150"/>
            <a:ext cx="3175000" cy="12700"/>
          </a:xfrm>
          <a:prstGeom prst="line">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20" id="20"/>
          <p:cNvSpPr/>
          <p:nvPr/>
        </p:nvSpPr>
        <p:spPr>
          <a:xfrm rot="0" flipH="false" flipV="false">
            <a:off x="4445000" y="33655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74151"/>
                </a:solidFill>
                <a:latin typeface="Noto Sans SC"/>
                <a:ea typeface="Noto Sans SC"/>
                <a:cs typeface="Noto Sans SC"/>
                <a:sym typeface="Noto Sans SC"/>
              </a:rPr>
              <a:t>核心目标：产品忠诚度 + 口碑传播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通过沉浸式的五感体验，让用户亲自验证产品价值，形成自发的口碑裂变。</a:t>
            </a:r>
          </a:p>
        </p:txBody>
      </p:sp>
      <p:sp>
        <p:nvSpPr>
          <p:cNvPr name="AutoShape 21" id="21"/>
          <p:cNvSpPr/>
          <p:nvPr/>
        </p:nvSpPr>
        <p:spPr>
          <a:xfrm rot="0" flipH="false" flipV="false">
            <a:off x="4445000" y="4445000"/>
            <a:ext cx="3302000" cy="635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508500" y="4508500"/>
            <a:ext cx="317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9CA3AF"/>
                </a:solidFill>
                <a:latin typeface="Noto Sans SC"/>
                <a:ea typeface="Noto Sans SC"/>
                <a:cs typeface="Noto Sans SC"/>
                <a:sym typeface="Noto Sans SC"/>
              </a:rPr>
              <a:t>传统：告诉用户产品好 →</a:t>
            </a:r>
            <a:r>
              <a:rPr lang="en-US" b="true" i="false" strike="noStrike" u="none" sz="1200">
                <a:solidFill>
                  <a:srgbClr val="059669"/>
                </a:solidFill>
                <a:latin typeface="Noto Sans SC"/>
                <a:ea typeface="Noto Sans SC"/>
                <a:cs typeface="Noto Sans SC"/>
                <a:sym typeface="Noto Sans SC"/>
              </a:rPr>
              <a:t>现在：用户亲身体验产品好</a:t>
            </a:r>
            <a:endParaRPr lang="en-US" sz="1100"/>
          </a:p>
        </p:txBody>
      </p:sp>
      <p:sp>
        <p:nvSpPr>
          <p:cNvPr name="AutoShape 23" id="23"/>
          <p:cNvSpPr/>
          <p:nvPr/>
        </p:nvSpPr>
        <p:spPr>
          <a:xfrm rot="0" flipH="false" flipV="false">
            <a:off x="8128000" y="2540000"/>
            <a:ext cx="3556000" cy="2667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128000" y="2540000"/>
            <a:ext cx="3556000" cy="508000"/>
          </a:xfrm>
          <a:prstGeom prst="roundRect">
            <a:avLst>
              <a:gd name="adj" fmla="val 0"/>
            </a:avLst>
          </a:prstGeom>
          <a:solidFill>
            <a:srgbClr val="F59E0B">
              <a:alpha val="1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255000" y="2641600"/>
            <a:ext cx="304800" cy="304800"/>
          </a:xfrm>
          <a:prstGeom prst="rect">
            <a:avLst/>
          </a:prstGeom>
        </p:spPr>
      </p:pic>
      <p:sp>
        <p:nvSpPr>
          <p:cNvPr name="AutoShape 26" id="26"/>
          <p:cNvSpPr/>
          <p:nvPr/>
        </p:nvSpPr>
        <p:spPr>
          <a:xfrm rot="0" flipH="false" flipV="false">
            <a:off x="8636000" y="2603500"/>
            <a:ext cx="292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92400E"/>
                </a:solidFill>
                <a:latin typeface="Noto Sans SC"/>
                <a:ea typeface="Noto Sans SC"/>
                <a:cs typeface="Noto Sans SC"/>
                <a:sym typeface="Noto Sans SC"/>
              </a:rPr>
              <a:t>03 运营中枢空间</a:t>
            </a:r>
            <a:endParaRPr lang="en-US" sz="1100"/>
          </a:p>
        </p:txBody>
      </p:sp>
      <p:cxnSp>
        <p:nvCxnSpPr>
          <p:cNvPr name="Connector 27" id="27"/>
          <p:cNvCxnSpPr/>
          <p:nvPr/>
        </p:nvCxnSpPr>
        <p:spPr>
          <a:xfrm rot="-13750" flipH="false" flipV="false">
            <a:off x="8318513" y="3232150"/>
            <a:ext cx="3175000" cy="12700"/>
          </a:xfrm>
          <a:prstGeom prst="line">
            <a:avLst/>
          </a:prstGeom>
          <a:solidFill>
            <a:srgbClr val="DEE0E3">
              <a:alpha val="100000"/>
            </a:srgbClr>
          </a:solidFill>
          <a:ln w="12700" cmpd="sng" cap="flat">
            <a:solidFill>
              <a:srgbClr val="F59E0B">
                <a:alpha val="30000"/>
              </a:srgbClr>
            </a:solidFill>
            <a:prstDash val="dash"/>
            <a:round/>
            <a:headEnd type="none" w="med" len="med"/>
            <a:tailEnd type="none" w="med" len="med"/>
          </a:ln>
        </p:spPr>
      </p:cxnSp>
      <p:sp>
        <p:nvSpPr>
          <p:cNvPr name="AutoShape 28" id="28"/>
          <p:cNvSpPr/>
          <p:nvPr/>
        </p:nvSpPr>
        <p:spPr>
          <a:xfrm rot="0" flipH="false" flipV="false">
            <a:off x="8255000" y="33655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74151"/>
                </a:solidFill>
                <a:latin typeface="Noto Sans SC"/>
                <a:ea typeface="Noto Sans SC"/>
                <a:cs typeface="Noto Sans SC"/>
                <a:sym typeface="Noto Sans SC"/>
              </a:rPr>
              <a:t>核心目标：团队归属感 + 品牌信任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打造实体化的事业根据地，连接线上线下资源，建立稳固的团队情感纽带。</a:t>
            </a:r>
          </a:p>
        </p:txBody>
      </p:sp>
      <p:sp>
        <p:nvSpPr>
          <p:cNvPr name="AutoShape 29" id="29"/>
          <p:cNvSpPr/>
          <p:nvPr/>
        </p:nvSpPr>
        <p:spPr>
          <a:xfrm rot="0" flipH="false" flipV="false">
            <a:off x="8255000" y="4445000"/>
            <a:ext cx="3302000" cy="635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318500" y="4508500"/>
            <a:ext cx="317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9CA3AF"/>
                </a:solidFill>
                <a:latin typeface="Noto Sans SC"/>
                <a:ea typeface="Noto Sans SC"/>
                <a:cs typeface="Noto Sans SC"/>
                <a:sym typeface="Noto Sans SC"/>
              </a:rPr>
              <a:t>传统：线上虚拟团队 →</a:t>
            </a:r>
            <a:r>
              <a:rPr lang="en-US" b="true" i="false" strike="noStrike" u="none" sz="1200">
                <a:solidFill>
                  <a:srgbClr val="B45309"/>
                </a:solidFill>
                <a:latin typeface="Noto Sans SC"/>
                <a:ea typeface="Noto Sans SC"/>
                <a:cs typeface="Noto Sans SC"/>
                <a:sym typeface="Noto Sans SC"/>
              </a:rPr>
              <a:t>现在：有实体根基的事业共同体</a:t>
            </a:r>
            <a:endParaRPr lang="en-US" sz="1100"/>
          </a:p>
        </p:txBody>
      </p:sp>
      <p:sp>
        <p:nvSpPr>
          <p:cNvPr name="AutoShape 31" id="31"/>
          <p:cNvSpPr/>
          <p:nvPr/>
        </p:nvSpPr>
        <p:spPr>
          <a:xfrm rot="0" flipH="false" flipV="false">
            <a:off x="508000" y="5588000"/>
            <a:ext cx="11176000" cy="952500"/>
          </a:xfrm>
          <a:prstGeom prst="roundRect">
            <a:avLst>
              <a:gd name="adj" fmla="val 0"/>
            </a:avLst>
          </a:prstGeom>
          <a:solidFill>
            <a:srgbClr val="1E293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98500" y="5715000"/>
            <a:ext cx="1079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solidFill>
                <a:latin typeface="Noto Sans SC"/>
                <a:ea typeface="Noto Sans SC"/>
                <a:cs typeface="Noto Sans SC"/>
                <a:sym typeface="Noto Sans SC"/>
              </a:rPr>
              <a:t>总结：这三个层级共同构成了MelBeacon系统的“配套设施”——以美乐家产品和系统为核心内核，在其周围建造种类丰富、体验齐全的实体吸引物，让用户与经营者从被动接受转向主动探索与连接，构建起不可替代的线下战略壁垒。</a:t>
            </a:r>
            <a:endParaRPr lang="en-US" sz="1100"/>
          </a:p>
        </p:txBody>
      </p:sp>
    </p:spTree>
  </p:cSld>
  <p:clrMapOvr>
    <a:masterClrMapping/>
  </p:clrMapOvr>
</p:sld>
</file>

<file path=ppt/slides/slide23.xml><?xml version="1.0" encoding="utf-8"?>
<p:sld xmlns:p="http://schemas.openxmlformats.org/presentationml/2006/main" xmlns:a="http://schemas.openxmlformats.org/drawingml/2006/main">
  <p:cSld>
    <p:bg>
      <p:bgPr>
        <a:gradFill rotWithShape="true">
          <a:gsLst>
            <a:gs pos="0">
              <a:srgbClr val="0A1E3C">
                <a:alpha val="100000"/>
              </a:srgbClr>
            </a:gs>
            <a:gs pos="100000">
              <a:srgbClr val="19375F">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8255000" y="-1270000"/>
            <a:ext cx="5080000" cy="5080000"/>
          </a:xfrm>
          <a:prstGeom prst="ellipse">
            <a:avLst/>
          </a:prstGeom>
          <a:solidFill>
            <a:srgbClr val="FFFFFF">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9525000" y="3810000"/>
            <a:ext cx="3810000" cy="3810000"/>
          </a:xfrm>
          <a:prstGeom prst="ellipse">
            <a:avLst/>
          </a:prstGeom>
          <a:solidFill>
            <a:srgbClr val="FFFFFF">
              <a:alpha val="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4064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0">
                <a:solidFill>
                  <a:srgbClr val="FFFFFF">
                    <a:alpha val="14902"/>
                  </a:srgbClr>
                </a:solidFill>
                <a:latin typeface="Noto Sans SC"/>
                <a:ea typeface="Noto Sans SC"/>
                <a:cs typeface="Noto Sans SC"/>
                <a:sym typeface="Noto Sans SC"/>
              </a:rPr>
              <a:t>04</a:t>
            </a:r>
            <a:endParaRPr lang="en-US" sz="1100"/>
          </a:p>
        </p:txBody>
      </p:sp>
      <p:sp>
        <p:nvSpPr>
          <p:cNvPr name="AutoShape 5" id="5"/>
          <p:cNvSpPr/>
          <p:nvPr/>
        </p:nvSpPr>
        <p:spPr>
          <a:xfrm rot="0" flipH="false" flipV="false">
            <a:off x="762000" y="5080000"/>
            <a:ext cx="406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spc="400">
                <a:solidFill>
                  <a:srgbClr val="93C5FD">
                    <a:alpha val="80000"/>
                  </a:srgbClr>
                </a:solidFill>
                <a:latin typeface="Noto Sans SC"/>
                <a:ea typeface="Noto Sans SC"/>
                <a:cs typeface="Noto Sans SC"/>
                <a:sym typeface="Noto Sans SC"/>
              </a:rPr>
              <a:t>CHAPTER 04</a:t>
            </a:r>
            <a:endParaRPr lang="en-US" sz="1100"/>
          </a:p>
        </p:txBody>
      </p:sp>
      <p:cxnSp>
        <p:nvCxnSpPr>
          <p:cNvPr name="Connector 6" id="6"/>
          <p:cNvCxnSpPr/>
          <p:nvPr/>
        </p:nvCxnSpPr>
        <p:spPr>
          <a:xfrm rot="-11459" flipH="false" flipV="false">
            <a:off x="762011" y="5835650"/>
            <a:ext cx="3810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cxnSp>
        <p:nvCxnSpPr>
          <p:cNvPr name="Connector 7" id="7"/>
          <p:cNvCxnSpPr/>
          <p:nvPr/>
        </p:nvCxnSpPr>
        <p:spPr>
          <a:xfrm rot="5388540" flipH="false" flipV="false">
            <a:off x="3683000" y="3676661"/>
            <a:ext cx="3810000" cy="12700"/>
          </a:xfrm>
          <a:prstGeom prst="straightConnector1">
            <a:avLst/>
          </a:prstGeom>
          <a:solidFill>
            <a:srgbClr val="DEE0E3">
              <a:alpha val="100000"/>
            </a:srgbClr>
          </a:solidFill>
          <a:ln w="12700" cmpd="sng" cap="flat">
            <a:solidFill>
              <a:srgbClr val="FFFFFF">
                <a:alpha val="15000"/>
              </a:srgbClr>
            </a:solidFill>
            <a:prstDash val="lgDash"/>
            <a:round/>
            <a:headEnd type="none" w="med" len="med"/>
            <a:tailEnd type="none" w="med" len="med"/>
          </a:ln>
        </p:spPr>
      </p:cxnSp>
      <p:sp>
        <p:nvSpPr>
          <p:cNvPr name="AutoShape 8" id="8"/>
          <p:cNvSpPr/>
          <p:nvPr/>
        </p:nvSpPr>
        <p:spPr>
          <a:xfrm rot="0" flipH="false" flipV="false">
            <a:off x="6096000" y="2413000"/>
            <a:ext cx="5715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Noto Sans SC"/>
                <a:ea typeface="Noto Sans SC"/>
                <a:cs typeface="Noto Sans SC"/>
                <a:sym typeface="Noto Sans SC"/>
              </a:rPr>
              <a:t>组织架构与流量分配体系</a:t>
            </a:r>
            <a:endParaRPr lang="en-US" sz="1100"/>
          </a:p>
        </p:txBody>
      </p:sp>
      <p:sp>
        <p:nvSpPr>
          <p:cNvPr name="AutoShape 9" id="9"/>
          <p:cNvSpPr/>
          <p:nvPr/>
        </p:nvSpPr>
        <p:spPr>
          <a:xfrm rot="0" flipH="false" flipV="false">
            <a:off x="6096000" y="3810000"/>
            <a:ext cx="1016000" cy="508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096000" y="4318000"/>
            <a:ext cx="558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500">
                <a:solidFill>
                  <a:srgbClr val="E5E7EB">
                    <a:alpha val="80000"/>
                  </a:srgbClr>
                </a:solidFill>
                <a:latin typeface="Noto Sans SC"/>
                <a:ea typeface="Noto Sans SC"/>
                <a:cs typeface="Noto Sans SC"/>
                <a:sym typeface="Noto Sans SC"/>
              </a:rPr>
              <a:t>构建适配业务发展的高效协同组织形态，建立科学、透明的全链路流量分配机制。通过权责清晰的架构设计与数据驱动的流量调度，打通业务壁垒，最大化资源利用效率，为业务增长提供坚实的组织保障与动力支撑。</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329"/>
                </a:solidFill>
                <a:latin typeface="Noto Sans SC"/>
                <a:ea typeface="Noto Sans SC"/>
                <a:cs typeface="Noto Sans SC"/>
                <a:sym typeface="Noto Sans SC"/>
              </a:rPr>
              <a:t>4.1 四大业务板块与“组织线源头”定位</a:t>
            </a:r>
            <a:endParaRPr lang="en-US" sz="1100"/>
          </a:p>
        </p:txBody>
      </p:sp>
      <p:cxnSp>
        <p:nvCxnSpPr>
          <p:cNvPr name="Connector 3" id="3"/>
          <p:cNvCxnSpPr/>
          <p:nvPr/>
        </p:nvCxnSpPr>
        <p:spPr>
          <a:xfrm rot="-3906" flipH="false" flipV="false">
            <a:off x="508004" y="1136650"/>
            <a:ext cx="11176000" cy="12700"/>
          </a:xfrm>
          <a:prstGeom prst="line">
            <a:avLst/>
          </a:prstGeom>
          <a:solidFill>
            <a:srgbClr val="DEE0E3">
              <a:alpha val="100000"/>
            </a:srgbClr>
          </a:solidFill>
          <a:ln w="12700" cmpd="sng" cap="flat">
            <a:solidFill>
              <a:srgbClr val="1F2329">
                <a:alpha val="10000"/>
              </a:srgbClr>
            </a:solidFill>
            <a:prstDash val="solid"/>
            <a:round/>
            <a:headEnd type="none" w="med" len="med"/>
            <a:tailEnd type="none" w="med" len="med"/>
          </a:ln>
        </p:spPr>
      </p:cxnSp>
      <p:sp>
        <p:nvSpPr>
          <p:cNvPr name="AutoShape 4" id="4"/>
          <p:cNvSpPr/>
          <p:nvPr/>
        </p:nvSpPr>
        <p:spPr>
          <a:xfrm rot="0" flipH="false" flipV="false">
            <a:off x="508000" y="12065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400">
                <a:solidFill>
                  <a:srgbClr val="646A73"/>
                </a:solidFill>
                <a:latin typeface="Noto Sans SC"/>
                <a:ea typeface="Noto Sans SC"/>
                <a:cs typeface="Noto Sans SC"/>
                <a:sym typeface="Noto Sans SC"/>
              </a:rPr>
              <a:t>MelBeacon系统由四大业务板块构成，31位核心经营者（十三钗+十八罗汉）分属各板块，承担“组织线源头”职责，构建线上线下闭环生态。</a:t>
            </a:r>
            <a:endParaRPr lang="en-US" sz="1100"/>
          </a:p>
        </p:txBody>
      </p:sp>
      <p:sp>
        <p:nvSpPr>
          <p:cNvPr name="AutoShape 5" id="5"/>
          <p:cNvSpPr/>
          <p:nvPr/>
        </p:nvSpPr>
        <p:spPr>
          <a:xfrm rot="0" flipH="false" flipV="false">
            <a:off x="508000" y="2159000"/>
            <a:ext cx="2667000" cy="3175000"/>
          </a:xfrm>
          <a:prstGeom prst="roundRect">
            <a:avLst>
              <a:gd name="adj" fmla="val 0"/>
            </a:avLst>
          </a:prstGeom>
          <a:solidFill>
            <a:srgbClr val="FFFFFF">
              <a:alpha val="100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2159000"/>
            <a:ext cx="2667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413000"/>
            <a:ext cx="406400" cy="406400"/>
          </a:xfrm>
          <a:prstGeom prst="rect">
            <a:avLst/>
          </a:prstGeom>
        </p:spPr>
      </p:pic>
      <p:sp>
        <p:nvSpPr>
          <p:cNvPr name="AutoShape 8" id="8"/>
          <p:cNvSpPr/>
          <p:nvPr/>
        </p:nvSpPr>
        <p:spPr>
          <a:xfrm rot="0" flipH="false" flipV="false">
            <a:off x="1206500" y="2387600"/>
            <a:ext cx="184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自媒体博主</a:t>
            </a:r>
            <a:endParaRPr lang="en-US" sz="1100"/>
          </a:p>
        </p:txBody>
      </p:sp>
      <p:cxnSp>
        <p:nvCxnSpPr>
          <p:cNvPr name="Connector 9" id="9"/>
          <p:cNvCxnSpPr/>
          <p:nvPr/>
        </p:nvCxnSpPr>
        <p:spPr>
          <a:xfrm rot="-19098" flipH="false" flipV="false">
            <a:off x="698518" y="3041650"/>
            <a:ext cx="2286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0" id="10"/>
          <p:cNvSpPr/>
          <p:nvPr/>
        </p:nvSpPr>
        <p:spPr>
          <a:xfrm rot="0" flipH="false" flipV="false">
            <a:off x="635000" y="317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B82F6"/>
                </a:solidFill>
                <a:latin typeface="Noto Sans SC"/>
                <a:ea typeface="Noto Sans SC"/>
                <a:cs typeface="Noto Sans SC"/>
                <a:sym typeface="Noto Sans SC"/>
              </a:rPr>
              <a:t>【线上·获客端】</a:t>
            </a:r>
            <a:r>
              <a:rPr lang="en-US" b="false" i="false" strike="noStrike" u="none" sz="1300">
                <a:solidFill>
                  <a:srgbClr val="50555F"/>
                </a:solidFill>
                <a:latin typeface="Noto Sans SC"/>
                <a:ea typeface="Noto Sans SC"/>
                <a:cs typeface="Noto Sans SC"/>
                <a:sym typeface="Noto Sans SC"/>
              </a:rPr>
              <a:t>负责公域流量精准获取，建立用户信任关系，将泛流量有效引流至付费社群体系。</a:t>
            </a:r>
            <a:endParaRPr lang="en-US" sz="1100"/>
          </a:p>
        </p:txBody>
      </p:sp>
      <p:cxnSp>
        <p:nvCxnSpPr>
          <p:cNvPr name="Connector 11" id="11"/>
          <p:cNvCxnSpPr/>
          <p:nvPr/>
        </p:nvCxnSpPr>
        <p:spPr>
          <a:xfrm rot="-19098" flipH="false" flipV="false">
            <a:off x="698518" y="4311650"/>
            <a:ext cx="2286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12" id="12"/>
          <p:cNvSpPr/>
          <p:nvPr/>
        </p:nvSpPr>
        <p:spPr>
          <a:xfrm rot="0" flipH="false" flipV="false">
            <a:off x="635000" y="444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8F959E"/>
                </a:solidFill>
                <a:latin typeface="Noto Sans SC"/>
                <a:ea typeface="Noto Sans SC"/>
                <a:cs typeface="Noto Sans SC"/>
                <a:sym typeface="Noto Sans SC"/>
              </a:rPr>
              <a:t>源头职责：</a:t>
            </a:r>
            <a:r>
              <a:rPr lang="en-US" b="false" i="false" strike="noStrike" u="none" sz="1200">
                <a:solidFill>
                  <a:srgbClr val="43474E"/>
                </a:solidFill>
                <a:latin typeface="Noto Sans SC"/>
                <a:ea typeface="Noto Sans SC"/>
                <a:cs typeface="Noto Sans SC"/>
                <a:sym typeface="Noto Sans SC"/>
              </a:rPr>
              <a:t>深耕垂直赛道，持续产出高质量内容，运营个人IP账号，打造品牌人格化形象。</a:t>
            </a:r>
            <a:endParaRPr lang="en-US" sz="1100"/>
          </a:p>
        </p:txBody>
      </p:sp>
      <p:sp>
        <p:nvSpPr>
          <p:cNvPr name="AutoShape 13" id="13"/>
          <p:cNvSpPr/>
          <p:nvPr/>
        </p:nvSpPr>
        <p:spPr>
          <a:xfrm rot="0" flipH="false" flipV="false">
            <a:off x="3365500" y="2159000"/>
            <a:ext cx="2667000" cy="3175000"/>
          </a:xfrm>
          <a:prstGeom prst="roundRect">
            <a:avLst>
              <a:gd name="adj" fmla="val 0"/>
            </a:avLst>
          </a:prstGeom>
          <a:solidFill>
            <a:srgbClr val="FFFFFF">
              <a:alpha val="100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365500" y="2159000"/>
            <a:ext cx="2667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556000" y="2413000"/>
            <a:ext cx="406400" cy="406400"/>
          </a:xfrm>
          <a:prstGeom prst="rect">
            <a:avLst/>
          </a:prstGeom>
        </p:spPr>
      </p:pic>
      <p:sp>
        <p:nvSpPr>
          <p:cNvPr name="AutoShape 16" id="16"/>
          <p:cNvSpPr/>
          <p:nvPr/>
        </p:nvSpPr>
        <p:spPr>
          <a:xfrm rot="0" flipH="false" flipV="false">
            <a:off x="4064000" y="2387600"/>
            <a:ext cx="184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社群运营</a:t>
            </a:r>
            <a:endParaRPr lang="en-US" sz="1100"/>
          </a:p>
        </p:txBody>
      </p:sp>
      <p:cxnSp>
        <p:nvCxnSpPr>
          <p:cNvPr name="Connector 17" id="17"/>
          <p:cNvCxnSpPr/>
          <p:nvPr/>
        </p:nvCxnSpPr>
        <p:spPr>
          <a:xfrm rot="-19098" flipH="false" flipV="false">
            <a:off x="3556018" y="3041650"/>
            <a:ext cx="2286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8" id="18"/>
          <p:cNvSpPr/>
          <p:nvPr/>
        </p:nvSpPr>
        <p:spPr>
          <a:xfrm rot="0" flipH="false" flipV="false">
            <a:off x="3492500" y="317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10B981"/>
                </a:solidFill>
                <a:latin typeface="Noto Sans SC"/>
                <a:ea typeface="Noto Sans SC"/>
                <a:cs typeface="Noto Sans SC"/>
                <a:sym typeface="Noto Sans SC"/>
              </a:rPr>
              <a:t>【线上·转化留存端】</a:t>
            </a:r>
            <a:r>
              <a:rPr lang="en-US" b="false" i="false" strike="noStrike" u="none" sz="1300">
                <a:solidFill>
                  <a:srgbClr val="50555F"/>
                </a:solidFill>
                <a:latin typeface="Noto Sans SC"/>
                <a:ea typeface="Noto Sans SC"/>
                <a:cs typeface="Noto Sans SC"/>
                <a:sym typeface="Noto Sans SC"/>
              </a:rPr>
              <a:t>通过三层社群递进体系完成转化，保障会员高留存率，同时孵化基层经营者。</a:t>
            </a:r>
            <a:endParaRPr lang="en-US" sz="1100"/>
          </a:p>
        </p:txBody>
      </p:sp>
      <p:cxnSp>
        <p:nvCxnSpPr>
          <p:cNvPr name="Connector 19" id="19"/>
          <p:cNvCxnSpPr/>
          <p:nvPr/>
        </p:nvCxnSpPr>
        <p:spPr>
          <a:xfrm rot="-19098" flipH="false" flipV="false">
            <a:off x="3556018" y="4311650"/>
            <a:ext cx="2286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0" id="20"/>
          <p:cNvSpPr/>
          <p:nvPr/>
        </p:nvSpPr>
        <p:spPr>
          <a:xfrm rot="0" flipH="false" flipV="false">
            <a:off x="3492500" y="444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8F959E"/>
                </a:solidFill>
                <a:latin typeface="Noto Sans SC"/>
                <a:ea typeface="Noto Sans SC"/>
                <a:cs typeface="Noto Sans SC"/>
                <a:sym typeface="Noto Sans SC"/>
              </a:rPr>
              <a:t>源头职责：</a:t>
            </a:r>
            <a:r>
              <a:rPr lang="en-US" b="false" i="false" strike="noStrike" u="none" sz="1200">
                <a:solidFill>
                  <a:srgbClr val="43474E"/>
                </a:solidFill>
                <a:latin typeface="Noto Sans SC"/>
                <a:ea typeface="Noto Sans SC"/>
                <a:cs typeface="Noto Sans SC"/>
                <a:sym typeface="Noto Sans SC"/>
              </a:rPr>
              <a:t>管理社群日常活跃，执行标准化内容交付流程，挖掘并培养潜在的经营者种子。</a:t>
            </a:r>
            <a:endParaRPr lang="en-US" sz="1100"/>
          </a:p>
        </p:txBody>
      </p:sp>
      <p:sp>
        <p:nvSpPr>
          <p:cNvPr name="AutoShape 21" id="21"/>
          <p:cNvSpPr/>
          <p:nvPr/>
        </p:nvSpPr>
        <p:spPr>
          <a:xfrm rot="0" flipH="false" flipV="false">
            <a:off x="6223000" y="2159000"/>
            <a:ext cx="2667000" cy="3175000"/>
          </a:xfrm>
          <a:prstGeom prst="roundRect">
            <a:avLst>
              <a:gd name="adj" fmla="val 0"/>
            </a:avLst>
          </a:prstGeom>
          <a:solidFill>
            <a:srgbClr val="FFFFFF">
              <a:alpha val="100000"/>
            </a:srgbClr>
          </a:solidFill>
          <a:ln w="12700" cmpd="sng" cap="flat">
            <a:solidFill>
              <a:srgbClr val="F59E0B">
                <a:alpha val="2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223000" y="2159000"/>
            <a:ext cx="26670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13500" y="2413000"/>
            <a:ext cx="406400" cy="406400"/>
          </a:xfrm>
          <a:prstGeom prst="rect">
            <a:avLst/>
          </a:prstGeom>
        </p:spPr>
      </p:pic>
      <p:sp>
        <p:nvSpPr>
          <p:cNvPr name="AutoShape 24" id="24"/>
          <p:cNvSpPr/>
          <p:nvPr/>
        </p:nvSpPr>
        <p:spPr>
          <a:xfrm rot="0" flipH="false" flipV="false">
            <a:off x="6921500" y="2387600"/>
            <a:ext cx="184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线下体验馆</a:t>
            </a:r>
            <a:endParaRPr lang="en-US" sz="1100"/>
          </a:p>
        </p:txBody>
      </p:sp>
      <p:cxnSp>
        <p:nvCxnSpPr>
          <p:cNvPr name="Connector 25" id="25"/>
          <p:cNvCxnSpPr/>
          <p:nvPr/>
        </p:nvCxnSpPr>
        <p:spPr>
          <a:xfrm rot="-19098" flipH="false" flipV="false">
            <a:off x="6413518" y="3041650"/>
            <a:ext cx="2286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26" id="26"/>
          <p:cNvSpPr/>
          <p:nvPr/>
        </p:nvSpPr>
        <p:spPr>
          <a:xfrm rot="0" flipH="false" flipV="false">
            <a:off x="6350000" y="317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F59E0B"/>
                </a:solidFill>
                <a:latin typeface="Noto Sans SC"/>
                <a:ea typeface="Noto Sans SC"/>
                <a:cs typeface="Noto Sans SC"/>
                <a:sym typeface="Noto Sans SC"/>
              </a:rPr>
              <a:t>【线下·产品体验端】</a:t>
            </a:r>
            <a:r>
              <a:rPr lang="en-US" b="false" i="false" strike="noStrike" u="none" sz="1300">
                <a:solidFill>
                  <a:srgbClr val="50555F"/>
                </a:solidFill>
                <a:latin typeface="Noto Sans SC"/>
                <a:ea typeface="Noto Sans SC"/>
                <a:cs typeface="Noto Sans SC"/>
                <a:sym typeface="Noto Sans SC"/>
              </a:rPr>
              <a:t>提供沉浸式产品深度体验，强化消费动机，生产真实用户口碑素材与案例。</a:t>
            </a:r>
            <a:endParaRPr lang="en-US" sz="1100"/>
          </a:p>
        </p:txBody>
      </p:sp>
      <p:cxnSp>
        <p:nvCxnSpPr>
          <p:cNvPr name="Connector 27" id="27"/>
          <p:cNvCxnSpPr/>
          <p:nvPr/>
        </p:nvCxnSpPr>
        <p:spPr>
          <a:xfrm rot="-19098" flipH="false" flipV="false">
            <a:off x="6413518" y="4311650"/>
            <a:ext cx="2286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8" id="28"/>
          <p:cNvSpPr/>
          <p:nvPr/>
        </p:nvSpPr>
        <p:spPr>
          <a:xfrm rot="0" flipH="false" flipV="false">
            <a:off x="6350000" y="444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8F959E"/>
                </a:solidFill>
                <a:latin typeface="Noto Sans SC"/>
                <a:ea typeface="Noto Sans SC"/>
                <a:cs typeface="Noto Sans SC"/>
                <a:sym typeface="Noto Sans SC"/>
              </a:rPr>
              <a:t>源头职责：</a:t>
            </a:r>
            <a:r>
              <a:rPr lang="en-US" b="false" i="false" strike="noStrike" u="none" sz="1200">
                <a:solidFill>
                  <a:srgbClr val="43474E"/>
                </a:solidFill>
                <a:latin typeface="Noto Sans SC"/>
                <a:ea typeface="Noto Sans SC"/>
                <a:cs typeface="Noto Sans SC"/>
                <a:sym typeface="Noto Sans SC"/>
              </a:rPr>
              <a:t>负责体验空间的日常运营，策划并组织线下体验活动，沉淀高质量用户反馈。</a:t>
            </a:r>
            <a:endParaRPr lang="en-US" sz="1100"/>
          </a:p>
        </p:txBody>
      </p:sp>
      <p:sp>
        <p:nvSpPr>
          <p:cNvPr name="AutoShape 29" id="29"/>
          <p:cNvSpPr/>
          <p:nvPr/>
        </p:nvSpPr>
        <p:spPr>
          <a:xfrm rot="0" flipH="false" flipV="false">
            <a:off x="9080500" y="2159000"/>
            <a:ext cx="2667000" cy="3175000"/>
          </a:xfrm>
          <a:prstGeom prst="roundRect">
            <a:avLst>
              <a:gd name="adj" fmla="val 0"/>
            </a:avLst>
          </a:prstGeom>
          <a:solidFill>
            <a:srgbClr val="FFFFFF">
              <a:alpha val="100000"/>
            </a:srgbClr>
          </a:solidFill>
          <a:ln w="12700" cmpd="sng" cap="flat">
            <a:solidFill>
              <a:srgbClr val="EC4899">
                <a:alpha val="2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080500" y="2159000"/>
            <a:ext cx="2667000" cy="762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71000" y="2413000"/>
            <a:ext cx="406400" cy="406400"/>
          </a:xfrm>
          <a:prstGeom prst="rect">
            <a:avLst/>
          </a:prstGeom>
        </p:spPr>
      </p:pic>
      <p:sp>
        <p:nvSpPr>
          <p:cNvPr name="AutoShape 32" id="32"/>
          <p:cNvSpPr/>
          <p:nvPr/>
        </p:nvSpPr>
        <p:spPr>
          <a:xfrm rot="0" flipH="false" flipV="false">
            <a:off x="9779000" y="2387600"/>
            <a:ext cx="1841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线下活动策划</a:t>
            </a:r>
            <a:endParaRPr lang="en-US" sz="1100"/>
          </a:p>
        </p:txBody>
      </p:sp>
      <p:cxnSp>
        <p:nvCxnSpPr>
          <p:cNvPr name="Connector 33" id="33"/>
          <p:cNvCxnSpPr/>
          <p:nvPr/>
        </p:nvCxnSpPr>
        <p:spPr>
          <a:xfrm rot="-19098" flipH="false" flipV="false">
            <a:off x="9271018" y="3041650"/>
            <a:ext cx="2286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34" id="34"/>
          <p:cNvSpPr/>
          <p:nvPr/>
        </p:nvSpPr>
        <p:spPr>
          <a:xfrm rot="0" flipH="false" flipV="false">
            <a:off x="9207500" y="317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EC4899"/>
                </a:solidFill>
                <a:latin typeface="Noto Sans SC"/>
                <a:ea typeface="Noto Sans SC"/>
                <a:cs typeface="Noto Sans SC"/>
                <a:sym typeface="Noto Sans SC"/>
              </a:rPr>
              <a:t>【线下·经营筛选端】</a:t>
            </a:r>
            <a:r>
              <a:rPr lang="en-US" b="false" i="false" strike="noStrike" u="none" sz="1300">
                <a:solidFill>
                  <a:srgbClr val="50555F"/>
                </a:solidFill>
                <a:latin typeface="Noto Sans SC"/>
                <a:ea typeface="Noto Sans SC"/>
                <a:cs typeface="Noto Sans SC"/>
                <a:sym typeface="Noto Sans SC"/>
              </a:rPr>
              <a:t>激发经营动机，通过稀缺性机制筛选高意向人才，增强团队凝聚力与归属感。</a:t>
            </a:r>
            <a:endParaRPr lang="en-US" sz="1100"/>
          </a:p>
        </p:txBody>
      </p:sp>
      <p:cxnSp>
        <p:nvCxnSpPr>
          <p:cNvPr name="Connector 35" id="35"/>
          <p:cNvCxnSpPr/>
          <p:nvPr/>
        </p:nvCxnSpPr>
        <p:spPr>
          <a:xfrm rot="-19098" flipH="false" flipV="false">
            <a:off x="9271018" y="4311650"/>
            <a:ext cx="2286000" cy="12700"/>
          </a:xfrm>
          <a:prstGeom prst="line">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6" id="36"/>
          <p:cNvSpPr/>
          <p:nvPr/>
        </p:nvSpPr>
        <p:spPr>
          <a:xfrm rot="0" flipH="false" flipV="false">
            <a:off x="9207500" y="4445000"/>
            <a:ext cx="2413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8F959E"/>
                </a:solidFill>
                <a:latin typeface="Noto Sans SC"/>
                <a:ea typeface="Noto Sans SC"/>
                <a:cs typeface="Noto Sans SC"/>
                <a:sym typeface="Noto Sans SC"/>
              </a:rPr>
              <a:t>源头职责：</a:t>
            </a:r>
            <a:r>
              <a:rPr lang="en-US" b="false" i="false" strike="noStrike" u="none" sz="1200">
                <a:solidFill>
                  <a:srgbClr val="43474E"/>
                </a:solidFill>
                <a:latin typeface="Noto Sans SC"/>
                <a:ea typeface="Noto Sans SC"/>
                <a:cs typeface="Noto Sans SC"/>
                <a:sym typeface="Noto Sans SC"/>
              </a:rPr>
              <a:t>策划执行各类线下峰会、沙龙与团建活动，建立情感连接，完成经营者筛选。</a:t>
            </a:r>
            <a:endParaRPr lang="en-US" sz="1100"/>
          </a:p>
        </p:txBody>
      </p:sp>
      <p:sp>
        <p:nvSpPr>
          <p:cNvPr name="AutoShape 37" id="37"/>
          <p:cNvSpPr/>
          <p:nvPr/>
        </p:nvSpPr>
        <p:spPr>
          <a:xfrm rot="0" flipH="false" flipV="false">
            <a:off x="508000" y="5715000"/>
            <a:ext cx="11239500" cy="889000"/>
          </a:xfrm>
          <a:prstGeom prst="roundRect">
            <a:avLst>
              <a:gd name="adj" fmla="val 0"/>
            </a:avLst>
          </a:prstGeom>
          <a:solidFill>
            <a:srgbClr val="1F2329">
              <a:alpha val="3000"/>
            </a:srgbClr>
          </a:solidFill>
          <a:ln w="25400" cmpd="sng" cap="flat">
            <a:noFill/>
            <a:prstDash val="solid"/>
            <a:round/>
          </a:ln>
        </p:spPr>
        <p:txBody>
          <a:bodyPr anchor="ctr" rtlCol="false" vert="horz" wrap="square" lIns="63500" rIns="63500" tIns="63500" bIns="63500"/>
          <a:lstStyle/>
          <a:p>
            <a:pPr algn="ctr">
              <a:defRPr/>
            </a:pPr>
            <a:endParaRPr/>
          </a:p>
        </p:txBody>
      </p:sp>
      <p:cxnSp>
        <p:nvCxnSpPr>
          <p:cNvPr name="Connector 38" id="38"/>
          <p:cNvCxnSpPr/>
          <p:nvPr/>
        </p:nvCxnSpPr>
        <p:spPr>
          <a:xfrm rot="5331254" flipH="false" flipV="false">
            <a:off x="5778500" y="6153213"/>
            <a:ext cx="635000" cy="12700"/>
          </a:xfrm>
          <a:prstGeom prst="line">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39" id="3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98500" y="5905500"/>
            <a:ext cx="304800" cy="304800"/>
          </a:xfrm>
          <a:prstGeom prst="rect">
            <a:avLst/>
          </a:prstGeom>
        </p:spPr>
      </p:pic>
      <p:sp>
        <p:nvSpPr>
          <p:cNvPr name="AutoShape 40" id="40"/>
          <p:cNvSpPr/>
          <p:nvPr/>
        </p:nvSpPr>
        <p:spPr>
          <a:xfrm rot="0" flipH="false" flipV="false">
            <a:off x="1143000" y="5842000"/>
            <a:ext cx="469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329"/>
                </a:solidFill>
                <a:latin typeface="Noto Sans SC"/>
                <a:ea typeface="Noto Sans SC"/>
                <a:cs typeface="Noto Sans SC"/>
                <a:sym typeface="Noto Sans SC"/>
              </a:rPr>
              <a:t>线上是规模化入口：</a:t>
            </a:r>
            <a:r>
              <a:rPr lang="en-US" b="false" i="false" strike="noStrike" u="none" sz="1300">
                <a:solidFill>
                  <a:srgbClr val="50555F"/>
                </a:solidFill>
                <a:latin typeface="Noto Sans SC"/>
                <a:ea typeface="Noto Sans SC"/>
                <a:cs typeface="Noto Sans SC"/>
                <a:sym typeface="Noto Sans SC"/>
              </a:rPr>
              <a:t>自媒体与社群构成流量获取的核心引擎，负责将泛用户转化为信任用户，是系统扩张的基础。</a:t>
            </a:r>
            <a:endParaRPr lang="en-US" sz="1100"/>
          </a:p>
        </p:txBody>
      </p:sp>
      <p:pic>
        <p:nvPicPr>
          <p:cNvPr name="Picture 41" id="41"/>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413500" y="5905500"/>
            <a:ext cx="304800" cy="304800"/>
          </a:xfrm>
          <a:prstGeom prst="rect">
            <a:avLst/>
          </a:prstGeom>
        </p:spPr>
      </p:pic>
      <p:sp>
        <p:nvSpPr>
          <p:cNvPr name="AutoShape 42" id="42"/>
          <p:cNvSpPr/>
          <p:nvPr/>
        </p:nvSpPr>
        <p:spPr>
          <a:xfrm rot="0" flipH="false" flipV="false">
            <a:off x="6858000" y="5842000"/>
            <a:ext cx="4699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1F2329"/>
                </a:solidFill>
                <a:latin typeface="Noto Sans SC"/>
                <a:ea typeface="Noto Sans SC"/>
                <a:cs typeface="Noto Sans SC"/>
                <a:sym typeface="Noto Sans SC"/>
              </a:rPr>
              <a:t>线下是深度转化根基：</a:t>
            </a:r>
            <a:r>
              <a:rPr lang="en-US" b="false" i="false" strike="noStrike" u="none" sz="1300">
                <a:solidFill>
                  <a:srgbClr val="50555F"/>
                </a:solidFill>
                <a:latin typeface="Noto Sans SC"/>
                <a:ea typeface="Noto Sans SC"/>
                <a:cs typeface="Noto Sans SC"/>
                <a:sym typeface="Noto Sans SC"/>
              </a:rPr>
              <a:t>体验馆与活动构建信任落地的关键场景，深化情感连接，逆转招募心理地位，是留存与裂变的保障。</a:t>
            </a:r>
            <a:endParaRPr lang="en-US" sz="1100"/>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E3A8A"/>
                </a:solidFill>
                <a:latin typeface="Noto Sans SC"/>
                <a:ea typeface="Noto Sans SC"/>
                <a:cs typeface="Noto Sans SC"/>
                <a:sym typeface="Noto Sans SC"/>
              </a:rPr>
              <a:t>4.2 五大职能领域与完整岗位职责</a:t>
            </a:r>
            <a:endParaRPr lang="en-US" sz="1100"/>
          </a:p>
        </p:txBody>
      </p:sp>
      <p:sp>
        <p:nvSpPr>
          <p:cNvPr name="AutoShape 3" id="3"/>
          <p:cNvSpPr/>
          <p:nvPr/>
        </p:nvSpPr>
        <p:spPr>
          <a:xfrm rot="0" flipH="false" flipV="false">
            <a:off x="508000" y="1079500"/>
            <a:ext cx="11176000" cy="8255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98500" y="11684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74151"/>
                </a:solidFill>
                <a:latin typeface="Noto Sans SC"/>
                <a:ea typeface="Noto Sans SC"/>
                <a:cs typeface="Noto Sans SC"/>
                <a:sym typeface="Noto Sans SC"/>
              </a:rPr>
              <a:t>系统内所有经营者，不论是否为31名“组织线源头”，均在五大职能领域中根据自身能力与兴趣选择具体岗位，实现全员参与、人尽其才的灵活协作机制。</a:t>
            </a:r>
            <a:endParaRPr lang="en-US" sz="1100"/>
          </a:p>
        </p:txBody>
      </p:sp>
      <p:sp>
        <p:nvSpPr>
          <p:cNvPr name="AutoShape 5" id="5"/>
          <p:cNvSpPr/>
          <p:nvPr/>
        </p:nvSpPr>
        <p:spPr>
          <a:xfrm rot="0" flipH="false" flipV="false">
            <a:off x="508000" y="2286000"/>
            <a:ext cx="2133600" cy="3683000"/>
          </a:xfrm>
          <a:prstGeom prst="roundRect">
            <a:avLst>
              <a:gd name="adj" fmla="val 0"/>
            </a:avLst>
          </a:prstGeom>
          <a:solidFill>
            <a:srgbClr val="EFF6FF">
              <a:alpha val="10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2286000"/>
            <a:ext cx="21336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540000"/>
            <a:ext cx="355600" cy="355600"/>
          </a:xfrm>
          <a:prstGeom prst="rect">
            <a:avLst/>
          </a:prstGeom>
        </p:spPr>
      </p:pic>
      <p:sp>
        <p:nvSpPr>
          <p:cNvPr name="AutoShape 8" id="8"/>
          <p:cNvSpPr/>
          <p:nvPr/>
        </p:nvSpPr>
        <p:spPr>
          <a:xfrm rot="0" flipH="false" flipV="false">
            <a:off x="1143000" y="2514600"/>
            <a:ext cx="139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自媒体博主团队</a:t>
            </a:r>
            <a:endParaRPr lang="en-US" sz="1100"/>
          </a:p>
        </p:txBody>
      </p:sp>
      <p:cxnSp>
        <p:nvCxnSpPr>
          <p:cNvPr name="Connector 9" id="9"/>
          <p:cNvCxnSpPr/>
          <p:nvPr/>
        </p:nvCxnSpPr>
        <p:spPr>
          <a:xfrm rot="-24910" flipH="false" flipV="false">
            <a:off x="698523" y="3168650"/>
            <a:ext cx="1752600" cy="12700"/>
          </a:xfrm>
          <a:prstGeom prst="line">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10" id="10"/>
          <p:cNvSpPr/>
          <p:nvPr/>
        </p:nvSpPr>
        <p:spPr>
          <a:xfrm rot="0" flipH="false" flipV="false">
            <a:off x="635000" y="3302000"/>
            <a:ext cx="18796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2563EB"/>
                </a:solidFill>
                <a:latin typeface="Noto Sans SC"/>
                <a:ea typeface="Noto Sans SC"/>
                <a:cs typeface="Noto Sans SC"/>
                <a:sym typeface="Noto Sans SC"/>
              </a:rPr>
              <a:t>核心定位：</a:t>
            </a:r>
            <a:r>
              <a:rPr lang="en-US" b="false" i="false" strike="noStrike" u="none" sz="1200">
                <a:solidFill>
                  <a:srgbClr val="4B5563"/>
                </a:solidFill>
                <a:latin typeface="Noto Sans SC"/>
                <a:ea typeface="Noto Sans SC"/>
                <a:cs typeface="Noto Sans SC"/>
                <a:sym typeface="Noto Sans SC"/>
              </a:rPr>
              <a:t>负责品牌内容输出与公域引流，是流量获取的核心引擎。</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200">
                <a:solidFill>
                  <a:srgbClr val="2563EB"/>
                </a:solidFill>
                <a:latin typeface="Noto Sans SC"/>
                <a:ea typeface="Noto Sans SC"/>
                <a:cs typeface="Noto Sans SC"/>
                <a:sym typeface="Noto Sans SC"/>
              </a:rPr>
              <a:t>关键岗位：</a:t>
            </a:r>
            <a:r>
              <a:rPr lang="en-US" b="false" i="false" strike="noStrike" u="none" sz="1200">
                <a:solidFill>
                  <a:srgbClr val="4B5563"/>
                </a:solidFill>
                <a:latin typeface="Noto Sans SC"/>
                <a:ea typeface="Noto Sans SC"/>
                <a:cs typeface="Noto Sans SC"/>
                <a:sym typeface="Noto Sans SC"/>
              </a:rPr>
              <a:t>账号主理人、内容策划、视频拍摄剪辑师、流量运营专员、账号日常运维专员。</a:t>
            </a:r>
          </a:p>
        </p:txBody>
      </p:sp>
      <p:sp>
        <p:nvSpPr>
          <p:cNvPr name="AutoShape 11" id="11"/>
          <p:cNvSpPr/>
          <p:nvPr/>
        </p:nvSpPr>
        <p:spPr>
          <a:xfrm rot="0" flipH="false" flipV="false">
            <a:off x="2832100" y="2286000"/>
            <a:ext cx="2133600" cy="3683000"/>
          </a:xfrm>
          <a:prstGeom prst="roundRect">
            <a:avLst>
              <a:gd name="adj" fmla="val 0"/>
            </a:avLst>
          </a:prstGeom>
          <a:solidFill>
            <a:srgbClr val="ECFDF5">
              <a:alpha val="100000"/>
            </a:srgbClr>
          </a:solidFill>
          <a:ln w="12700" cmpd="sng" cap="flat">
            <a:solidFill>
              <a:srgbClr val="A7F3D0">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2832100" y="2286000"/>
            <a:ext cx="21336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022600" y="2540000"/>
            <a:ext cx="355600" cy="355600"/>
          </a:xfrm>
          <a:prstGeom prst="rect">
            <a:avLst/>
          </a:prstGeom>
        </p:spPr>
      </p:pic>
      <p:sp>
        <p:nvSpPr>
          <p:cNvPr name="AutoShape 14" id="14"/>
          <p:cNvSpPr/>
          <p:nvPr/>
        </p:nvSpPr>
        <p:spPr>
          <a:xfrm rot="0" flipH="false" flipV="false">
            <a:off x="3467100" y="2514600"/>
            <a:ext cx="139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4E3B"/>
                </a:solidFill>
                <a:latin typeface="Noto Sans SC"/>
                <a:ea typeface="Noto Sans SC"/>
                <a:cs typeface="Noto Sans SC"/>
                <a:sym typeface="Noto Sans SC"/>
              </a:rPr>
              <a:t>社群运营团队</a:t>
            </a:r>
            <a:endParaRPr lang="en-US" sz="1100"/>
          </a:p>
        </p:txBody>
      </p:sp>
      <p:cxnSp>
        <p:nvCxnSpPr>
          <p:cNvPr name="Connector 15" id="15"/>
          <p:cNvCxnSpPr/>
          <p:nvPr/>
        </p:nvCxnSpPr>
        <p:spPr>
          <a:xfrm rot="-24910" flipH="false" flipV="false">
            <a:off x="3022623" y="3168650"/>
            <a:ext cx="1752600" cy="12700"/>
          </a:xfrm>
          <a:prstGeom prst="line">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16" id="16"/>
          <p:cNvSpPr/>
          <p:nvPr/>
        </p:nvSpPr>
        <p:spPr>
          <a:xfrm rot="0" flipH="false" flipV="false">
            <a:off x="2959100" y="3302000"/>
            <a:ext cx="18796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059669"/>
                </a:solidFill>
                <a:latin typeface="Noto Sans SC"/>
                <a:ea typeface="Noto Sans SC"/>
                <a:cs typeface="Noto Sans SC"/>
                <a:sym typeface="Noto Sans SC"/>
              </a:rPr>
              <a:t>核心定位：</a:t>
            </a:r>
            <a:r>
              <a:rPr lang="en-US" b="false" i="false" strike="noStrike" u="none" sz="1200">
                <a:solidFill>
                  <a:srgbClr val="4B5563"/>
                </a:solidFill>
                <a:latin typeface="Noto Sans SC"/>
                <a:ea typeface="Noto Sans SC"/>
                <a:cs typeface="Noto Sans SC"/>
                <a:sym typeface="Noto Sans SC"/>
              </a:rPr>
              <a:t>沉淀私域流量，通过精细化服务提升用户粘性与活跃度。</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200">
                <a:solidFill>
                  <a:srgbClr val="059669"/>
                </a:solidFill>
                <a:latin typeface="Noto Sans SC"/>
                <a:ea typeface="Noto Sans SC"/>
                <a:cs typeface="Noto Sans SC"/>
                <a:sym typeface="Noto Sans SC"/>
              </a:rPr>
              <a:t>关键岗位：</a:t>
            </a:r>
            <a:r>
              <a:rPr lang="en-US" b="false" i="false" strike="noStrike" u="none" sz="1200">
                <a:solidFill>
                  <a:srgbClr val="4B5563"/>
                </a:solidFill>
                <a:latin typeface="Noto Sans SC"/>
                <a:ea typeface="Noto Sans SC"/>
                <a:cs typeface="Noto Sans SC"/>
                <a:sym typeface="Noto Sans SC"/>
              </a:rPr>
              <a:t>社群主理人、内容运营、互动引导员、答疑顾问、积分管理、打卡追踪及新人引导专员。</a:t>
            </a:r>
          </a:p>
        </p:txBody>
      </p:sp>
      <p:sp>
        <p:nvSpPr>
          <p:cNvPr name="AutoShape 17" id="17"/>
          <p:cNvSpPr/>
          <p:nvPr/>
        </p:nvSpPr>
        <p:spPr>
          <a:xfrm rot="0" flipH="false" flipV="false">
            <a:off x="5156200" y="2286000"/>
            <a:ext cx="2133600" cy="3683000"/>
          </a:xfrm>
          <a:prstGeom prst="roundRect">
            <a:avLst>
              <a:gd name="adj" fmla="val 0"/>
            </a:avLst>
          </a:prstGeom>
          <a:solidFill>
            <a:srgbClr val="FFFBEB">
              <a:alpha val="10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5156200" y="2286000"/>
            <a:ext cx="21336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46700" y="2540000"/>
            <a:ext cx="355600" cy="355600"/>
          </a:xfrm>
          <a:prstGeom prst="rect">
            <a:avLst/>
          </a:prstGeom>
        </p:spPr>
      </p:pic>
      <p:sp>
        <p:nvSpPr>
          <p:cNvPr name="AutoShape 20" id="20"/>
          <p:cNvSpPr/>
          <p:nvPr/>
        </p:nvSpPr>
        <p:spPr>
          <a:xfrm rot="0" flipH="false" flipV="false">
            <a:off x="5791200" y="2514600"/>
            <a:ext cx="139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78350F"/>
                </a:solidFill>
                <a:latin typeface="Noto Sans SC"/>
                <a:ea typeface="Noto Sans SC"/>
                <a:cs typeface="Noto Sans SC"/>
                <a:sym typeface="Noto Sans SC"/>
              </a:rPr>
              <a:t>体验馆运营团队</a:t>
            </a:r>
            <a:endParaRPr lang="en-US" sz="1100"/>
          </a:p>
        </p:txBody>
      </p:sp>
      <p:cxnSp>
        <p:nvCxnSpPr>
          <p:cNvPr name="Connector 21" id="21"/>
          <p:cNvCxnSpPr/>
          <p:nvPr/>
        </p:nvCxnSpPr>
        <p:spPr>
          <a:xfrm rot="-24910" flipH="false" flipV="false">
            <a:off x="5346723" y="3168650"/>
            <a:ext cx="1752600" cy="12700"/>
          </a:xfrm>
          <a:prstGeom prst="line">
            <a:avLst/>
          </a:prstGeom>
          <a:solidFill>
            <a:srgbClr val="DEE0E3">
              <a:alpha val="100000"/>
            </a:srgbClr>
          </a:solidFill>
          <a:ln w="12700" cmpd="sng" cap="flat">
            <a:solidFill>
              <a:srgbClr val="F59E0B">
                <a:alpha val="30000"/>
              </a:srgbClr>
            </a:solidFill>
            <a:prstDash val="dash"/>
            <a:round/>
            <a:headEnd type="none" w="med" len="med"/>
            <a:tailEnd type="none" w="med" len="med"/>
          </a:ln>
        </p:spPr>
      </p:cxnSp>
      <p:sp>
        <p:nvSpPr>
          <p:cNvPr name="AutoShape 22" id="22"/>
          <p:cNvSpPr/>
          <p:nvPr/>
        </p:nvSpPr>
        <p:spPr>
          <a:xfrm rot="0" flipH="false" flipV="false">
            <a:off x="5283200" y="3302000"/>
            <a:ext cx="18796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D97706"/>
                </a:solidFill>
                <a:latin typeface="Noto Sans SC"/>
                <a:ea typeface="Noto Sans SC"/>
                <a:cs typeface="Noto Sans SC"/>
                <a:sym typeface="Noto Sans SC"/>
              </a:rPr>
              <a:t>核心定位：</a:t>
            </a:r>
            <a:r>
              <a:rPr lang="en-US" b="false" i="false" strike="noStrike" u="none" sz="1200">
                <a:solidFill>
                  <a:srgbClr val="4B5563"/>
                </a:solidFill>
                <a:latin typeface="Noto Sans SC"/>
                <a:ea typeface="Noto Sans SC"/>
                <a:cs typeface="Noto Sans SC"/>
                <a:sym typeface="Noto Sans SC"/>
              </a:rPr>
              <a:t>打造线下实体触点，提供沉浸式产品体验与即时服务。</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200">
                <a:solidFill>
                  <a:srgbClr val="D97706"/>
                </a:solidFill>
                <a:latin typeface="Noto Sans SC"/>
                <a:ea typeface="Noto Sans SC"/>
                <a:cs typeface="Noto Sans SC"/>
                <a:sym typeface="Noto Sans SC"/>
              </a:rPr>
              <a:t>关键岗位：</a:t>
            </a:r>
            <a:r>
              <a:rPr lang="en-US" b="false" i="false" strike="noStrike" u="none" sz="1200">
                <a:solidFill>
                  <a:srgbClr val="4B5563"/>
                </a:solidFill>
                <a:latin typeface="Noto Sans SC"/>
                <a:ea typeface="Noto Sans SC"/>
                <a:cs typeface="Noto Sans SC"/>
                <a:sym typeface="Noto Sans SC"/>
              </a:rPr>
              <a:t>体验馆店长统筹全局，下设产品体验引导师、线下自媒体运营专员、客户接待与服务顾问。</a:t>
            </a:r>
          </a:p>
        </p:txBody>
      </p:sp>
      <p:sp>
        <p:nvSpPr>
          <p:cNvPr name="AutoShape 23" id="23"/>
          <p:cNvSpPr/>
          <p:nvPr/>
        </p:nvSpPr>
        <p:spPr>
          <a:xfrm rot="0" flipH="false" flipV="false">
            <a:off x="7480300" y="2286000"/>
            <a:ext cx="2133600" cy="3683000"/>
          </a:xfrm>
          <a:prstGeom prst="roundRect">
            <a:avLst>
              <a:gd name="adj" fmla="val 0"/>
            </a:avLst>
          </a:prstGeom>
          <a:solidFill>
            <a:srgbClr val="FDF2F8">
              <a:alpha val="100000"/>
            </a:srgbClr>
          </a:solidFill>
          <a:ln w="12700" cmpd="sng" cap="flat">
            <a:solidFill>
              <a:srgbClr val="FBCFE8">
                <a:alpha val="10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480300" y="2286000"/>
            <a:ext cx="2133600" cy="762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70800" y="2540000"/>
            <a:ext cx="355600" cy="355600"/>
          </a:xfrm>
          <a:prstGeom prst="rect">
            <a:avLst/>
          </a:prstGeom>
        </p:spPr>
      </p:pic>
      <p:sp>
        <p:nvSpPr>
          <p:cNvPr name="AutoShape 26" id="26"/>
          <p:cNvSpPr/>
          <p:nvPr/>
        </p:nvSpPr>
        <p:spPr>
          <a:xfrm rot="0" flipH="false" flipV="false">
            <a:off x="8115300" y="2514600"/>
            <a:ext cx="139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31843"/>
                </a:solidFill>
                <a:latin typeface="Noto Sans SC"/>
                <a:ea typeface="Noto Sans SC"/>
                <a:cs typeface="Noto Sans SC"/>
                <a:sym typeface="Noto Sans SC"/>
              </a:rPr>
              <a:t>线下活动运营团队</a:t>
            </a:r>
            <a:endParaRPr lang="en-US" sz="1100"/>
          </a:p>
        </p:txBody>
      </p:sp>
      <p:cxnSp>
        <p:nvCxnSpPr>
          <p:cNvPr name="Connector 27" id="27"/>
          <p:cNvCxnSpPr/>
          <p:nvPr/>
        </p:nvCxnSpPr>
        <p:spPr>
          <a:xfrm rot="-24910" flipH="false" flipV="false">
            <a:off x="7670823" y="3168650"/>
            <a:ext cx="1752600" cy="12700"/>
          </a:xfrm>
          <a:prstGeom prst="line">
            <a:avLst/>
          </a:prstGeom>
          <a:solidFill>
            <a:srgbClr val="DEE0E3">
              <a:alpha val="100000"/>
            </a:srgbClr>
          </a:solidFill>
          <a:ln w="12700" cmpd="sng" cap="flat">
            <a:solidFill>
              <a:srgbClr val="EC4899">
                <a:alpha val="30000"/>
              </a:srgbClr>
            </a:solidFill>
            <a:prstDash val="dash"/>
            <a:round/>
            <a:headEnd type="none" w="med" len="med"/>
            <a:tailEnd type="none" w="med" len="med"/>
          </a:ln>
        </p:spPr>
      </p:cxnSp>
      <p:sp>
        <p:nvSpPr>
          <p:cNvPr name="AutoShape 28" id="28"/>
          <p:cNvSpPr/>
          <p:nvPr/>
        </p:nvSpPr>
        <p:spPr>
          <a:xfrm rot="0" flipH="false" flipV="false">
            <a:off x="7607300" y="3302000"/>
            <a:ext cx="18796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DB2777"/>
                </a:solidFill>
                <a:latin typeface="Noto Sans SC"/>
                <a:ea typeface="Noto Sans SC"/>
                <a:cs typeface="Noto Sans SC"/>
                <a:sym typeface="Noto Sans SC"/>
              </a:rPr>
              <a:t>核心定位：</a:t>
            </a:r>
            <a:r>
              <a:rPr lang="en-US" b="false" i="false" strike="noStrike" u="none" sz="1200">
                <a:solidFill>
                  <a:srgbClr val="4B5563"/>
                </a:solidFill>
                <a:latin typeface="Noto Sans SC"/>
                <a:ea typeface="Noto Sans SC"/>
                <a:cs typeface="Noto Sans SC"/>
                <a:sym typeface="Noto Sans SC"/>
              </a:rPr>
              <a:t>策划执行各类沙龙、展会与聚会，强化用户链接与品牌影响力。</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200">
                <a:solidFill>
                  <a:srgbClr val="DB2777"/>
                </a:solidFill>
                <a:latin typeface="Noto Sans SC"/>
                <a:ea typeface="Noto Sans SC"/>
                <a:cs typeface="Noto Sans SC"/>
                <a:sym typeface="Noto Sans SC"/>
              </a:rPr>
              <a:t>关键岗位：</a:t>
            </a:r>
            <a:r>
              <a:rPr lang="en-US" b="false" i="false" strike="noStrike" u="none" sz="1200">
                <a:solidFill>
                  <a:srgbClr val="4B5563"/>
                </a:solidFill>
                <a:latin typeface="Noto Sans SC"/>
                <a:ea typeface="Noto Sans SC"/>
                <a:cs typeface="Noto Sans SC"/>
                <a:sym typeface="Noto Sans SC"/>
              </a:rPr>
              <a:t>活动策划师、现场执行督导、场地统筹专员、物料管理专员及嘉宾对接与接待人员。</a:t>
            </a:r>
          </a:p>
        </p:txBody>
      </p:sp>
      <p:sp>
        <p:nvSpPr>
          <p:cNvPr name="AutoShape 29" id="29"/>
          <p:cNvSpPr/>
          <p:nvPr/>
        </p:nvSpPr>
        <p:spPr>
          <a:xfrm rot="0" flipH="false" flipV="false">
            <a:off x="9804400" y="2286000"/>
            <a:ext cx="2133600" cy="3683000"/>
          </a:xfrm>
          <a:prstGeom prst="roundRect">
            <a:avLst>
              <a:gd name="adj" fmla="val 0"/>
            </a:avLst>
          </a:prstGeom>
          <a:solidFill>
            <a:srgbClr val="F3F4F6">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9804400" y="2286000"/>
            <a:ext cx="2133600" cy="76200"/>
          </a:xfrm>
          <a:prstGeom prst="roundRect">
            <a:avLst>
              <a:gd name="adj" fmla="val 0"/>
            </a:avLst>
          </a:prstGeom>
          <a:solidFill>
            <a:srgbClr val="4B556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994900" y="2540000"/>
            <a:ext cx="355600" cy="355600"/>
          </a:xfrm>
          <a:prstGeom prst="rect">
            <a:avLst/>
          </a:prstGeom>
        </p:spPr>
      </p:pic>
      <p:sp>
        <p:nvSpPr>
          <p:cNvPr name="AutoShape 32" id="32"/>
          <p:cNvSpPr/>
          <p:nvPr/>
        </p:nvSpPr>
        <p:spPr>
          <a:xfrm rot="0" flipH="false" flipV="false">
            <a:off x="10439400" y="2514600"/>
            <a:ext cx="1397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运营中枢团队</a:t>
            </a:r>
            <a:endParaRPr lang="en-US" sz="1100"/>
          </a:p>
        </p:txBody>
      </p:sp>
      <p:cxnSp>
        <p:nvCxnSpPr>
          <p:cNvPr name="Connector 33" id="33"/>
          <p:cNvCxnSpPr/>
          <p:nvPr/>
        </p:nvCxnSpPr>
        <p:spPr>
          <a:xfrm rot="-24910" flipH="false" flipV="false">
            <a:off x="9994923" y="3168650"/>
            <a:ext cx="1752600" cy="12700"/>
          </a:xfrm>
          <a:prstGeom prst="line">
            <a:avLst/>
          </a:prstGeom>
          <a:solidFill>
            <a:srgbClr val="DEE0E3">
              <a:alpha val="100000"/>
            </a:srgbClr>
          </a:solidFill>
          <a:ln w="12700" cmpd="sng" cap="flat">
            <a:solidFill>
              <a:srgbClr val="4B5563">
                <a:alpha val="30000"/>
              </a:srgbClr>
            </a:solidFill>
            <a:prstDash val="dash"/>
            <a:round/>
            <a:headEnd type="none" w="med" len="med"/>
            <a:tailEnd type="none" w="med" len="med"/>
          </a:ln>
        </p:spPr>
      </p:cxnSp>
      <p:sp>
        <p:nvSpPr>
          <p:cNvPr name="AutoShape 34" id="34"/>
          <p:cNvSpPr/>
          <p:nvPr/>
        </p:nvSpPr>
        <p:spPr>
          <a:xfrm rot="0" flipH="false" flipV="false">
            <a:off x="9931400" y="3302000"/>
            <a:ext cx="18796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374151"/>
                </a:solidFill>
                <a:latin typeface="Noto Sans SC"/>
                <a:ea typeface="Noto Sans SC"/>
                <a:cs typeface="Noto Sans SC"/>
                <a:sym typeface="Noto Sans SC"/>
              </a:rPr>
              <a:t>核心定位：</a:t>
            </a:r>
            <a:r>
              <a:rPr lang="en-US" b="false" i="false" strike="noStrike" u="none" sz="1200">
                <a:solidFill>
                  <a:srgbClr val="4B5563"/>
                </a:solidFill>
                <a:latin typeface="Noto Sans SC"/>
                <a:ea typeface="Noto Sans SC"/>
                <a:cs typeface="Noto Sans SC"/>
                <a:sym typeface="Noto Sans SC"/>
              </a:rPr>
              <a:t>作为大脑中枢，负责整体战略规划、资源协调与数据决策支持。</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16666"/>
              </a:lnSpc>
            </a:pPr>
            <a:r>
              <a:rPr lang="en-US" b="true" i="false" strike="noStrike" u="none" sz="1200">
                <a:solidFill>
                  <a:srgbClr val="374151"/>
                </a:solidFill>
                <a:latin typeface="Noto Sans SC"/>
                <a:ea typeface="Noto Sans SC"/>
                <a:cs typeface="Noto Sans SC"/>
                <a:sym typeface="Noto Sans SC"/>
              </a:rPr>
              <a:t>关键岗位：</a:t>
            </a:r>
            <a:r>
              <a:rPr lang="en-US" b="false" i="false" strike="noStrike" u="none" sz="1200">
                <a:solidFill>
                  <a:srgbClr val="4B5563"/>
                </a:solidFill>
                <a:latin typeface="Noto Sans SC"/>
                <a:ea typeface="Noto Sans SC"/>
                <a:cs typeface="Noto Sans SC"/>
                <a:sym typeface="Noto Sans SC"/>
              </a:rPr>
              <a:t>运营总监、数据分析师、跨部门协调员、流程优化专员及战略规划顾问。</a:t>
            </a:r>
          </a:p>
        </p:txBody>
      </p:sp>
      <p:sp>
        <p:nvSpPr>
          <p:cNvPr name="AutoShape 35" id="35"/>
          <p:cNvSpPr/>
          <p:nvPr/>
        </p:nvSpPr>
        <p:spPr>
          <a:xfrm rot="0" flipH="false" flipV="false">
            <a:off x="508000" y="6223000"/>
            <a:ext cx="11176000" cy="381000"/>
          </a:xfrm>
          <a:prstGeom prst="roundRect">
            <a:avLst>
              <a:gd name="adj" fmla="val 0"/>
            </a:avLst>
          </a:prstGeom>
          <a:solidFill>
            <a:srgbClr val="F9FAF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508000" y="6286500"/>
            <a:ext cx="111760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6B7280"/>
                </a:solidFill>
                <a:latin typeface="Noto Sans SC"/>
                <a:ea typeface="Noto Sans SC"/>
                <a:cs typeface="Noto Sans SC"/>
                <a:sym typeface="Noto Sans SC"/>
              </a:rPr>
              <a:t>五大职能领域相互协同，构建了“内容引流-社群沉淀-线下体验-活动赋能-中枢统筹”的完整闭环生态。</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C3E50"/>
                </a:solidFill>
                <a:latin typeface="Noto Sans SC"/>
                <a:ea typeface="Noto Sans SC"/>
                <a:cs typeface="Noto Sans SC"/>
                <a:sym typeface="Noto Sans SC"/>
              </a:rPr>
              <a:t>4.3 分配体系核心理念：松弛感下的成长驱动</a:t>
            </a:r>
            <a:endParaRPr lang="en-US" sz="1100"/>
          </a:p>
        </p:txBody>
      </p:sp>
      <p:cxnSp>
        <p:nvCxnSpPr>
          <p:cNvPr name="Connector 3" id="3"/>
          <p:cNvCxnSpPr/>
          <p:nvPr/>
        </p:nvCxnSpPr>
        <p:spPr>
          <a:xfrm rot="-3906" flipH="false" flipV="false">
            <a:off x="508004" y="1073150"/>
            <a:ext cx="11176000" cy="12700"/>
          </a:xfrm>
          <a:prstGeom prst="straightConnector1">
            <a:avLst/>
          </a:prstGeom>
          <a:solidFill>
            <a:srgbClr val="DEE0E3">
              <a:alpha val="100000"/>
            </a:srgbClr>
          </a:solidFill>
          <a:ln w="12700" cmpd="sng" cap="flat">
            <a:solidFill>
              <a:srgbClr val="2C3E50">
                <a:alpha val="15000"/>
              </a:srgbClr>
            </a:solidFill>
            <a:prstDash val="solid"/>
            <a:round/>
            <a:headEnd type="none" w="med" len="med"/>
            <a:tailEnd type="none" w="med" len="med"/>
          </a:ln>
        </p:spPr>
      </p:cxnSp>
      <p:sp>
        <p:nvSpPr>
          <p:cNvPr name="AutoShape 4" id="4"/>
          <p:cNvSpPr/>
          <p:nvPr/>
        </p:nvSpPr>
        <p:spPr>
          <a:xfrm rot="0" flipH="false" flipV="false">
            <a:off x="508000" y="1397000"/>
            <a:ext cx="5461000" cy="19050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397000"/>
            <a:ext cx="76200" cy="1905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587500"/>
            <a:ext cx="406400" cy="406400"/>
          </a:xfrm>
          <a:prstGeom prst="rect">
            <a:avLst/>
          </a:prstGeom>
        </p:spPr>
      </p:pic>
      <p:sp>
        <p:nvSpPr>
          <p:cNvPr name="AutoShape 7" id="7"/>
          <p:cNvSpPr/>
          <p:nvPr/>
        </p:nvSpPr>
        <p:spPr>
          <a:xfrm rot="0" flipH="false" flipV="false">
            <a:off x="1333500" y="1549400"/>
            <a:ext cx="444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3A8A"/>
                </a:solidFill>
                <a:latin typeface="Noto Sans SC"/>
                <a:ea typeface="Noto Sans SC"/>
                <a:cs typeface="Noto Sans SC"/>
                <a:sym typeface="Noto Sans SC"/>
              </a:rPr>
              <a:t>核心转向：从“高压KPI”到“成长贡献值”</a:t>
            </a:r>
            <a:endParaRPr lang="en-US" sz="1100"/>
          </a:p>
        </p:txBody>
      </p:sp>
      <p:cxnSp>
        <p:nvCxnSpPr>
          <p:cNvPr name="Connector 8" id="8"/>
          <p:cNvCxnSpPr/>
          <p:nvPr/>
        </p:nvCxnSpPr>
        <p:spPr>
          <a:xfrm rot="-8814" flipH="false" flipV="false">
            <a:off x="762008" y="2089150"/>
            <a:ext cx="4953000" cy="12700"/>
          </a:xfrm>
          <a:prstGeom prst="straightConnector1">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9" id="9"/>
          <p:cNvSpPr/>
          <p:nvPr/>
        </p:nvSpPr>
        <p:spPr>
          <a:xfrm rot="0" flipH="false" flipV="false">
            <a:off x="762000" y="2222500"/>
            <a:ext cx="4953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摒弃与“助人达成目标”使命相悖的高压考核，避免破坏MelBeacon系统中“善意起心动念”的增强回路。我们认为，真正的驱动力源于内在成长，而非外在的恐惧与焦虑。</a:t>
            </a:r>
            <a:endParaRPr lang="en-US" sz="1100"/>
          </a:p>
        </p:txBody>
      </p:sp>
      <p:sp>
        <p:nvSpPr>
          <p:cNvPr name="AutoShape 10" id="10"/>
          <p:cNvSpPr/>
          <p:nvPr/>
        </p:nvSpPr>
        <p:spPr>
          <a:xfrm rot="0" flipH="false" flipV="false">
            <a:off x="508000" y="3683000"/>
            <a:ext cx="5461000" cy="1270000"/>
          </a:xfrm>
          <a:prstGeom prst="roundRect">
            <a:avLst>
              <a:gd name="adj" fmla="val 0"/>
            </a:avLst>
          </a:prstGeom>
          <a:solidFill>
            <a:srgbClr val="10B981">
              <a:alpha val="8000"/>
            </a:srgbClr>
          </a:solidFill>
          <a:ln cmpd="sng" cap="flat">
            <a:solidFill>
              <a:srgbClr val="00A06B">
                <a:alpha val="8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08000" y="3683000"/>
            <a:ext cx="76200" cy="1270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873500"/>
            <a:ext cx="406400" cy="406400"/>
          </a:xfrm>
          <a:prstGeom prst="rect">
            <a:avLst/>
          </a:prstGeom>
        </p:spPr>
      </p:pic>
      <p:sp>
        <p:nvSpPr>
          <p:cNvPr name="AutoShape 13" id="13"/>
          <p:cNvSpPr/>
          <p:nvPr/>
        </p:nvSpPr>
        <p:spPr>
          <a:xfrm rot="0" flipH="false" flipV="false">
            <a:off x="1333500" y="38354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松弛 ≠ 放任躺平：正向激励 + 轻度问责 + 同伴影响</a:t>
            </a:r>
            <a:endParaRPr lang="en-US" sz="1100"/>
          </a:p>
        </p:txBody>
      </p:sp>
      <p:sp>
        <p:nvSpPr>
          <p:cNvPr name="AutoShape 14" id="14"/>
          <p:cNvSpPr/>
          <p:nvPr/>
        </p:nvSpPr>
        <p:spPr>
          <a:xfrm rot="0" flipH="false" flipV="false">
            <a:off x="762000" y="4445000"/>
            <a:ext cx="4953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通过建立积极的反馈循环，在保障团队安全感的同时，利用同伴的正向影响和轻度的制度约束，引导成员自发追求进步。</a:t>
            </a:r>
            <a:endParaRPr lang="en-US" sz="1100"/>
          </a:p>
        </p:txBody>
      </p:sp>
      <p:sp>
        <p:nvSpPr>
          <p:cNvPr name="AutoShape 15" id="15"/>
          <p:cNvSpPr/>
          <p:nvPr/>
        </p:nvSpPr>
        <p:spPr>
          <a:xfrm rot="0" flipH="false" flipV="false">
            <a:off x="508000" y="5334000"/>
            <a:ext cx="5461000" cy="1143000"/>
          </a:xfrm>
          <a:prstGeom prst="roundRect">
            <a:avLst>
              <a:gd name="adj" fmla="val 0"/>
            </a:avLst>
          </a:prstGeom>
          <a:solidFill>
            <a:srgbClr val="F59E0B">
              <a:alpha val="8000"/>
            </a:srgbClr>
          </a:solidFill>
          <a:ln cmpd="sng" cap="flat">
            <a:solidFill>
              <a:srgbClr val="DC8A00">
                <a:alpha val="8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508000" y="5334000"/>
            <a:ext cx="76200" cy="1143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62000" y="5524500"/>
            <a:ext cx="406400" cy="406400"/>
          </a:xfrm>
          <a:prstGeom prst="rect">
            <a:avLst/>
          </a:prstGeom>
        </p:spPr>
      </p:pic>
      <p:sp>
        <p:nvSpPr>
          <p:cNvPr name="AutoShape 18" id="18"/>
          <p:cNvSpPr/>
          <p:nvPr/>
        </p:nvSpPr>
        <p:spPr>
          <a:xfrm rot="0" flipH="false" flipV="false">
            <a:off x="1333500" y="54356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B45309"/>
                </a:solidFill>
                <a:latin typeface="Noto Sans SC"/>
                <a:ea typeface="Noto Sans SC"/>
                <a:cs typeface="Noto Sans SC"/>
                <a:sym typeface="Noto Sans SC"/>
              </a:rPr>
              <a:t>月度“成长贡献卡”自评：</a:t>
            </a:r>
            <a:r>
              <a:rPr lang="en-US" b="false" i="false" strike="noStrike" u="none" sz="1300">
                <a:solidFill>
                  <a:srgbClr val="4B5563"/>
                </a:solidFill>
                <a:latin typeface="Noto Sans SC"/>
                <a:ea typeface="Noto Sans SC"/>
                <a:cs typeface="Noto Sans SC"/>
                <a:sym typeface="Noto Sans SC"/>
              </a:rPr>
              <a:t>每月由经营者自行填写，聚焦三个核心问题：本月完成了哪些具体工作？学到了什么新技能？下月想在哪个方面突破？关注过程而非结果。</a:t>
            </a:r>
            <a:endParaRPr lang="en-US" sz="1100"/>
          </a:p>
        </p:txBody>
      </p:sp>
      <p:cxnSp>
        <p:nvCxnSpPr>
          <p:cNvPr name="Connector 19" id="19"/>
          <p:cNvCxnSpPr/>
          <p:nvPr/>
        </p:nvCxnSpPr>
        <p:spPr>
          <a:xfrm rot="5391185" flipH="false" flipV="false">
            <a:off x="3810000" y="3867158"/>
            <a:ext cx="4953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20" id="20"/>
          <p:cNvSpPr/>
          <p:nvPr/>
        </p:nvSpPr>
        <p:spPr>
          <a:xfrm rot="0" flipH="false" flipV="false">
            <a:off x="6477000" y="1397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C3E50"/>
                </a:solidFill>
                <a:latin typeface="Noto Sans SC"/>
                <a:ea typeface="Noto Sans SC"/>
                <a:cs typeface="Noto Sans SC"/>
                <a:sym typeface="Noto Sans SC"/>
              </a:rPr>
              <a:t>01. 成长贡献值三档评定标准</a:t>
            </a:r>
            <a:endParaRPr lang="en-US" sz="1100"/>
          </a:p>
        </p:txBody>
      </p:sp>
      <p:sp>
        <p:nvSpPr>
          <p:cNvPr name="AutoShape 21" id="21"/>
          <p:cNvSpPr/>
          <p:nvPr/>
        </p:nvSpPr>
        <p:spPr>
          <a:xfrm rot="0" flipH="false" flipV="false">
            <a:off x="6477000" y="2032000"/>
            <a:ext cx="1651000" cy="2413000"/>
          </a:xfrm>
          <a:prstGeom prst="roundRect">
            <a:avLst>
              <a:gd name="adj" fmla="val 0"/>
            </a:avLst>
          </a:prstGeom>
          <a:solidFill>
            <a:srgbClr val="FFFFFF">
              <a:alpha val="10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77000" y="2032000"/>
            <a:ext cx="1651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604000" y="2286000"/>
            <a:ext cx="355600" cy="355600"/>
          </a:xfrm>
          <a:prstGeom prst="rect">
            <a:avLst/>
          </a:prstGeom>
        </p:spPr>
      </p:pic>
      <p:sp>
        <p:nvSpPr>
          <p:cNvPr name="AutoShape 24" id="24"/>
          <p:cNvSpPr/>
          <p:nvPr/>
        </p:nvSpPr>
        <p:spPr>
          <a:xfrm rot="0" flipH="false" flipV="false">
            <a:off x="7048500" y="2286000"/>
            <a:ext cx="101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E3A8A"/>
                </a:solidFill>
                <a:latin typeface="Noto Sans SC"/>
                <a:ea typeface="Noto Sans SC"/>
                <a:cs typeface="Noto Sans SC"/>
                <a:sym typeface="Noto Sans SC"/>
              </a:rPr>
              <a:t>持续精进</a:t>
            </a:r>
            <a:endParaRPr lang="en-US" sz="1100"/>
          </a:p>
        </p:txBody>
      </p:sp>
      <p:cxnSp>
        <p:nvCxnSpPr>
          <p:cNvPr name="Connector 25" id="25"/>
          <p:cNvCxnSpPr/>
          <p:nvPr/>
        </p:nvCxnSpPr>
        <p:spPr>
          <a:xfrm rot="-31251" flipH="false" flipV="false">
            <a:off x="6604029" y="2787650"/>
            <a:ext cx="1397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26" id="26"/>
          <p:cNvSpPr/>
          <p:nvPr/>
        </p:nvSpPr>
        <p:spPr>
          <a:xfrm rot="0" flipH="false" flipV="false">
            <a:off x="6578600" y="2921000"/>
            <a:ext cx="14478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不仅完成职责，更主动超出预期、有创新突破，或积极帮助同伴成长。</a:t>
            </a:r>
            <a:endParaRPr lang="en-US" sz="1100"/>
          </a:p>
        </p:txBody>
      </p:sp>
      <p:sp>
        <p:nvSpPr>
          <p:cNvPr name="AutoShape 27" id="27"/>
          <p:cNvSpPr/>
          <p:nvPr/>
        </p:nvSpPr>
        <p:spPr>
          <a:xfrm rot="0" flipH="false" flipV="false">
            <a:off x="6604000" y="4064000"/>
            <a:ext cx="1397000" cy="304800"/>
          </a:xfrm>
          <a:prstGeom prst="roundRect">
            <a:avLst>
              <a:gd name="adj" fmla="val 0"/>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604000" y="4089400"/>
            <a:ext cx="1397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1E3A8A"/>
                </a:solidFill>
                <a:latin typeface="Noto Sans SC"/>
                <a:ea typeface="Noto Sans SC"/>
                <a:cs typeface="Noto Sans SC"/>
                <a:sym typeface="Noto Sans SC"/>
              </a:rPr>
              <a:t>分配权重：1.5倍</a:t>
            </a:r>
            <a:endParaRPr lang="en-US" sz="1100"/>
          </a:p>
        </p:txBody>
      </p:sp>
      <p:sp>
        <p:nvSpPr>
          <p:cNvPr name="AutoShape 29" id="29"/>
          <p:cNvSpPr/>
          <p:nvPr/>
        </p:nvSpPr>
        <p:spPr>
          <a:xfrm rot="0" flipH="false" flipV="false">
            <a:off x="8255000" y="2032000"/>
            <a:ext cx="1651000" cy="2413000"/>
          </a:xfrm>
          <a:prstGeom prst="roundRect">
            <a:avLst>
              <a:gd name="adj" fmla="val 0"/>
            </a:avLst>
          </a:prstGeom>
          <a:solidFill>
            <a:srgbClr val="FFFFFF">
              <a:alpha val="10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255000" y="2032000"/>
            <a:ext cx="1651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1" id="31"/>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8382000" y="2286000"/>
            <a:ext cx="355600" cy="355600"/>
          </a:xfrm>
          <a:prstGeom prst="rect">
            <a:avLst/>
          </a:prstGeom>
        </p:spPr>
      </p:pic>
      <p:sp>
        <p:nvSpPr>
          <p:cNvPr name="AutoShape 32" id="32"/>
          <p:cNvSpPr/>
          <p:nvPr/>
        </p:nvSpPr>
        <p:spPr>
          <a:xfrm rot="0" flipH="false" flipV="false">
            <a:off x="8826500" y="2286000"/>
            <a:ext cx="101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065F46"/>
                </a:solidFill>
                <a:latin typeface="Noto Sans SC"/>
                <a:ea typeface="Noto Sans SC"/>
                <a:cs typeface="Noto Sans SC"/>
                <a:sym typeface="Noto Sans SC"/>
              </a:rPr>
              <a:t>踏实前行</a:t>
            </a:r>
            <a:endParaRPr lang="en-US" sz="1100"/>
          </a:p>
        </p:txBody>
      </p:sp>
      <p:cxnSp>
        <p:nvCxnSpPr>
          <p:cNvPr name="Connector 33" id="33"/>
          <p:cNvCxnSpPr/>
          <p:nvPr/>
        </p:nvCxnSpPr>
        <p:spPr>
          <a:xfrm rot="-31251" flipH="false" flipV="false">
            <a:off x="8382029" y="2787650"/>
            <a:ext cx="1397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34" id="34"/>
          <p:cNvSpPr/>
          <p:nvPr/>
        </p:nvSpPr>
        <p:spPr>
          <a:xfrm rot="0" flipH="false" flipV="false">
            <a:off x="8356600" y="2921000"/>
            <a:ext cx="14478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认真履行岗位职责，工作稳定可靠，是团队中值得信赖的基石成员。</a:t>
            </a:r>
            <a:endParaRPr lang="en-US" sz="1100"/>
          </a:p>
        </p:txBody>
      </p:sp>
      <p:sp>
        <p:nvSpPr>
          <p:cNvPr name="AutoShape 35" id="35"/>
          <p:cNvSpPr/>
          <p:nvPr/>
        </p:nvSpPr>
        <p:spPr>
          <a:xfrm rot="0" flipH="false" flipV="false">
            <a:off x="8382000" y="4064000"/>
            <a:ext cx="1397000" cy="304800"/>
          </a:xfrm>
          <a:prstGeom prst="roundRect">
            <a:avLst>
              <a:gd name="adj" fmla="val 0"/>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8382000" y="4089400"/>
            <a:ext cx="1397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065F46"/>
                </a:solidFill>
                <a:latin typeface="Noto Sans SC"/>
                <a:ea typeface="Noto Sans SC"/>
                <a:cs typeface="Noto Sans SC"/>
                <a:sym typeface="Noto Sans SC"/>
              </a:rPr>
              <a:t>分配权重：1.0倍</a:t>
            </a:r>
            <a:endParaRPr lang="en-US" sz="1100"/>
          </a:p>
        </p:txBody>
      </p:sp>
      <p:sp>
        <p:nvSpPr>
          <p:cNvPr name="AutoShape 37" id="37"/>
          <p:cNvSpPr/>
          <p:nvPr/>
        </p:nvSpPr>
        <p:spPr>
          <a:xfrm rot="0" flipH="false" flipV="false">
            <a:off x="10033000" y="2032000"/>
            <a:ext cx="1651000" cy="2413000"/>
          </a:xfrm>
          <a:prstGeom prst="roundRect">
            <a:avLst>
              <a:gd name="adj" fmla="val 0"/>
            </a:avLst>
          </a:prstGeom>
          <a:solidFill>
            <a:srgbClr val="FFFFFF">
              <a:alpha val="100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10033000" y="2032000"/>
            <a:ext cx="16510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9" id="3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10160000" y="2286000"/>
            <a:ext cx="355600" cy="355600"/>
          </a:xfrm>
          <a:prstGeom prst="rect">
            <a:avLst/>
          </a:prstGeom>
        </p:spPr>
      </p:pic>
      <p:sp>
        <p:nvSpPr>
          <p:cNvPr name="AutoShape 40" id="40"/>
          <p:cNvSpPr/>
          <p:nvPr/>
        </p:nvSpPr>
        <p:spPr>
          <a:xfrm rot="0" flipH="false" flipV="false">
            <a:off x="10604500" y="2286000"/>
            <a:ext cx="101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B45309"/>
                </a:solidFill>
                <a:latin typeface="Noto Sans SC"/>
                <a:ea typeface="Noto Sans SC"/>
                <a:cs typeface="Noto Sans SC"/>
                <a:sym typeface="Noto Sans SC"/>
              </a:rPr>
              <a:t>需要滋养</a:t>
            </a:r>
            <a:endParaRPr lang="en-US" sz="1100"/>
          </a:p>
        </p:txBody>
      </p:sp>
      <p:cxnSp>
        <p:nvCxnSpPr>
          <p:cNvPr name="Connector 41" id="41"/>
          <p:cNvCxnSpPr/>
          <p:nvPr/>
        </p:nvCxnSpPr>
        <p:spPr>
          <a:xfrm rot="-31251" flipH="false" flipV="false">
            <a:off x="10160029" y="2787650"/>
            <a:ext cx="1397000" cy="12700"/>
          </a:xfrm>
          <a:prstGeom prst="straightConnector1">
            <a:avLst/>
          </a:prstGeom>
          <a:solidFill>
            <a:srgbClr val="DEE0E3">
              <a:alpha val="100000"/>
            </a:srgbClr>
          </a:solidFill>
          <a:ln w="12700" cmpd="sng" cap="flat">
            <a:solidFill>
              <a:srgbClr val="000000">
                <a:alpha val="5000"/>
              </a:srgbClr>
            </a:solidFill>
            <a:prstDash val="solid"/>
            <a:round/>
            <a:headEnd type="none" w="med" len="med"/>
            <a:tailEnd type="none" w="med" len="med"/>
          </a:ln>
        </p:spPr>
      </p:cxnSp>
      <p:sp>
        <p:nvSpPr>
          <p:cNvPr name="AutoShape 42" id="42"/>
          <p:cNvSpPr/>
          <p:nvPr/>
        </p:nvSpPr>
        <p:spPr>
          <a:xfrm rot="0" flipH="false" flipV="false">
            <a:off x="10134600" y="2921000"/>
            <a:ext cx="14478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B5563"/>
                </a:solidFill>
                <a:latin typeface="Noto Sans SC"/>
                <a:ea typeface="Noto Sans SC"/>
                <a:cs typeface="Noto Sans SC"/>
                <a:sym typeface="Noto Sans SC"/>
              </a:rPr>
              <a:t>本月参与度不足，但已表达改进意愿，处于调整和适应阶段。</a:t>
            </a:r>
            <a:endParaRPr lang="en-US" sz="1100"/>
          </a:p>
        </p:txBody>
      </p:sp>
      <p:sp>
        <p:nvSpPr>
          <p:cNvPr name="AutoShape 43" id="43"/>
          <p:cNvSpPr/>
          <p:nvPr/>
        </p:nvSpPr>
        <p:spPr>
          <a:xfrm rot="0" flipH="false" flipV="false">
            <a:off x="10160000" y="4064000"/>
            <a:ext cx="1397000" cy="304800"/>
          </a:xfrm>
          <a:prstGeom prst="roundRect">
            <a:avLst>
              <a:gd name="adj" fmla="val 0"/>
            </a:avLst>
          </a:prstGeom>
          <a:solidFill>
            <a:srgbClr val="F59E0B">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4" id="44"/>
          <p:cNvSpPr/>
          <p:nvPr/>
        </p:nvSpPr>
        <p:spPr>
          <a:xfrm rot="0" flipH="false" flipV="false">
            <a:off x="10160000" y="4089400"/>
            <a:ext cx="1397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B45309"/>
                </a:solidFill>
                <a:latin typeface="Noto Sans SC"/>
                <a:ea typeface="Noto Sans SC"/>
                <a:cs typeface="Noto Sans SC"/>
                <a:sym typeface="Noto Sans SC"/>
              </a:rPr>
              <a:t>0.5倍 + 陪谈</a:t>
            </a:r>
            <a:endParaRPr lang="en-US" sz="1100"/>
          </a:p>
        </p:txBody>
      </p:sp>
      <p:sp>
        <p:nvSpPr>
          <p:cNvPr name="AutoShape 45" id="45"/>
          <p:cNvSpPr/>
          <p:nvPr/>
        </p:nvSpPr>
        <p:spPr>
          <a:xfrm rot="0" flipH="false" flipV="false">
            <a:off x="6477000" y="4826000"/>
            <a:ext cx="5207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C3E50"/>
                </a:solidFill>
                <a:latin typeface="Noto Sans SC"/>
                <a:ea typeface="Noto Sans SC"/>
                <a:cs typeface="Noto Sans SC"/>
                <a:sym typeface="Noto Sans SC"/>
              </a:rPr>
              <a:t>02. 非惩罚性的柔性问责与恢复机制</a:t>
            </a:r>
            <a:endParaRPr lang="en-US" sz="1100"/>
          </a:p>
        </p:txBody>
      </p:sp>
      <p:sp>
        <p:nvSpPr>
          <p:cNvPr name="AutoShape 46" id="46"/>
          <p:cNvSpPr/>
          <p:nvPr/>
        </p:nvSpPr>
        <p:spPr>
          <a:xfrm rot="0" flipH="false" flipV="false">
            <a:off x="6477000" y="5334000"/>
            <a:ext cx="2476500" cy="1079500"/>
          </a:xfrm>
          <a:prstGeom prst="roundRect">
            <a:avLst>
              <a:gd name="adj" fmla="val 0"/>
            </a:avLst>
          </a:prstGeom>
          <a:solidFill>
            <a:srgbClr val="64748B">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7" id="47"/>
          <p:cNvPicPr>
            <a:picLocks noChangeAspect="true"/>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0" flipH="false" flipV="false">
            <a:off x="6604000" y="5461000"/>
            <a:ext cx="304800" cy="304800"/>
          </a:xfrm>
          <a:prstGeom prst="rect">
            <a:avLst/>
          </a:prstGeom>
        </p:spPr>
      </p:pic>
      <p:sp>
        <p:nvSpPr>
          <p:cNvPr name="AutoShape 48" id="48"/>
          <p:cNvSpPr/>
          <p:nvPr/>
        </p:nvSpPr>
        <p:spPr>
          <a:xfrm rot="0" flipH="false" flipV="false">
            <a:off x="6985000" y="5435600"/>
            <a:ext cx="190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34155"/>
                </a:solidFill>
                <a:latin typeface="Noto Sans SC"/>
                <a:ea typeface="Noto Sans SC"/>
                <a:cs typeface="Noto Sans SC"/>
                <a:sym typeface="Noto Sans SC"/>
              </a:rPr>
              <a:t>连续2个月“需要滋养”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475569"/>
                </a:solidFill>
                <a:latin typeface="Noto Sans SC"/>
                <a:ea typeface="Noto Sans SC"/>
                <a:cs typeface="Noto Sans SC"/>
                <a:sym typeface="Noto Sans SC"/>
              </a:rPr>
              <a:t>启动岗位适配度对话，探讨现状、困难与改进方向，不直接惩罚。</a:t>
            </a:r>
          </a:p>
        </p:txBody>
      </p:sp>
      <p:sp>
        <p:nvSpPr>
          <p:cNvPr name="AutoShape 49" id="49"/>
          <p:cNvSpPr/>
          <p:nvPr/>
        </p:nvSpPr>
        <p:spPr>
          <a:xfrm rot="0" flipH="false" flipV="false">
            <a:off x="9144000" y="5334000"/>
            <a:ext cx="2476500" cy="1079500"/>
          </a:xfrm>
          <a:prstGeom prst="roundRect">
            <a:avLst>
              <a:gd name="adj" fmla="val 0"/>
            </a:avLst>
          </a:prstGeom>
          <a:solidFill>
            <a:srgbClr val="64748B">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50" id="50"/>
          <p:cNvPicPr>
            <a:picLocks noChangeAspect="true"/>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0" flipH="false" flipV="false">
            <a:off x="9271000" y="5461000"/>
            <a:ext cx="304800" cy="304800"/>
          </a:xfrm>
          <a:prstGeom prst="rect">
            <a:avLst/>
          </a:prstGeom>
        </p:spPr>
      </p:pic>
      <p:sp>
        <p:nvSpPr>
          <p:cNvPr name="AutoShape 51" id="51"/>
          <p:cNvSpPr/>
          <p:nvPr/>
        </p:nvSpPr>
        <p:spPr>
          <a:xfrm rot="0" flipH="false" flipV="false">
            <a:off x="9652000" y="5435600"/>
            <a:ext cx="1905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34155"/>
                </a:solidFill>
                <a:latin typeface="Noto Sans SC"/>
                <a:ea typeface="Noto Sans SC"/>
                <a:cs typeface="Noto Sans SC"/>
                <a:sym typeface="Noto Sans SC"/>
              </a:rPr>
              <a:t>连续3个月“需要滋养”</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475569"/>
                </a:solidFill>
                <a:latin typeface="Noto Sans SC"/>
                <a:ea typeface="Noto Sans SC"/>
                <a:cs typeface="Noto Sans SC"/>
                <a:sym typeface="Noto Sans SC"/>
              </a:rPr>
              <a:t>分配优先级降至D类弹性储备末端，保留恢复通道，随时可回归。</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1F2329"/>
                </a:solidFill>
                <a:latin typeface="Noto Sans SC"/>
                <a:ea typeface="Noto Sans SC"/>
                <a:cs typeface="Noto Sans SC"/>
                <a:sym typeface="Noto Sans SC"/>
              </a:rPr>
              <a:t>4.4 月度新会员流量分配规则（ABCD体系）</a:t>
            </a:r>
            <a:endParaRPr lang="en-US" sz="1100"/>
          </a:p>
        </p:txBody>
      </p:sp>
      <p:cxnSp>
        <p:nvCxnSpPr>
          <p:cNvPr name="Connector 3" id="3"/>
          <p:cNvCxnSpPr/>
          <p:nvPr/>
        </p:nvCxnSpPr>
        <p:spPr>
          <a:xfrm rot="-3906" flipH="false" flipV="false">
            <a:off x="508004" y="1009650"/>
            <a:ext cx="11176000" cy="12700"/>
          </a:xfrm>
          <a:prstGeom prst="straightConnector1">
            <a:avLst/>
          </a:prstGeom>
          <a:solidFill>
            <a:srgbClr val="DEE0E3">
              <a:alpha val="100000"/>
            </a:srgbClr>
          </a:solidFill>
          <a:ln w="12700" cmpd="sng" cap="flat">
            <a:solidFill>
              <a:srgbClr val="DEE0E3">
                <a:alpha val="100000"/>
              </a:srgbClr>
            </a:solidFill>
            <a:prstDash val="solid"/>
            <a:round/>
            <a:headEnd type="none" w="med" len="med"/>
            <a:tailEnd type="none" w="med" len="med"/>
          </a:ln>
        </p:spPr>
      </p:cxnSp>
      <p:sp>
        <p:nvSpPr>
          <p:cNvPr name="AutoShape 4" id="4"/>
          <p:cNvSpPr/>
          <p:nvPr/>
        </p:nvSpPr>
        <p:spPr>
          <a:xfrm rot="0" flipH="false" flipV="false">
            <a:off x="508000" y="1270000"/>
            <a:ext cx="5588000" cy="1651000"/>
          </a:xfrm>
          <a:prstGeom prst="roundRect">
            <a:avLst>
              <a:gd name="adj" fmla="val 0"/>
            </a:avLst>
          </a:prstGeom>
          <a:solidFill>
            <a:srgbClr val="3B82F6">
              <a:alpha val="8000"/>
            </a:srgbClr>
          </a:solidFill>
          <a:ln cmpd="sng" cap="flat">
            <a:solidFill>
              <a:srgbClr val="1F67DD">
                <a:alpha val="8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270000"/>
            <a:ext cx="76200" cy="1651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460500"/>
            <a:ext cx="609600" cy="609600"/>
          </a:xfrm>
          <a:prstGeom prst="rect">
            <a:avLst/>
          </a:prstGeom>
        </p:spPr>
      </p:pic>
      <p:sp>
        <p:nvSpPr>
          <p:cNvPr name="AutoShape 7" id="7"/>
          <p:cNvSpPr/>
          <p:nvPr/>
        </p:nvSpPr>
        <p:spPr>
          <a:xfrm rot="0" flipH="false" flipV="false">
            <a:off x="1651000" y="13970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博主直推保留 · 30% 专属份额</a:t>
            </a:r>
            <a:endParaRPr lang="en-US" sz="1100"/>
          </a:p>
        </p:txBody>
      </p:sp>
      <p:cxnSp>
        <p:nvCxnSpPr>
          <p:cNvPr name="Connector 8" id="8"/>
          <p:cNvCxnSpPr/>
          <p:nvPr/>
        </p:nvCxnSpPr>
        <p:spPr>
          <a:xfrm rot="-10742" flipH="false" flipV="false">
            <a:off x="1651010" y="1898650"/>
            <a:ext cx="4064000" cy="12700"/>
          </a:xfrm>
          <a:prstGeom prst="straightConnector1">
            <a:avLst/>
          </a:prstGeom>
          <a:solidFill>
            <a:srgbClr val="DEE0E3">
              <a:alpha val="100000"/>
            </a:srgbClr>
          </a:solidFill>
          <a:ln w="12700" cmpd="sng" cap="flat">
            <a:solidFill>
              <a:srgbClr val="3B82F6">
                <a:alpha val="30000"/>
              </a:srgbClr>
            </a:solidFill>
            <a:prstDash val="dash"/>
            <a:round/>
            <a:headEnd type="none" w="med" len="med"/>
            <a:tailEnd type="none" w="med" len="med"/>
          </a:ln>
        </p:spPr>
      </p:cxnSp>
      <p:sp>
        <p:nvSpPr>
          <p:cNvPr name="AutoShape 9" id="9"/>
          <p:cNvSpPr/>
          <p:nvPr/>
        </p:nvSpPr>
        <p:spPr>
          <a:xfrm rot="0" flipH="false" flipV="false">
            <a:off x="1651000" y="20320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46A73"/>
                </a:solidFill>
                <a:latin typeface="Noto Sans SC"/>
                <a:ea typeface="Noto Sans SC"/>
                <a:cs typeface="Noto Sans SC"/>
                <a:sym typeface="Noto Sans SC"/>
              </a:rPr>
              <a:t>仅限博主本人直接推荐产生的流量保留，旨在确保博主自身组织线的持续深度成长，夯实个人业务基石，建立直接的价值连接。</a:t>
            </a:r>
            <a:endParaRPr lang="en-US" sz="1100"/>
          </a:p>
        </p:txBody>
      </p:sp>
      <p:sp>
        <p:nvSpPr>
          <p:cNvPr name="AutoShape 10" id="10"/>
          <p:cNvSpPr/>
          <p:nvPr/>
        </p:nvSpPr>
        <p:spPr>
          <a:xfrm rot="0" flipH="false" flipV="false">
            <a:off x="6350000" y="1270000"/>
            <a:ext cx="5334000" cy="1651000"/>
          </a:xfrm>
          <a:prstGeom prst="roundRect">
            <a:avLst>
              <a:gd name="adj" fmla="val 0"/>
            </a:avLst>
          </a:prstGeom>
          <a:solidFill>
            <a:srgbClr val="10B981">
              <a:alpha val="8000"/>
            </a:srgbClr>
          </a:solidFill>
          <a:ln cmpd="sng" cap="flat">
            <a:solidFill>
              <a:srgbClr val="00A06B">
                <a:alpha val="8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350000" y="1270000"/>
            <a:ext cx="76200" cy="1651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604000" y="1460500"/>
            <a:ext cx="609600" cy="609600"/>
          </a:xfrm>
          <a:prstGeom prst="rect">
            <a:avLst/>
          </a:prstGeom>
        </p:spPr>
      </p:pic>
      <p:sp>
        <p:nvSpPr>
          <p:cNvPr name="AutoShape 13" id="13"/>
          <p:cNvSpPr/>
          <p:nvPr/>
        </p:nvSpPr>
        <p:spPr>
          <a:xfrm rot="0" flipH="false" flipV="false">
            <a:off x="7493000" y="1397000"/>
            <a:ext cx="393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系统分配池 · 70% 普惠激励</a:t>
            </a:r>
            <a:endParaRPr lang="en-US" sz="1100"/>
          </a:p>
        </p:txBody>
      </p:sp>
      <p:cxnSp>
        <p:nvCxnSpPr>
          <p:cNvPr name="Connector 14" id="14"/>
          <p:cNvCxnSpPr/>
          <p:nvPr/>
        </p:nvCxnSpPr>
        <p:spPr>
          <a:xfrm rot="-11089" flipH="false" flipV="false">
            <a:off x="7493010" y="1898650"/>
            <a:ext cx="3937000" cy="12700"/>
          </a:xfrm>
          <a:prstGeom prst="straightConnector1">
            <a:avLst/>
          </a:prstGeom>
          <a:solidFill>
            <a:srgbClr val="DEE0E3">
              <a:alpha val="100000"/>
            </a:srgbClr>
          </a:solidFill>
          <a:ln w="12700" cmpd="sng" cap="flat">
            <a:solidFill>
              <a:srgbClr val="10B981">
                <a:alpha val="30000"/>
              </a:srgbClr>
            </a:solidFill>
            <a:prstDash val="dash"/>
            <a:round/>
            <a:headEnd type="none" w="med" len="med"/>
            <a:tailEnd type="none" w="med" len="med"/>
          </a:ln>
        </p:spPr>
      </p:cxnSp>
      <p:sp>
        <p:nvSpPr>
          <p:cNvPr name="AutoShape 15" id="15"/>
          <p:cNvSpPr/>
          <p:nvPr/>
        </p:nvSpPr>
        <p:spPr>
          <a:xfrm rot="0" flipH="false" flipV="false">
            <a:off x="7493000" y="2032000"/>
            <a:ext cx="3937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646A73"/>
                </a:solidFill>
                <a:latin typeface="Noto Sans SC"/>
                <a:ea typeface="Noto Sans SC"/>
                <a:cs typeface="Noto Sans SC"/>
                <a:sym typeface="Noto Sans SC"/>
              </a:rPr>
              <a:t>流量池核心部分，按照ABCD四类公平、科学的规则，动态分配给全体在岗经营者，激发团队整体活力与良性竞争。</a:t>
            </a:r>
            <a:endParaRPr lang="en-US" sz="1100"/>
          </a:p>
        </p:txBody>
      </p:sp>
      <p:cxnSp>
        <p:nvCxnSpPr>
          <p:cNvPr name="Connector 16" id="16"/>
          <p:cNvCxnSpPr/>
          <p:nvPr/>
        </p:nvCxnSpPr>
        <p:spPr>
          <a:xfrm rot="-3906" flipH="false" flipV="false">
            <a:off x="508004" y="3295650"/>
            <a:ext cx="11176000" cy="12700"/>
          </a:xfrm>
          <a:prstGeom prst="straightConnector1">
            <a:avLst/>
          </a:prstGeom>
          <a:solidFill>
            <a:srgbClr val="DEE0E3">
              <a:alpha val="100000"/>
            </a:srgbClr>
          </a:solidFill>
          <a:ln w="12700" cmpd="sng" cap="flat">
            <a:solidFill>
              <a:srgbClr val="F0F0F0">
                <a:alpha val="100000"/>
              </a:srgbClr>
            </a:solidFill>
            <a:prstDash val="solid"/>
            <a:round/>
            <a:headEnd type="none" w="med" len="med"/>
            <a:tailEnd type="none" w="med" len="med"/>
          </a:ln>
        </p:spPr>
      </p:cxnSp>
      <p:pic>
        <p:nvPicPr>
          <p:cNvPr name="Picture 17" id="17"/>
          <p:cNvPicPr>
            <a:picLocks noChangeAspect="true"/>
          </p:cNvPicPr>
          <p:nvPr/>
        </p:nvPicPr>
        <p:blipFill>
          <a:blip r:embed="rId6"/>
          <a:stretch>
            <a:fillRect/>
          </a:stretch>
        </p:blipFill>
        <p:spPr>
          <a:xfrm rot="0" flipH="false" flipV="false">
            <a:off x="508000" y="3683000"/>
            <a:ext cx="4572000" cy="2667000"/>
          </a:xfrm>
          <a:prstGeom prst="rect">
            <a:avLst/>
          </a:prstGeom>
          <a:ln w="12700">
            <a:noFill/>
            <a:prstDash val="solid"/>
          </a:ln>
        </p:spPr>
      </p:pic>
      <p:cxnSp>
        <p:nvCxnSpPr>
          <p:cNvPr name="Connector 18" id="18"/>
          <p:cNvCxnSpPr/>
          <p:nvPr/>
        </p:nvCxnSpPr>
        <p:spPr>
          <a:xfrm rot="5383629" flipH="false" flipV="false">
            <a:off x="4127500" y="5010165"/>
            <a:ext cx="2667000" cy="12700"/>
          </a:xfrm>
          <a:prstGeom prst="straightConnector1">
            <a:avLst/>
          </a:prstGeom>
          <a:solidFill>
            <a:srgbClr val="DEE0E3">
              <a:alpha val="100000"/>
            </a:srgbClr>
          </a:solidFill>
          <a:ln w="12700" cmpd="sng" cap="flat">
            <a:solidFill>
              <a:srgbClr val="E6E6E6">
                <a:alpha val="100000"/>
              </a:srgbClr>
            </a:solidFill>
            <a:prstDash val="solid"/>
            <a:round/>
            <a:headEnd type="none" w="med" len="med"/>
            <a:tailEnd type="none" w="med" len="med"/>
          </a:ln>
        </p:spPr>
      </p:cxnSp>
      <p:sp>
        <p:nvSpPr>
          <p:cNvPr name="AutoShape 19" id="19"/>
          <p:cNvSpPr/>
          <p:nvPr/>
        </p:nvSpPr>
        <p:spPr>
          <a:xfrm rot="0" flipH="false" flipV="false">
            <a:off x="5715000" y="3683000"/>
            <a:ext cx="2984500" cy="1270000"/>
          </a:xfrm>
          <a:prstGeom prst="roundRect">
            <a:avLst>
              <a:gd name="adj" fmla="val 0"/>
            </a:avLst>
          </a:prstGeom>
          <a:solidFill>
            <a:srgbClr val="3B82F6">
              <a:alpha val="5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5842000" y="3784600"/>
            <a:ext cx="2730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3B82F6"/>
                </a:solidFill>
                <a:latin typeface="Noto Sans SC"/>
                <a:ea typeface="Noto Sans SC"/>
                <a:cs typeface="Noto Sans SC"/>
                <a:sym typeface="Noto Sans SC"/>
              </a:rPr>
              <a:t>A类：岗位尽职分配 (50% | 35%)</a:t>
            </a:r>
            <a:endParaRPr lang="en-US" sz="1100"/>
          </a:p>
        </p:txBody>
      </p:sp>
      <p:cxnSp>
        <p:nvCxnSpPr>
          <p:cNvPr name="Connector 21" id="21"/>
          <p:cNvCxnSpPr/>
          <p:nvPr/>
        </p:nvCxnSpPr>
        <p:spPr>
          <a:xfrm rot="-15989" flipH="false" flipV="false">
            <a:off x="5842015" y="4184650"/>
            <a:ext cx="2730500" cy="12700"/>
          </a:xfrm>
          <a:prstGeom prst="straightConnector1">
            <a:avLst/>
          </a:prstGeom>
          <a:solidFill>
            <a:srgbClr val="DEE0E3">
              <a:alpha val="100000"/>
            </a:srgbClr>
          </a:solidFill>
          <a:ln w="12700" cmpd="sng" cap="flat">
            <a:solidFill>
              <a:srgbClr val="3B82F6">
                <a:alpha val="20000"/>
              </a:srgbClr>
            </a:solidFill>
            <a:prstDash val="solid"/>
            <a:round/>
            <a:headEnd type="none" w="med" len="med"/>
            <a:tailEnd type="none" w="med" len="med"/>
          </a:ln>
        </p:spPr>
      </p:cxnSp>
      <p:sp>
        <p:nvSpPr>
          <p:cNvPr name="AutoShape 22" id="22"/>
          <p:cNvSpPr/>
          <p:nvPr/>
        </p:nvSpPr>
        <p:spPr>
          <a:xfrm rot="0" flipH="false" flipV="false">
            <a:off x="5842000" y="4292600"/>
            <a:ext cx="2730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05050"/>
                </a:solidFill>
                <a:latin typeface="Noto Sans SC"/>
                <a:ea typeface="Noto Sans SC"/>
                <a:cs typeface="Noto Sans SC"/>
                <a:sym typeface="Noto Sans SC"/>
              </a:rPr>
              <a:t>系统分配池的核心基石，保障在岗且履行基本职责的经营者获得稳定基础流量，确保基本盘稳固。</a:t>
            </a:r>
            <a:endParaRPr lang="en-US" sz="1100"/>
          </a:p>
        </p:txBody>
      </p:sp>
      <p:sp>
        <p:nvSpPr>
          <p:cNvPr name="AutoShape 23" id="23"/>
          <p:cNvSpPr/>
          <p:nvPr/>
        </p:nvSpPr>
        <p:spPr>
          <a:xfrm rot="0" flipH="false" flipV="false">
            <a:off x="8890000" y="3683000"/>
            <a:ext cx="2984500" cy="1270000"/>
          </a:xfrm>
          <a:prstGeom prst="roundRect">
            <a:avLst>
              <a:gd name="adj" fmla="val 0"/>
            </a:avLst>
          </a:prstGeom>
          <a:solidFill>
            <a:srgbClr val="F59E0B">
              <a:alpha val="5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017000" y="3784600"/>
            <a:ext cx="2730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59E0B"/>
                </a:solidFill>
                <a:latin typeface="Noto Sans SC"/>
                <a:ea typeface="Noto Sans SC"/>
                <a:cs typeface="Noto Sans SC"/>
                <a:sym typeface="Noto Sans SC"/>
              </a:rPr>
              <a:t>B类：晋升冲刺加权 (20% | 14%)</a:t>
            </a:r>
            <a:endParaRPr lang="en-US" sz="1100"/>
          </a:p>
        </p:txBody>
      </p:sp>
      <p:cxnSp>
        <p:nvCxnSpPr>
          <p:cNvPr name="Connector 25" id="25"/>
          <p:cNvCxnSpPr/>
          <p:nvPr/>
        </p:nvCxnSpPr>
        <p:spPr>
          <a:xfrm rot="-15989" flipH="false" flipV="false">
            <a:off x="9017015" y="4184650"/>
            <a:ext cx="2730500" cy="12700"/>
          </a:xfrm>
          <a:prstGeom prst="straightConnector1">
            <a:avLst/>
          </a:prstGeom>
          <a:solidFill>
            <a:srgbClr val="DEE0E3">
              <a:alpha val="100000"/>
            </a:srgbClr>
          </a:solidFill>
          <a:ln w="12700" cmpd="sng" cap="flat">
            <a:solidFill>
              <a:srgbClr val="F59E0B">
                <a:alpha val="20000"/>
              </a:srgbClr>
            </a:solidFill>
            <a:prstDash val="solid"/>
            <a:round/>
            <a:headEnd type="none" w="med" len="med"/>
            <a:tailEnd type="none" w="med" len="med"/>
          </a:ln>
        </p:spPr>
      </p:cxnSp>
      <p:sp>
        <p:nvSpPr>
          <p:cNvPr name="AutoShape 26" id="26"/>
          <p:cNvSpPr/>
          <p:nvPr/>
        </p:nvSpPr>
        <p:spPr>
          <a:xfrm rot="0" flipH="false" flipV="false">
            <a:off x="9017000" y="4292600"/>
            <a:ext cx="2730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05050"/>
                </a:solidFill>
                <a:latin typeface="Noto Sans SC"/>
                <a:ea typeface="Noto Sans SC"/>
                <a:cs typeface="Noto Sans SC"/>
                <a:sym typeface="Noto Sans SC"/>
              </a:rPr>
              <a:t>针对处于晋升考核期或挑战更高职级的经营者进行流量加权，激励能力提升与层级突破。</a:t>
            </a:r>
            <a:endParaRPr lang="en-US" sz="1100"/>
          </a:p>
        </p:txBody>
      </p:sp>
      <p:sp>
        <p:nvSpPr>
          <p:cNvPr name="AutoShape 27" id="27"/>
          <p:cNvSpPr/>
          <p:nvPr/>
        </p:nvSpPr>
        <p:spPr>
          <a:xfrm rot="0" flipH="false" flipV="false">
            <a:off x="5715000" y="5143500"/>
            <a:ext cx="2984500" cy="1270000"/>
          </a:xfrm>
          <a:prstGeom prst="roundRect">
            <a:avLst>
              <a:gd name="adj" fmla="val 0"/>
            </a:avLst>
          </a:prstGeom>
          <a:solidFill>
            <a:srgbClr val="10B981">
              <a:alpha val="5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5842000" y="5245100"/>
            <a:ext cx="2730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0B981"/>
                </a:solidFill>
                <a:latin typeface="Noto Sans SC"/>
                <a:ea typeface="Noto Sans SC"/>
                <a:cs typeface="Noto Sans SC"/>
                <a:sym typeface="Noto Sans SC"/>
              </a:rPr>
              <a:t>C类：自驱努力奖励 (15% | 10.5%)</a:t>
            </a:r>
            <a:endParaRPr lang="en-US" sz="1100"/>
          </a:p>
        </p:txBody>
      </p:sp>
      <p:cxnSp>
        <p:nvCxnSpPr>
          <p:cNvPr name="Connector 29" id="29"/>
          <p:cNvCxnSpPr/>
          <p:nvPr/>
        </p:nvCxnSpPr>
        <p:spPr>
          <a:xfrm rot="-15989" flipH="false" flipV="false">
            <a:off x="5842015" y="5645150"/>
            <a:ext cx="2730500" cy="12700"/>
          </a:xfrm>
          <a:prstGeom prst="straightConnector1">
            <a:avLst/>
          </a:prstGeom>
          <a:solidFill>
            <a:srgbClr val="DEE0E3">
              <a:alpha val="100000"/>
            </a:srgbClr>
          </a:solidFill>
          <a:ln w="12700" cmpd="sng" cap="flat">
            <a:solidFill>
              <a:srgbClr val="10B981">
                <a:alpha val="20000"/>
              </a:srgbClr>
            </a:solidFill>
            <a:prstDash val="solid"/>
            <a:round/>
            <a:headEnd type="none" w="med" len="med"/>
            <a:tailEnd type="none" w="med" len="med"/>
          </a:ln>
        </p:spPr>
      </p:cxnSp>
      <p:sp>
        <p:nvSpPr>
          <p:cNvPr name="AutoShape 30" id="30"/>
          <p:cNvSpPr/>
          <p:nvPr/>
        </p:nvSpPr>
        <p:spPr>
          <a:xfrm rot="0" flipH="false" flipV="false">
            <a:off x="5842000" y="5753100"/>
            <a:ext cx="2730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05050"/>
                </a:solidFill>
                <a:latin typeface="Noto Sans SC"/>
                <a:ea typeface="Noto Sans SC"/>
                <a:cs typeface="Noto Sans SC"/>
                <a:sym typeface="Noto Sans SC"/>
              </a:rPr>
              <a:t>奖励主动学习、拓展市场、活跃社群的经营者，鼓励“多劳多得”，激发个体主观能动性。</a:t>
            </a:r>
            <a:endParaRPr lang="en-US" sz="1100"/>
          </a:p>
        </p:txBody>
      </p:sp>
      <p:sp>
        <p:nvSpPr>
          <p:cNvPr name="AutoShape 31" id="31"/>
          <p:cNvSpPr/>
          <p:nvPr/>
        </p:nvSpPr>
        <p:spPr>
          <a:xfrm rot="0" flipH="false" flipV="false">
            <a:off x="8890000" y="5143500"/>
            <a:ext cx="2984500" cy="1270000"/>
          </a:xfrm>
          <a:prstGeom prst="roundRect">
            <a:avLst>
              <a:gd name="adj" fmla="val 0"/>
            </a:avLst>
          </a:prstGeom>
          <a:solidFill>
            <a:srgbClr val="6366F1">
              <a:alpha val="5000"/>
            </a:srgbClr>
          </a:solidFill>
          <a:ln w="12700" cmpd="sng" cap="flat">
            <a:solidFill>
              <a:srgbClr val="6366F1">
                <a:alpha val="3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9017000" y="5245100"/>
            <a:ext cx="2730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6366F1"/>
                </a:solidFill>
                <a:latin typeface="Noto Sans SC"/>
                <a:ea typeface="Noto Sans SC"/>
                <a:cs typeface="Noto Sans SC"/>
                <a:sym typeface="Noto Sans SC"/>
              </a:rPr>
              <a:t>D类：弹性调控与扶持 (15% | 10.5%)</a:t>
            </a:r>
            <a:endParaRPr lang="en-US" sz="1100"/>
          </a:p>
        </p:txBody>
      </p:sp>
      <p:cxnSp>
        <p:nvCxnSpPr>
          <p:cNvPr name="Connector 33" id="33"/>
          <p:cNvCxnSpPr/>
          <p:nvPr/>
        </p:nvCxnSpPr>
        <p:spPr>
          <a:xfrm rot="-15989" flipH="false" flipV="false">
            <a:off x="9017015" y="5645150"/>
            <a:ext cx="2730500" cy="12700"/>
          </a:xfrm>
          <a:prstGeom prst="straightConnector1">
            <a:avLst/>
          </a:prstGeom>
          <a:solidFill>
            <a:srgbClr val="DEE0E3">
              <a:alpha val="100000"/>
            </a:srgbClr>
          </a:solidFill>
          <a:ln w="12700" cmpd="sng" cap="flat">
            <a:solidFill>
              <a:srgbClr val="6366F1">
                <a:alpha val="20000"/>
              </a:srgbClr>
            </a:solidFill>
            <a:prstDash val="solid"/>
            <a:round/>
            <a:headEnd type="none" w="med" len="med"/>
            <a:tailEnd type="none" w="med" len="med"/>
          </a:ln>
        </p:spPr>
      </p:cxnSp>
      <p:sp>
        <p:nvSpPr>
          <p:cNvPr name="AutoShape 34" id="34"/>
          <p:cNvSpPr/>
          <p:nvPr/>
        </p:nvSpPr>
        <p:spPr>
          <a:xfrm rot="0" flipH="false" flipV="false">
            <a:off x="9017000" y="5753100"/>
            <a:ext cx="2730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05050"/>
                </a:solidFill>
                <a:latin typeface="Noto Sans SC"/>
                <a:ea typeface="Noto Sans SC"/>
                <a:cs typeface="Noto Sans SC"/>
                <a:sym typeface="Noto Sans SC"/>
              </a:rPr>
              <a:t>用于市场平衡调节及新人前期扶持，确保新进人员有生存发展空间，维护生态的可持续性。</a:t>
            </a:r>
            <a:endParaRPr lang="en-US" sz="1100"/>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12529"/>
                </a:solidFill>
                <a:latin typeface="Noto Sans SC"/>
                <a:ea typeface="Noto Sans SC"/>
                <a:cs typeface="Noto Sans SC"/>
                <a:sym typeface="Noto Sans SC"/>
              </a:rPr>
              <a:t>A类：岗位尽职分配</a:t>
            </a:r>
            <a:endParaRPr lang="en-US" sz="1100"/>
          </a:p>
        </p:txBody>
      </p:sp>
      <p:sp>
        <p:nvSpPr>
          <p:cNvPr name="AutoShape 3" id="3"/>
          <p:cNvSpPr/>
          <p:nvPr/>
        </p:nvSpPr>
        <p:spPr>
          <a:xfrm rot="0" flipH="false" flipV="false">
            <a:off x="508000" y="952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C757D"/>
                </a:solidFill>
                <a:latin typeface="Noto Sans SC"/>
                <a:ea typeface="Noto Sans SC"/>
                <a:cs typeface="Noto Sans SC"/>
                <a:sym typeface="Noto Sans SC"/>
              </a:rPr>
              <a:t>占系统分配池50% | 月度总流量35% —— 基于岗位价值的公平分配体系</a:t>
            </a:r>
            <a:endParaRPr lang="en-US" sz="1100"/>
          </a:p>
        </p:txBody>
      </p:sp>
      <p:cxnSp>
        <p:nvCxnSpPr>
          <p:cNvPr name="Connector 4" id="4"/>
          <p:cNvCxnSpPr/>
          <p:nvPr/>
        </p:nvCxnSpPr>
        <p:spPr>
          <a:xfrm rot="-3906" flipH="false" flipV="false">
            <a:off x="508004" y="1517650"/>
            <a:ext cx="11176000" cy="12700"/>
          </a:xfrm>
          <a:prstGeom prst="straightConnector1">
            <a:avLst/>
          </a:prstGeom>
          <a:solidFill>
            <a:srgbClr val="DEE0E3">
              <a:alpha val="100000"/>
            </a:srgbClr>
          </a:solidFill>
          <a:ln w="12700" cmpd="sng" cap="flat">
            <a:solidFill>
              <a:srgbClr val="2196F3">
                <a:alpha val="30000"/>
              </a:srgbClr>
            </a:solidFill>
            <a:prstDash val="solid"/>
            <a:round/>
            <a:headEnd type="none" w="med" len="med"/>
            <a:tailEnd type="none" w="med" len="med"/>
          </a:ln>
        </p:spPr>
      </p:cxnSp>
      <p:sp>
        <p:nvSpPr>
          <p:cNvPr name="AutoShape 5" id="5"/>
          <p:cNvSpPr/>
          <p:nvPr/>
        </p:nvSpPr>
        <p:spPr>
          <a:xfrm rot="0" flipH="false" flipV="false">
            <a:off x="508000" y="1905000"/>
            <a:ext cx="5207000" cy="2222500"/>
          </a:xfrm>
          <a:prstGeom prst="roundRect">
            <a:avLst>
              <a:gd name="adj" fmla="val 0"/>
            </a:avLst>
          </a:prstGeom>
          <a:solidFill>
            <a:srgbClr val="E3F2FD">
              <a:alpha val="100000"/>
            </a:srgbClr>
          </a:solidFill>
          <a:ln cmpd="sng" cap="flat">
            <a:solidFill>
              <a:srgbClr val="B5D0E4">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905000"/>
            <a:ext cx="76200" cy="2222500"/>
          </a:xfrm>
          <a:prstGeom prst="roundRect">
            <a:avLst>
              <a:gd name="adj" fmla="val 0"/>
            </a:avLst>
          </a:prstGeom>
          <a:solidFill>
            <a:srgbClr val="2196F3">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095500"/>
            <a:ext cx="406400" cy="406400"/>
          </a:xfrm>
          <a:prstGeom prst="rect">
            <a:avLst/>
          </a:prstGeom>
        </p:spPr>
      </p:pic>
      <p:sp>
        <p:nvSpPr>
          <p:cNvPr name="AutoShape 8" id="8"/>
          <p:cNvSpPr/>
          <p:nvPr/>
        </p:nvSpPr>
        <p:spPr>
          <a:xfrm rot="0" flipH="false" flipV="false">
            <a:off x="1270000" y="2057400"/>
            <a:ext cx="4191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D47A1"/>
                </a:solidFill>
                <a:latin typeface="Noto Sans SC"/>
                <a:ea typeface="Noto Sans SC"/>
                <a:cs typeface="Noto Sans SC"/>
                <a:sym typeface="Noto Sans SC"/>
              </a:rPr>
              <a:t>核心逻辑：无需懂经营，专注本职即获分配</a:t>
            </a:r>
            <a:endParaRPr lang="en-US" sz="1100"/>
          </a:p>
        </p:txBody>
      </p:sp>
      <p:cxnSp>
        <p:nvCxnSpPr>
          <p:cNvPr name="Connector 9" id="9"/>
          <p:cNvCxnSpPr/>
          <p:nvPr/>
        </p:nvCxnSpPr>
        <p:spPr>
          <a:xfrm rot="-9291" flipH="false" flipV="false">
            <a:off x="762009" y="2660650"/>
            <a:ext cx="4699000" cy="12700"/>
          </a:xfrm>
          <a:prstGeom prst="straightConnector1">
            <a:avLst/>
          </a:prstGeom>
          <a:solidFill>
            <a:srgbClr val="DEE0E3">
              <a:alpha val="100000"/>
            </a:srgbClr>
          </a:solidFill>
          <a:ln w="12700" cmpd="sng" cap="flat">
            <a:solidFill>
              <a:srgbClr val="2196F3">
                <a:alpha val="20000"/>
              </a:srgbClr>
            </a:solidFill>
            <a:prstDash val="dash"/>
            <a:round/>
            <a:headEnd type="none" w="med" len="med"/>
            <a:tailEnd type="none" w="med" len="med"/>
          </a:ln>
        </p:spPr>
      </p:cxnSp>
      <p:sp>
        <p:nvSpPr>
          <p:cNvPr name="AutoShape 10" id="10"/>
          <p:cNvSpPr/>
          <p:nvPr/>
        </p:nvSpPr>
        <p:spPr>
          <a:xfrm rot="0" flipH="false" flipV="false">
            <a:off x="762000" y="2857500"/>
            <a:ext cx="469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424242"/>
                </a:solidFill>
                <a:latin typeface="Noto Sans SC"/>
                <a:ea typeface="Noto Sans SC"/>
                <a:cs typeface="Noto Sans SC"/>
                <a:sym typeface="Noto Sans SC"/>
              </a:rPr>
              <a:t>不需要自己学会复杂的美乐家经营技巧，你只需要在选定的岗位上恪尽职守、认真工作。系统将根据岗位贡献度，每月自动为你分配新会员资源，真正实现“工作即收益”的稳定闭环。</a:t>
            </a:r>
            <a:endParaRPr lang="en-US" sz="1100"/>
          </a:p>
        </p:txBody>
      </p:sp>
      <p:sp>
        <p:nvSpPr>
          <p:cNvPr name="AutoShape 11" id="11"/>
          <p:cNvSpPr/>
          <p:nvPr/>
        </p:nvSpPr>
        <p:spPr>
          <a:xfrm rot="0" flipH="false" flipV="false">
            <a:off x="508000" y="4445000"/>
            <a:ext cx="5207000" cy="1841500"/>
          </a:xfrm>
          <a:prstGeom prst="roundRect">
            <a:avLst>
              <a:gd name="adj" fmla="val 0"/>
            </a:avLst>
          </a:prstGeom>
          <a:solidFill>
            <a:srgbClr val="E8F5E9">
              <a:alpha val="100000"/>
            </a:srgbClr>
          </a:solidFill>
          <a:ln cmpd="sng" cap="flat">
            <a:solidFill>
              <a:srgbClr val="BADCBC">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508000" y="4445000"/>
            <a:ext cx="76200" cy="1841500"/>
          </a:xfrm>
          <a:prstGeom prst="roundRect">
            <a:avLst>
              <a:gd name="adj" fmla="val 0"/>
            </a:avLst>
          </a:prstGeom>
          <a:solidFill>
            <a:srgbClr val="4CAF5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4635500"/>
            <a:ext cx="406400" cy="406400"/>
          </a:xfrm>
          <a:prstGeom prst="rect">
            <a:avLst/>
          </a:prstGeom>
        </p:spPr>
      </p:pic>
      <p:sp>
        <p:nvSpPr>
          <p:cNvPr name="AutoShape 14" id="14"/>
          <p:cNvSpPr/>
          <p:nvPr/>
        </p:nvSpPr>
        <p:spPr>
          <a:xfrm rot="0" flipH="false" flipV="false">
            <a:off x="1270000" y="4597400"/>
            <a:ext cx="4191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B5E20"/>
                </a:solidFill>
                <a:latin typeface="Noto Sans SC"/>
                <a:ea typeface="Noto Sans SC"/>
                <a:cs typeface="Noto Sans SC"/>
                <a:sym typeface="Noto Sans SC"/>
              </a:rPr>
              <a:t>底线保障：基础收益的安全垫</a:t>
            </a:r>
            <a:endParaRPr lang="en-US" sz="1100"/>
          </a:p>
        </p:txBody>
      </p:sp>
      <p:cxnSp>
        <p:nvCxnSpPr>
          <p:cNvPr name="Connector 15" id="15"/>
          <p:cNvCxnSpPr/>
          <p:nvPr/>
        </p:nvCxnSpPr>
        <p:spPr>
          <a:xfrm rot="-9291" flipH="false" flipV="false">
            <a:off x="762009" y="5137150"/>
            <a:ext cx="4699000" cy="12700"/>
          </a:xfrm>
          <a:prstGeom prst="straightConnector1">
            <a:avLst/>
          </a:prstGeom>
          <a:solidFill>
            <a:srgbClr val="DEE0E3">
              <a:alpha val="100000"/>
            </a:srgbClr>
          </a:solidFill>
          <a:ln w="12700" cmpd="sng" cap="flat">
            <a:solidFill>
              <a:srgbClr val="4CAF50">
                <a:alpha val="20000"/>
              </a:srgbClr>
            </a:solidFill>
            <a:prstDash val="dash"/>
            <a:round/>
            <a:headEnd type="none" w="med" len="med"/>
            <a:tailEnd type="none" w="med" len="med"/>
          </a:ln>
        </p:spPr>
      </p:cxnSp>
      <p:sp>
        <p:nvSpPr>
          <p:cNvPr name="AutoShape 16" id="16"/>
          <p:cNvSpPr/>
          <p:nvPr/>
        </p:nvSpPr>
        <p:spPr>
          <a:xfrm rot="0" flipH="false" flipV="false">
            <a:off x="762000" y="52705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424242"/>
                </a:solidFill>
                <a:latin typeface="Noto Sans SC"/>
                <a:ea typeface="Noto Sans SC"/>
                <a:cs typeface="Noto Sans SC"/>
                <a:sym typeface="Noto Sans SC"/>
              </a:rPr>
              <a:t>规则兜底：所有当月评定为“踏实前行”及以上的经营者，无论团队规模大小，每月至少保底获得</a:t>
            </a:r>
            <a:r>
              <a:rPr lang="en-US" b="true" i="false" strike="noStrike" u="none" sz="1600">
                <a:solidFill>
                  <a:srgbClr val="D84315"/>
                </a:solidFill>
                <a:latin typeface="Noto Sans SC"/>
                <a:ea typeface="Noto Sans SC"/>
                <a:cs typeface="Noto Sans SC"/>
                <a:sym typeface="Noto Sans SC"/>
              </a:rPr>
              <a:t>1名</a:t>
            </a:r>
            <a:r>
              <a:rPr lang="en-US" b="false" i="false" strike="noStrike" u="none" sz="1400">
                <a:solidFill>
                  <a:srgbClr val="424242"/>
                </a:solidFill>
                <a:latin typeface="Noto Sans SC"/>
                <a:ea typeface="Noto Sans SC"/>
                <a:cs typeface="Noto Sans SC"/>
                <a:sym typeface="Noto Sans SC"/>
              </a:rPr>
              <a:t>新会员，确保每一份努力都有看得见的回馈。</a:t>
            </a:r>
            <a:endParaRPr lang="en-US" sz="1100"/>
          </a:p>
        </p:txBody>
      </p:sp>
      <p:cxnSp>
        <p:nvCxnSpPr>
          <p:cNvPr name="Connector 17" id="17"/>
          <p:cNvCxnSpPr/>
          <p:nvPr/>
        </p:nvCxnSpPr>
        <p:spPr>
          <a:xfrm rot="5390035" flipH="false" flipV="false">
            <a:off x="3905250" y="4089409"/>
            <a:ext cx="43815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8" id="18"/>
          <p:cNvSpPr/>
          <p:nvPr/>
        </p:nvSpPr>
        <p:spPr>
          <a:xfrm rot="0" flipH="false" flipV="false">
            <a:off x="6350000" y="1905000"/>
            <a:ext cx="533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505050"/>
                </a:solidFill>
                <a:latin typeface="Noto Sans SC"/>
                <a:ea typeface="Noto Sans SC"/>
                <a:cs typeface="Noto Sans SC"/>
                <a:sym typeface="Noto Sans SC"/>
              </a:rPr>
              <a:t>分配公式：岗位贡献系数 × 月度评定倍数（持续精进/踏实前行）。系数根据岗位在组织线中的源头价值与职能重要性分级设定。</a:t>
            </a:r>
            <a:endParaRPr lang="en-US" sz="1100"/>
          </a:p>
        </p:txBody>
      </p:sp>
      <p:sp>
        <p:nvSpPr>
          <p:cNvPr name="AutoShape 19" id="19"/>
          <p:cNvSpPr/>
          <p:nvPr/>
        </p:nvSpPr>
        <p:spPr>
          <a:xfrm rot="0" flipH="false" flipV="false">
            <a:off x="6350000" y="2921000"/>
            <a:ext cx="2603500" cy="1460500"/>
          </a:xfrm>
          <a:prstGeom prst="roundRect">
            <a:avLst>
              <a:gd name="adj" fmla="val 0"/>
            </a:avLst>
          </a:prstGeom>
          <a:solidFill>
            <a:srgbClr val="2196F3">
              <a:alpha val="10000"/>
            </a:srgbClr>
          </a:solidFill>
          <a:ln w="12700" cmpd="sng" cap="flat">
            <a:solidFill>
              <a:srgbClr val="2196F3">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477000" y="30480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2196F3"/>
                </a:solidFill>
                <a:latin typeface="Noto Sans SC"/>
                <a:ea typeface="Noto Sans SC"/>
                <a:cs typeface="Noto Sans SC"/>
                <a:sym typeface="Noto Sans SC"/>
              </a:rPr>
              <a:t>3.0 / 2.5</a:t>
            </a:r>
            <a:endParaRPr lang="en-US" sz="1100"/>
          </a:p>
        </p:txBody>
      </p:sp>
      <p:cxnSp>
        <p:nvCxnSpPr>
          <p:cNvPr name="Connector 21" id="21"/>
          <p:cNvCxnSpPr/>
          <p:nvPr/>
        </p:nvCxnSpPr>
        <p:spPr>
          <a:xfrm rot="-18582" flipH="false" flipV="false">
            <a:off x="6477017" y="3549650"/>
            <a:ext cx="2349500" cy="12700"/>
          </a:xfrm>
          <a:prstGeom prst="straightConnector1">
            <a:avLst/>
          </a:prstGeom>
          <a:solidFill>
            <a:srgbClr val="DEE0E3">
              <a:alpha val="100000"/>
            </a:srgbClr>
          </a:solidFill>
          <a:ln w="12700" cmpd="sng" cap="flat">
            <a:solidFill>
              <a:srgbClr val="2196F3">
                <a:alpha val="20000"/>
              </a:srgbClr>
            </a:solidFill>
            <a:prstDash val="solid"/>
            <a:round/>
            <a:headEnd type="none" w="med" len="med"/>
            <a:tailEnd type="none" w="med" len="med"/>
          </a:ln>
        </p:spPr>
      </p:cxnSp>
      <p:sp>
        <p:nvSpPr>
          <p:cNvPr name="AutoShape 22" id="22"/>
          <p:cNvSpPr/>
          <p:nvPr/>
        </p:nvSpPr>
        <p:spPr>
          <a:xfrm rot="0" flipH="false" flipV="false">
            <a:off x="6477000" y="3683000"/>
            <a:ext cx="2349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23232"/>
                </a:solidFill>
                <a:latin typeface="Noto Sans SC"/>
                <a:ea typeface="Noto Sans SC"/>
                <a:cs typeface="Noto Sans SC"/>
                <a:sym typeface="Noto Sans SC"/>
              </a:rPr>
              <a:t>源头核心岗：</a:t>
            </a:r>
            <a:r>
              <a:rPr lang="en-US" b="false" i="false" strike="noStrike" u="none" sz="1200">
                <a:solidFill>
                  <a:srgbClr val="646464"/>
                </a:solidFill>
                <a:latin typeface="Noto Sans SC"/>
                <a:ea typeface="Noto Sans SC"/>
                <a:cs typeface="Noto Sans SC"/>
                <a:sym typeface="Noto Sans SC"/>
              </a:rPr>
              <a:t>博主本人、社群主理人（组织线发起者，价值最高）。</a:t>
            </a:r>
            <a:endParaRPr lang="en-US" sz="1100"/>
          </a:p>
        </p:txBody>
      </p:sp>
      <p:sp>
        <p:nvSpPr>
          <p:cNvPr name="AutoShape 23" id="23"/>
          <p:cNvSpPr/>
          <p:nvPr/>
        </p:nvSpPr>
        <p:spPr>
          <a:xfrm rot="0" flipH="false" flipV="false">
            <a:off x="9080500" y="2921000"/>
            <a:ext cx="2603500" cy="1460500"/>
          </a:xfrm>
          <a:prstGeom prst="roundRect">
            <a:avLst>
              <a:gd name="adj" fmla="val 0"/>
            </a:avLst>
          </a:prstGeom>
          <a:solidFill>
            <a:srgbClr val="3F51B5">
              <a:alpha val="10000"/>
            </a:srgbClr>
          </a:solidFill>
          <a:ln w="12700" cmpd="sng" cap="flat">
            <a:solidFill>
              <a:srgbClr val="3F51B5">
                <a:alpha val="3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9207500" y="30480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F51B5"/>
                </a:solidFill>
                <a:latin typeface="Noto Sans SC"/>
                <a:ea typeface="Noto Sans SC"/>
                <a:cs typeface="Noto Sans SC"/>
                <a:sym typeface="Noto Sans SC"/>
              </a:rPr>
              <a:t>2.0</a:t>
            </a:r>
            <a:endParaRPr lang="en-US" sz="1100"/>
          </a:p>
        </p:txBody>
      </p:sp>
      <p:cxnSp>
        <p:nvCxnSpPr>
          <p:cNvPr name="Connector 25" id="25"/>
          <p:cNvCxnSpPr/>
          <p:nvPr/>
        </p:nvCxnSpPr>
        <p:spPr>
          <a:xfrm rot="-18582" flipH="false" flipV="false">
            <a:off x="9207517" y="3549650"/>
            <a:ext cx="2349500" cy="12700"/>
          </a:xfrm>
          <a:prstGeom prst="straightConnector1">
            <a:avLst/>
          </a:prstGeom>
          <a:solidFill>
            <a:srgbClr val="DEE0E3">
              <a:alpha val="100000"/>
            </a:srgbClr>
          </a:solidFill>
          <a:ln w="12700" cmpd="sng" cap="flat">
            <a:solidFill>
              <a:srgbClr val="3F51B5">
                <a:alpha val="20000"/>
              </a:srgbClr>
            </a:solidFill>
            <a:prstDash val="solid"/>
            <a:round/>
            <a:headEnd type="none" w="med" len="med"/>
            <a:tailEnd type="none" w="med" len="med"/>
          </a:ln>
        </p:spPr>
      </p:cxnSp>
      <p:sp>
        <p:nvSpPr>
          <p:cNvPr name="AutoShape 26" id="26"/>
          <p:cNvSpPr/>
          <p:nvPr/>
        </p:nvSpPr>
        <p:spPr>
          <a:xfrm rot="0" flipH="false" flipV="false">
            <a:off x="9207500" y="3683000"/>
            <a:ext cx="2349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23232"/>
                </a:solidFill>
                <a:latin typeface="Noto Sans SC"/>
                <a:ea typeface="Noto Sans SC"/>
                <a:cs typeface="Noto Sans SC"/>
                <a:sym typeface="Noto Sans SC"/>
              </a:rPr>
              <a:t>枢纽管理岗：</a:t>
            </a:r>
            <a:r>
              <a:rPr lang="en-US" b="false" i="false" strike="noStrike" u="none" sz="1200">
                <a:solidFill>
                  <a:srgbClr val="646464"/>
                </a:solidFill>
                <a:latin typeface="Noto Sans SC"/>
                <a:ea typeface="Noto Sans SC"/>
                <a:cs typeface="Noto Sans SC"/>
                <a:sym typeface="Noto Sans SC"/>
              </a:rPr>
              <a:t>体验馆店长、线下活动负责人（负责实体承载与活动落地）。</a:t>
            </a:r>
            <a:endParaRPr lang="en-US" sz="1100"/>
          </a:p>
        </p:txBody>
      </p:sp>
      <p:sp>
        <p:nvSpPr>
          <p:cNvPr name="AutoShape 27" id="27"/>
          <p:cNvSpPr/>
          <p:nvPr/>
        </p:nvSpPr>
        <p:spPr>
          <a:xfrm rot="0" flipH="false" flipV="false">
            <a:off x="6350000" y="4572000"/>
            <a:ext cx="2603500" cy="1714500"/>
          </a:xfrm>
          <a:prstGeom prst="roundRect">
            <a:avLst>
              <a:gd name="adj" fmla="val 0"/>
            </a:avLst>
          </a:prstGeom>
          <a:solidFill>
            <a:srgbClr val="FF9800">
              <a:alpha val="8000"/>
            </a:srgbClr>
          </a:solidFill>
          <a:ln w="12700" cmpd="sng" cap="flat">
            <a:solidFill>
              <a:srgbClr val="FF9800">
                <a:alpha val="30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6477000" y="46990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FF9800"/>
                </a:solidFill>
                <a:latin typeface="Noto Sans SC"/>
                <a:ea typeface="Noto Sans SC"/>
                <a:cs typeface="Noto Sans SC"/>
                <a:sym typeface="Noto Sans SC"/>
              </a:rPr>
              <a:t>1.5 / 1.2</a:t>
            </a:r>
            <a:endParaRPr lang="en-US" sz="1100"/>
          </a:p>
        </p:txBody>
      </p:sp>
      <p:cxnSp>
        <p:nvCxnSpPr>
          <p:cNvPr name="Connector 29" id="29"/>
          <p:cNvCxnSpPr/>
          <p:nvPr/>
        </p:nvCxnSpPr>
        <p:spPr>
          <a:xfrm rot="-18582" flipH="false" flipV="false">
            <a:off x="6477017" y="5200650"/>
            <a:ext cx="2349500" cy="12700"/>
          </a:xfrm>
          <a:prstGeom prst="straightConnector1">
            <a:avLst/>
          </a:prstGeom>
          <a:solidFill>
            <a:srgbClr val="DEE0E3">
              <a:alpha val="100000"/>
            </a:srgbClr>
          </a:solidFill>
          <a:ln w="12700" cmpd="sng" cap="flat">
            <a:solidFill>
              <a:srgbClr val="FF9800">
                <a:alpha val="20000"/>
              </a:srgbClr>
            </a:solidFill>
            <a:prstDash val="solid"/>
            <a:round/>
            <a:headEnd type="none" w="med" len="med"/>
            <a:tailEnd type="none" w="med" len="med"/>
          </a:ln>
        </p:spPr>
      </p:cxnSp>
      <p:sp>
        <p:nvSpPr>
          <p:cNvPr name="AutoShape 30" id="30"/>
          <p:cNvSpPr/>
          <p:nvPr/>
        </p:nvSpPr>
        <p:spPr>
          <a:xfrm rot="0" flipH="false" flipV="false">
            <a:off x="6477000" y="5334000"/>
            <a:ext cx="2349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23232"/>
                </a:solidFill>
                <a:latin typeface="Noto Sans SC"/>
                <a:ea typeface="Noto Sans SC"/>
                <a:cs typeface="Noto Sans SC"/>
                <a:sym typeface="Noto Sans SC"/>
              </a:rPr>
              <a:t>执行实施岗：</a:t>
            </a:r>
            <a:r>
              <a:rPr lang="en-US" b="false" i="false" strike="noStrike" u="none" sz="1200">
                <a:solidFill>
                  <a:srgbClr val="646464"/>
                </a:solidFill>
                <a:latin typeface="Noto Sans SC"/>
                <a:ea typeface="Noto Sans SC"/>
                <a:cs typeface="Noto Sans SC"/>
                <a:sym typeface="Noto Sans SC"/>
              </a:rPr>
              <a:t>团队成员、运营专员、馆内运营及活动执行人员（负责具体事务落地）。</a:t>
            </a:r>
            <a:endParaRPr lang="en-US" sz="1100"/>
          </a:p>
        </p:txBody>
      </p:sp>
      <p:sp>
        <p:nvSpPr>
          <p:cNvPr name="AutoShape 31" id="31"/>
          <p:cNvSpPr/>
          <p:nvPr/>
        </p:nvSpPr>
        <p:spPr>
          <a:xfrm rot="0" flipH="false" flipV="false">
            <a:off x="9080500" y="4572000"/>
            <a:ext cx="2603500" cy="1714500"/>
          </a:xfrm>
          <a:prstGeom prst="roundRect">
            <a:avLst>
              <a:gd name="adj" fmla="val 0"/>
            </a:avLst>
          </a:prstGeom>
          <a:solidFill>
            <a:srgbClr val="78909C">
              <a:alpha val="8000"/>
            </a:srgbClr>
          </a:solidFill>
          <a:ln w="12700" cmpd="sng" cap="flat">
            <a:solidFill>
              <a:srgbClr val="78909C">
                <a:alpha val="3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9207500" y="46990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78909C"/>
                </a:solidFill>
                <a:latin typeface="Noto Sans SC"/>
                <a:ea typeface="Noto Sans SC"/>
                <a:cs typeface="Noto Sans SC"/>
                <a:sym typeface="Noto Sans SC"/>
              </a:rPr>
              <a:t>1.0</a:t>
            </a:r>
            <a:endParaRPr lang="en-US" sz="1100"/>
          </a:p>
        </p:txBody>
      </p:sp>
      <p:cxnSp>
        <p:nvCxnSpPr>
          <p:cNvPr name="Connector 33" id="33"/>
          <p:cNvCxnSpPr/>
          <p:nvPr/>
        </p:nvCxnSpPr>
        <p:spPr>
          <a:xfrm rot="-18582" flipH="false" flipV="false">
            <a:off x="9207517" y="5200650"/>
            <a:ext cx="2349500" cy="12700"/>
          </a:xfrm>
          <a:prstGeom prst="straightConnector1">
            <a:avLst/>
          </a:prstGeom>
          <a:solidFill>
            <a:srgbClr val="DEE0E3">
              <a:alpha val="100000"/>
            </a:srgbClr>
          </a:solidFill>
          <a:ln w="12700" cmpd="sng" cap="flat">
            <a:solidFill>
              <a:srgbClr val="78909C">
                <a:alpha val="20000"/>
              </a:srgbClr>
            </a:solidFill>
            <a:prstDash val="solid"/>
            <a:round/>
            <a:headEnd type="none" w="med" len="med"/>
            <a:tailEnd type="none" w="med" len="med"/>
          </a:ln>
        </p:spPr>
      </p:cxnSp>
      <p:sp>
        <p:nvSpPr>
          <p:cNvPr name="AutoShape 34" id="34"/>
          <p:cNvSpPr/>
          <p:nvPr/>
        </p:nvSpPr>
        <p:spPr>
          <a:xfrm rot="0" flipH="false" flipV="false">
            <a:off x="9207500" y="5334000"/>
            <a:ext cx="2349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23232"/>
                </a:solidFill>
                <a:latin typeface="Noto Sans SC"/>
                <a:ea typeface="Noto Sans SC"/>
                <a:cs typeface="Noto Sans SC"/>
                <a:sym typeface="Noto Sans SC"/>
              </a:rPr>
              <a:t>基础支撑岗：</a:t>
            </a:r>
            <a:r>
              <a:rPr lang="en-US" b="false" i="false" strike="noStrike" u="none" sz="1200">
                <a:solidFill>
                  <a:srgbClr val="646464"/>
                </a:solidFill>
                <a:latin typeface="Noto Sans SC"/>
                <a:ea typeface="Noto Sans SC"/>
                <a:cs typeface="Noto Sans SC"/>
                <a:sym typeface="Noto Sans SC"/>
              </a:rPr>
              <a:t>运营中枢工作人员（负责系统维护、数据整理等后勤支持工作）。</a:t>
            </a:r>
            <a:endParaRPr lang="en-US" sz="1100"/>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40AF"/>
                </a:solidFill>
                <a:latin typeface="Noto Sans SC"/>
                <a:ea typeface="Noto Sans SC"/>
                <a:cs typeface="Noto Sans SC"/>
                <a:sym typeface="Noto Sans SC"/>
              </a:rPr>
              <a:t>B类：晋升冲刺加权</a:t>
            </a:r>
            <a:endParaRPr lang="en-US" sz="1100"/>
          </a:p>
        </p:txBody>
      </p:sp>
      <p:sp>
        <p:nvSpPr>
          <p:cNvPr name="AutoShape 3" id="3"/>
          <p:cNvSpPr/>
          <p:nvPr/>
        </p:nvSpPr>
        <p:spPr>
          <a:xfrm rot="0" flipH="false" flipV="false">
            <a:off x="508000" y="10160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B7280"/>
                </a:solidFill>
                <a:latin typeface="Noto Sans SC"/>
                <a:ea typeface="Noto Sans SC"/>
                <a:cs typeface="Noto Sans SC"/>
                <a:sym typeface="Noto Sans SC"/>
              </a:rPr>
              <a:t>占系统分配池20% | 月度总流量14%</a:t>
            </a:r>
            <a:endParaRPr lang="en-US" sz="1100"/>
          </a:p>
        </p:txBody>
      </p:sp>
      <p:cxnSp>
        <p:nvCxnSpPr>
          <p:cNvPr name="Connector 4" id="4"/>
          <p:cNvCxnSpPr/>
          <p:nvPr/>
        </p:nvCxnSpPr>
        <p:spPr>
          <a:xfrm rot="-3906" flipH="false" flipV="false">
            <a:off x="508004" y="1644650"/>
            <a:ext cx="11176000" cy="12700"/>
          </a:xfrm>
          <a:prstGeom prst="line">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5" id="5"/>
          <p:cNvSpPr/>
          <p:nvPr/>
        </p:nvSpPr>
        <p:spPr>
          <a:xfrm rot="0" flipH="false" flipV="false">
            <a:off x="508000" y="2032000"/>
            <a:ext cx="5397500" cy="33020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286000"/>
            <a:ext cx="609600" cy="609600"/>
          </a:xfrm>
          <a:prstGeom prst="rect">
            <a:avLst/>
          </a:prstGeom>
        </p:spPr>
      </p:pic>
      <p:sp>
        <p:nvSpPr>
          <p:cNvPr name="AutoShape 7" id="7"/>
          <p:cNvSpPr/>
          <p:nvPr/>
        </p:nvSpPr>
        <p:spPr>
          <a:xfrm rot="0" flipH="false" flipV="false">
            <a:off x="1524000" y="2286000"/>
            <a:ext cx="4064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核心原则：晋升带动效应</a:t>
            </a:r>
            <a:endParaRPr lang="en-US" sz="1100"/>
          </a:p>
        </p:txBody>
      </p:sp>
      <p:cxnSp>
        <p:nvCxnSpPr>
          <p:cNvPr name="Connector 8" id="8"/>
          <p:cNvCxnSpPr/>
          <p:nvPr/>
        </p:nvCxnSpPr>
        <p:spPr>
          <a:xfrm rot="-8929" flipH="false" flipV="false">
            <a:off x="762008" y="3168650"/>
            <a:ext cx="4889500" cy="12700"/>
          </a:xfrm>
          <a:prstGeom prst="line">
            <a:avLst/>
          </a:prstGeom>
          <a:solidFill>
            <a:srgbClr val="DEE0E3">
              <a:alpha val="100000"/>
            </a:srgbClr>
          </a:solidFill>
          <a:ln w="12700" cmpd="sng" cap="flat">
            <a:solidFill>
              <a:srgbClr val="1E40AF">
                <a:alpha val="15000"/>
              </a:srgbClr>
            </a:solidFill>
            <a:prstDash val="dash"/>
            <a:round/>
            <a:headEnd type="none" w="med" len="med"/>
            <a:tailEnd type="none" w="med" len="med"/>
          </a:ln>
        </p:spPr>
      </p:cxnSp>
      <p:sp>
        <p:nvSpPr>
          <p:cNvPr name="AutoShape 9" id="9"/>
          <p:cNvSpPr/>
          <p:nvPr/>
        </p:nvSpPr>
        <p:spPr>
          <a:xfrm rot="0" flipH="false" flipV="false">
            <a:off x="762000" y="3429000"/>
            <a:ext cx="48895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500">
                <a:solidFill>
                  <a:srgbClr val="374151"/>
                </a:solidFill>
                <a:latin typeface="Noto Sans SC"/>
                <a:ea typeface="Noto Sans SC"/>
                <a:cs typeface="Noto Sans SC"/>
                <a:sym typeface="Noto Sans SC"/>
              </a:rPr>
              <a:t>遵循“谁离晋升最近，谁优先获得冲刺助力”的核心逻辑。晋升不是孤立的个体事件，而是具备强连锁反应的群体效应——“晋升是一串一串的”。优先赋能关键节点的经营者，能高效带动其深度团队中上下游成员的成长与晋升，从而最大化系统的整体效能。</a:t>
            </a:r>
            <a:endParaRPr lang="en-US" sz="1100"/>
          </a:p>
        </p:txBody>
      </p:sp>
      <p:sp>
        <p:nvSpPr>
          <p:cNvPr name="AutoShape 10" id="10"/>
          <p:cNvSpPr/>
          <p:nvPr/>
        </p:nvSpPr>
        <p:spPr>
          <a:xfrm rot="0" flipH="false" flipV="false">
            <a:off x="508000" y="5588000"/>
            <a:ext cx="5397500" cy="889000"/>
          </a:xfrm>
          <a:prstGeom prst="roundRect">
            <a:avLst>
              <a:gd name="adj" fmla="val 0"/>
            </a:avLst>
          </a:prstGeom>
          <a:solidFill>
            <a:srgbClr val="FFFBEB">
              <a:alpha val="100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98500" y="5778500"/>
            <a:ext cx="406400" cy="406400"/>
          </a:xfrm>
          <a:prstGeom prst="rect">
            <a:avLst/>
          </a:prstGeom>
        </p:spPr>
      </p:pic>
      <p:sp>
        <p:nvSpPr>
          <p:cNvPr name="AutoShape 12" id="12"/>
          <p:cNvSpPr/>
          <p:nvPr/>
        </p:nvSpPr>
        <p:spPr>
          <a:xfrm rot="0" flipH="false" flipV="false">
            <a:off x="1270000" y="5689600"/>
            <a:ext cx="4445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B45309"/>
                </a:solidFill>
                <a:latin typeface="Noto Sans SC"/>
                <a:ea typeface="Noto Sans SC"/>
                <a:cs typeface="Noto Sans SC"/>
                <a:sym typeface="Noto Sans SC"/>
              </a:rPr>
              <a:t>深度为王：</a:t>
            </a:r>
            <a:r>
              <a:rPr lang="en-US" b="false" i="false" strike="noStrike" u="none" sz="1300">
                <a:solidFill>
                  <a:srgbClr val="92400E"/>
                </a:solidFill>
                <a:latin typeface="Noto Sans SC"/>
                <a:ea typeface="Noto Sans SC"/>
                <a:cs typeface="Noto Sans SC"/>
                <a:sym typeface="Noto Sans SC"/>
              </a:rPr>
              <a:t>深度层级达到7是关键分水岭，层级越深，系统指数的放大效果越显著。向下深耕不仅决定个人收益天花板，更是撬动团队批量晋升的核心驱动力。</a:t>
            </a:r>
            <a:endParaRPr lang="en-US" sz="1100"/>
          </a:p>
        </p:txBody>
      </p:sp>
      <p:sp>
        <p:nvSpPr>
          <p:cNvPr name="AutoShape 13" id="13"/>
          <p:cNvSpPr/>
          <p:nvPr/>
        </p:nvSpPr>
        <p:spPr>
          <a:xfrm rot="0" flipH="false" flipV="false">
            <a:off x="6350000" y="2032000"/>
            <a:ext cx="2603500" cy="1841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477000" y="2159000"/>
            <a:ext cx="304800" cy="304800"/>
          </a:xfrm>
          <a:prstGeom prst="rect">
            <a:avLst/>
          </a:prstGeom>
        </p:spPr>
      </p:pic>
      <p:sp>
        <p:nvSpPr>
          <p:cNvPr name="AutoShape 15" id="15"/>
          <p:cNvSpPr/>
          <p:nvPr/>
        </p:nvSpPr>
        <p:spPr>
          <a:xfrm rot="0" flipH="false" flipV="false">
            <a:off x="6858000" y="21336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亲推缺口优先</a:t>
            </a:r>
            <a:endParaRPr lang="en-US" sz="1100"/>
          </a:p>
        </p:txBody>
      </p:sp>
      <p:cxnSp>
        <p:nvCxnSpPr>
          <p:cNvPr name="Connector 16" id="16"/>
          <p:cNvCxnSpPr/>
          <p:nvPr/>
        </p:nvCxnSpPr>
        <p:spPr>
          <a:xfrm rot="-18582" flipH="false" flipV="false">
            <a:off x="6477017" y="2660650"/>
            <a:ext cx="2349500" cy="12700"/>
          </a:xfrm>
          <a:prstGeom prst="line">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7" id="17"/>
          <p:cNvSpPr/>
          <p:nvPr/>
        </p:nvSpPr>
        <p:spPr>
          <a:xfrm rot="0" flipH="false" flipV="false">
            <a:off x="6477000" y="2794000"/>
            <a:ext cx="234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资源优先向亲推B/D岗位数量缺口最小的伙伴倾斜。这是最直接的晋升判定维度，确保资源用在“临门一脚”的关键环节。</a:t>
            </a:r>
            <a:endParaRPr lang="en-US" sz="1100"/>
          </a:p>
        </p:txBody>
      </p:sp>
      <p:sp>
        <p:nvSpPr>
          <p:cNvPr name="AutoShape 18" id="18"/>
          <p:cNvSpPr/>
          <p:nvPr/>
        </p:nvSpPr>
        <p:spPr>
          <a:xfrm rot="0" flipH="false" flipV="false">
            <a:off x="6350000" y="4191000"/>
            <a:ext cx="2603500" cy="1841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77000" y="4318000"/>
            <a:ext cx="304800" cy="304800"/>
          </a:xfrm>
          <a:prstGeom prst="rect">
            <a:avLst/>
          </a:prstGeom>
        </p:spPr>
      </p:pic>
      <p:sp>
        <p:nvSpPr>
          <p:cNvPr name="AutoShape 20" id="20"/>
          <p:cNvSpPr/>
          <p:nvPr/>
        </p:nvSpPr>
        <p:spPr>
          <a:xfrm rot="0" flipH="false" flipV="false">
            <a:off x="6858000" y="42926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消费缺口优先</a:t>
            </a:r>
            <a:endParaRPr lang="en-US" sz="1100"/>
          </a:p>
        </p:txBody>
      </p:sp>
      <p:cxnSp>
        <p:nvCxnSpPr>
          <p:cNvPr name="Connector 21" id="21"/>
          <p:cNvCxnSpPr/>
          <p:nvPr/>
        </p:nvCxnSpPr>
        <p:spPr>
          <a:xfrm rot="-18582" flipH="false" flipV="false">
            <a:off x="6477017" y="4819650"/>
            <a:ext cx="2349500" cy="12700"/>
          </a:xfrm>
          <a:prstGeom prst="line">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2" id="22"/>
          <p:cNvSpPr/>
          <p:nvPr/>
        </p:nvSpPr>
        <p:spPr>
          <a:xfrm rot="0" flipH="false" flipV="false">
            <a:off x="6477000" y="4953000"/>
            <a:ext cx="234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按市场消费额缺口的百分比排序，缺口占比越小越优先。旨在快速补齐业绩短板，帮助经营者尽快满足硬性晋升指标。</a:t>
            </a:r>
            <a:endParaRPr lang="en-US" sz="1100"/>
          </a:p>
        </p:txBody>
      </p:sp>
      <p:sp>
        <p:nvSpPr>
          <p:cNvPr name="AutoShape 23" id="23"/>
          <p:cNvSpPr/>
          <p:nvPr/>
        </p:nvSpPr>
        <p:spPr>
          <a:xfrm rot="0" flipH="false" flipV="false">
            <a:off x="9144000" y="2032000"/>
            <a:ext cx="2603500" cy="1841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271000" y="2159000"/>
            <a:ext cx="304800" cy="304800"/>
          </a:xfrm>
          <a:prstGeom prst="rect">
            <a:avLst/>
          </a:prstGeom>
        </p:spPr>
      </p:pic>
      <p:sp>
        <p:nvSpPr>
          <p:cNvPr name="AutoShape 25" id="25"/>
          <p:cNvSpPr/>
          <p:nvPr/>
        </p:nvSpPr>
        <p:spPr>
          <a:xfrm rot="0" flipH="false" flipV="false">
            <a:off x="9652000" y="21336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深度培育加权</a:t>
            </a:r>
            <a:endParaRPr lang="en-US" sz="1100"/>
          </a:p>
        </p:txBody>
      </p:sp>
      <p:cxnSp>
        <p:nvCxnSpPr>
          <p:cNvPr name="Connector 26" id="26"/>
          <p:cNvCxnSpPr/>
          <p:nvPr/>
        </p:nvCxnSpPr>
        <p:spPr>
          <a:xfrm rot="-18582" flipH="false" flipV="false">
            <a:off x="9271017" y="2660650"/>
            <a:ext cx="2349500" cy="12700"/>
          </a:xfrm>
          <a:prstGeom prst="line">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7" id="27"/>
          <p:cNvSpPr/>
          <p:nvPr/>
        </p:nvSpPr>
        <p:spPr>
          <a:xfrm rot="0" flipH="false" flipV="false">
            <a:off x="9271000" y="2794000"/>
            <a:ext cx="234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第5-7层深度位置额外+30%权重；成功培育D级以上经营者额外+20%权重。政策设计引导团队向下扎根，构建稳健的纵深结构。</a:t>
            </a:r>
            <a:endParaRPr lang="en-US" sz="1100"/>
          </a:p>
        </p:txBody>
      </p:sp>
      <p:sp>
        <p:nvSpPr>
          <p:cNvPr name="AutoShape 28" id="28"/>
          <p:cNvSpPr/>
          <p:nvPr/>
        </p:nvSpPr>
        <p:spPr>
          <a:xfrm rot="0" flipH="false" flipV="false">
            <a:off x="9144000" y="4191000"/>
            <a:ext cx="2603500" cy="1841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271000" y="4318000"/>
            <a:ext cx="304800" cy="304800"/>
          </a:xfrm>
          <a:prstGeom prst="rect">
            <a:avLst/>
          </a:prstGeom>
        </p:spPr>
      </p:pic>
      <p:sp>
        <p:nvSpPr>
          <p:cNvPr name="AutoShape 30" id="30"/>
          <p:cNvSpPr/>
          <p:nvPr/>
        </p:nvSpPr>
        <p:spPr>
          <a:xfrm rot="0" flipH="false" flipV="false">
            <a:off x="9652000" y="42926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进展与节点优先</a:t>
            </a:r>
            <a:endParaRPr lang="en-US" sz="1100"/>
          </a:p>
        </p:txBody>
      </p:sp>
      <p:cxnSp>
        <p:nvCxnSpPr>
          <p:cNvPr name="Connector 31" id="31"/>
          <p:cNvCxnSpPr/>
          <p:nvPr/>
        </p:nvCxnSpPr>
        <p:spPr>
          <a:xfrm rot="-18582" flipH="false" flipV="false">
            <a:off x="9271017" y="4819650"/>
            <a:ext cx="2349500" cy="12700"/>
          </a:xfrm>
          <a:prstGeom prst="line">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32" id="32"/>
          <p:cNvSpPr/>
          <p:nvPr/>
        </p:nvSpPr>
        <p:spPr>
          <a:xfrm rot="0" flipH="false" flipV="false">
            <a:off x="9271000" y="4953000"/>
            <a:ext cx="234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4B5563"/>
                </a:solidFill>
                <a:latin typeface="Noto Sans SC"/>
                <a:ea typeface="Noto Sans SC"/>
                <a:cs typeface="Noto Sans SC"/>
                <a:sym typeface="Noto Sans SC"/>
              </a:rPr>
              <a:t>优先支持本月自推已有实质进展者；临近D3、SD等关键奖金节点的伙伴享有加权，加速其突破关键里程碑，提升留存率。</a:t>
            </a:r>
            <a:endParaRPr lang="en-US" sz="1100"/>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40AF"/>
                </a:solidFill>
                <a:latin typeface="Noto Sans SC"/>
                <a:ea typeface="Noto Sans SC"/>
                <a:cs typeface="Noto Sans SC"/>
                <a:sym typeface="Noto Sans SC"/>
              </a:rPr>
              <a:t>C类：自驱努力奖励</a:t>
            </a:r>
            <a:endParaRPr lang="en-US" sz="1100"/>
          </a:p>
        </p:txBody>
      </p:sp>
      <p:sp>
        <p:nvSpPr>
          <p:cNvPr name="AutoShape 3" id="3"/>
          <p:cNvSpPr/>
          <p:nvPr/>
        </p:nvSpPr>
        <p:spPr>
          <a:xfrm rot="0" flipH="false" flipV="false">
            <a:off x="508000" y="1016000"/>
            <a:ext cx="1117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6B7280"/>
                </a:solidFill>
                <a:latin typeface="Noto Sans SC"/>
                <a:ea typeface="Noto Sans SC"/>
                <a:cs typeface="Noto Sans SC"/>
                <a:sym typeface="Noto Sans SC"/>
              </a:rPr>
              <a:t>占系统分配池15% | 月度总流量10.5%</a:t>
            </a:r>
            <a:endParaRPr lang="en-US" sz="1100"/>
          </a:p>
        </p:txBody>
      </p:sp>
      <p:cxnSp>
        <p:nvCxnSpPr>
          <p:cNvPr name="Connector 4" id="4"/>
          <p:cNvCxnSpPr/>
          <p:nvPr/>
        </p:nvCxnSpPr>
        <p:spPr>
          <a:xfrm rot="-3906" flipH="false" flipV="false">
            <a:off x="508004" y="1517650"/>
            <a:ext cx="11176000" cy="12700"/>
          </a:xfrm>
          <a:prstGeom prst="line">
            <a:avLst/>
          </a:prstGeom>
          <a:solidFill>
            <a:srgbClr val="DEE0E3">
              <a:alpha val="100000"/>
            </a:srgbClr>
          </a:solidFill>
          <a:ln w="12700" cmpd="sng" cap="flat">
            <a:solidFill>
              <a:srgbClr val="1E40AF">
                <a:alpha val="20000"/>
              </a:srgbClr>
            </a:solidFill>
            <a:prstDash val="solid"/>
            <a:round/>
            <a:headEnd type="none" w="med" len="med"/>
            <a:tailEnd type="none" w="med" len="med"/>
          </a:ln>
        </p:spPr>
      </p:cxnSp>
      <p:sp>
        <p:nvSpPr>
          <p:cNvPr name="AutoShape 5" id="5"/>
          <p:cNvSpPr/>
          <p:nvPr/>
        </p:nvSpPr>
        <p:spPr>
          <a:xfrm rot="0" flipH="false" flipV="false">
            <a:off x="508000" y="1778000"/>
            <a:ext cx="11176000" cy="11430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 y="1778000"/>
            <a:ext cx="76200" cy="1143000"/>
          </a:xfrm>
          <a:prstGeom prst="roundRect">
            <a:avLst>
              <a:gd name="adj" fmla="val 0"/>
            </a:avLst>
          </a:prstGeom>
          <a:solidFill>
            <a:srgbClr val="1E40A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968500"/>
            <a:ext cx="609600" cy="609600"/>
          </a:xfrm>
          <a:prstGeom prst="rect">
            <a:avLst/>
          </a:prstGeom>
        </p:spPr>
      </p:pic>
      <p:sp>
        <p:nvSpPr>
          <p:cNvPr name="AutoShape 8" id="8"/>
          <p:cNvSpPr/>
          <p:nvPr/>
        </p:nvSpPr>
        <p:spPr>
          <a:xfrm rot="0" flipH="false" flipV="false">
            <a:off x="1651000" y="1905000"/>
            <a:ext cx="965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1F2937"/>
                </a:solidFill>
                <a:latin typeface="Noto Sans SC"/>
                <a:ea typeface="Noto Sans SC"/>
                <a:cs typeface="Noto Sans SC"/>
                <a:sym typeface="Noto Sans SC"/>
              </a:rPr>
              <a:t>核心原则：你主动努力推荐，系统加倍回报</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系统不强制要求岗位外推荐，但对于在岗位工作之余主动拓展新会员的经营者，给予额外的分配名额与系数奖励，这是对经营者经营意愿与市场拓展能力的直接认可。</a:t>
            </a:r>
          </a:p>
        </p:txBody>
      </p:sp>
      <p:sp>
        <p:nvSpPr>
          <p:cNvPr name="AutoShape 9" id="9"/>
          <p:cNvSpPr/>
          <p:nvPr/>
        </p:nvSpPr>
        <p:spPr>
          <a:xfrm rot="0" flipH="false" flipV="false">
            <a:off x="508000" y="3302000"/>
            <a:ext cx="3556000" cy="1714500"/>
          </a:xfrm>
          <a:prstGeom prst="roundRect">
            <a:avLst>
              <a:gd name="adj" fmla="val 0"/>
            </a:avLst>
          </a:prstGeom>
          <a:solidFill>
            <a:srgbClr val="FFFBEB">
              <a:alpha val="100000"/>
            </a:srgbClr>
          </a:solidFill>
          <a:ln w="12700" cmpd="sng" cap="flat">
            <a:solidFill>
              <a:srgbClr val="F59E0B">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98500" y="3492500"/>
            <a:ext cx="406400" cy="406400"/>
          </a:xfrm>
          <a:prstGeom prst="rect">
            <a:avLst/>
          </a:prstGeom>
        </p:spPr>
      </p:pic>
      <p:sp>
        <p:nvSpPr>
          <p:cNvPr name="AutoShape 11" id="11"/>
          <p:cNvSpPr/>
          <p:nvPr/>
        </p:nvSpPr>
        <p:spPr>
          <a:xfrm rot="0" flipH="false" flipV="false">
            <a:off x="1270000" y="3492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常规激励：额外名额分配</a:t>
            </a:r>
            <a:endParaRPr lang="en-US" sz="1100"/>
          </a:p>
        </p:txBody>
      </p:sp>
      <p:cxnSp>
        <p:nvCxnSpPr>
          <p:cNvPr name="Connector 12" id="12"/>
          <p:cNvCxnSpPr/>
          <p:nvPr/>
        </p:nvCxnSpPr>
        <p:spPr>
          <a:xfrm rot="-13750" flipH="false" flipV="false">
            <a:off x="698513" y="3994150"/>
            <a:ext cx="3175000" cy="12700"/>
          </a:xfrm>
          <a:prstGeom prst="line">
            <a:avLst/>
          </a:prstGeom>
          <a:solidFill>
            <a:srgbClr val="DEE0E3">
              <a:alpha val="100000"/>
            </a:srgbClr>
          </a:solidFill>
          <a:ln w="12700" cmpd="sng" cap="flat">
            <a:solidFill>
              <a:srgbClr val="F59E0B">
                <a:alpha val="20000"/>
              </a:srgbClr>
            </a:solidFill>
            <a:prstDash val="dash"/>
            <a:round/>
            <a:headEnd type="none" w="med" len="med"/>
            <a:tailEnd type="none" w="med" len="med"/>
          </a:ln>
        </p:spPr>
      </p:cxnSp>
      <p:sp>
        <p:nvSpPr>
          <p:cNvPr name="AutoShape 13" id="13"/>
          <p:cNvSpPr/>
          <p:nvPr/>
        </p:nvSpPr>
        <p:spPr>
          <a:xfrm rot="0" flipH="false" flipV="false">
            <a:off x="698500" y="41275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已达成D的经营者，每自行推荐1名有效新会员，即获得C类池额外分配名额+1，单月上限为+5名额，多劳多得。</a:t>
            </a:r>
            <a:endParaRPr lang="en-US" sz="1100"/>
          </a:p>
        </p:txBody>
      </p:sp>
      <p:sp>
        <p:nvSpPr>
          <p:cNvPr name="AutoShape 14" id="14"/>
          <p:cNvSpPr/>
          <p:nvPr/>
        </p:nvSpPr>
        <p:spPr>
          <a:xfrm rot="0" flipH="false" flipV="false">
            <a:off x="4318000" y="3302000"/>
            <a:ext cx="3556000" cy="1714500"/>
          </a:xfrm>
          <a:prstGeom prst="roundRect">
            <a:avLst>
              <a:gd name="adj" fmla="val 0"/>
            </a:avLst>
          </a:prstGeom>
          <a:solidFill>
            <a:srgbClr val="ECFDF5">
              <a:alpha val="10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4508500" y="3492500"/>
            <a:ext cx="406400" cy="406400"/>
          </a:xfrm>
          <a:prstGeom prst="rect">
            <a:avLst/>
          </a:prstGeom>
        </p:spPr>
      </p:pic>
      <p:sp>
        <p:nvSpPr>
          <p:cNvPr name="AutoShape 16" id="16"/>
          <p:cNvSpPr/>
          <p:nvPr/>
        </p:nvSpPr>
        <p:spPr>
          <a:xfrm rot="0" flipH="false" flipV="false">
            <a:off x="5080000" y="3492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65F46"/>
                </a:solidFill>
                <a:latin typeface="Noto Sans SC"/>
                <a:ea typeface="Noto Sans SC"/>
                <a:cs typeface="Noto Sans SC"/>
                <a:sym typeface="Noto Sans SC"/>
              </a:rPr>
              <a:t>持续贡献：系数永久提升</a:t>
            </a:r>
            <a:endParaRPr lang="en-US" sz="1100"/>
          </a:p>
        </p:txBody>
      </p:sp>
      <p:cxnSp>
        <p:nvCxnSpPr>
          <p:cNvPr name="Connector 17" id="17"/>
          <p:cNvCxnSpPr/>
          <p:nvPr/>
        </p:nvCxnSpPr>
        <p:spPr>
          <a:xfrm rot="-13750" flipH="false" flipV="false">
            <a:off x="4508513" y="3994150"/>
            <a:ext cx="3175000" cy="12700"/>
          </a:xfrm>
          <a:prstGeom prst="line">
            <a:avLst/>
          </a:prstGeom>
          <a:solidFill>
            <a:srgbClr val="DEE0E3">
              <a:alpha val="100000"/>
            </a:srgbClr>
          </a:solidFill>
          <a:ln w="12700" cmpd="sng" cap="flat">
            <a:solidFill>
              <a:srgbClr val="10B981">
                <a:alpha val="20000"/>
              </a:srgbClr>
            </a:solidFill>
            <a:prstDash val="dash"/>
            <a:round/>
            <a:headEnd type="none" w="med" len="med"/>
            <a:tailEnd type="none" w="med" len="med"/>
          </a:ln>
        </p:spPr>
      </p:cxnSp>
      <p:sp>
        <p:nvSpPr>
          <p:cNvPr name="AutoShape 18" id="18"/>
          <p:cNvSpPr/>
          <p:nvPr/>
        </p:nvSpPr>
        <p:spPr>
          <a:xfrm rot="0" flipH="false" flipV="false">
            <a:off x="4508500" y="41275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连续3个月每月自行推荐≥2人，可触发长期权益，永久提升A类贡献系数+0.3，直接增强未来收益的分配权重。</a:t>
            </a:r>
            <a:endParaRPr lang="en-US" sz="1100"/>
          </a:p>
        </p:txBody>
      </p:sp>
      <p:sp>
        <p:nvSpPr>
          <p:cNvPr name="AutoShape 19" id="19"/>
          <p:cNvSpPr/>
          <p:nvPr/>
        </p:nvSpPr>
        <p:spPr>
          <a:xfrm rot="0" flipH="false" flipV="false">
            <a:off x="8128000" y="3302000"/>
            <a:ext cx="3556000" cy="1714500"/>
          </a:xfrm>
          <a:prstGeom prst="roundRect">
            <a:avLst>
              <a:gd name="adj" fmla="val 0"/>
            </a:avLst>
          </a:prstGeom>
          <a:solidFill>
            <a:srgbClr val="EEF2FF">
              <a:alpha val="100000"/>
            </a:srgbClr>
          </a:solidFill>
          <a:ln w="12700" cmpd="sng" cap="flat">
            <a:solidFill>
              <a:srgbClr val="3B82F6">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318500" y="3492500"/>
            <a:ext cx="406400" cy="406400"/>
          </a:xfrm>
          <a:prstGeom prst="rect">
            <a:avLst/>
          </a:prstGeom>
        </p:spPr>
      </p:pic>
      <p:sp>
        <p:nvSpPr>
          <p:cNvPr name="AutoShape 21" id="21"/>
          <p:cNvSpPr/>
          <p:nvPr/>
        </p:nvSpPr>
        <p:spPr>
          <a:xfrm rot="0" flipH="false" flipV="false">
            <a:off x="8890000" y="3492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里程碑：一次性C类加成</a:t>
            </a:r>
            <a:endParaRPr lang="en-US" sz="1100"/>
          </a:p>
        </p:txBody>
      </p:sp>
      <p:cxnSp>
        <p:nvCxnSpPr>
          <p:cNvPr name="Connector 22" id="22"/>
          <p:cNvCxnSpPr/>
          <p:nvPr/>
        </p:nvCxnSpPr>
        <p:spPr>
          <a:xfrm rot="-13750" flipH="false" flipV="false">
            <a:off x="8318513" y="3994150"/>
            <a:ext cx="3175000" cy="12700"/>
          </a:xfrm>
          <a:prstGeom prst="line">
            <a:avLst/>
          </a:prstGeom>
          <a:solidFill>
            <a:srgbClr val="DEE0E3">
              <a:alpha val="100000"/>
            </a:srgbClr>
          </a:solidFill>
          <a:ln w="12700" cmpd="sng" cap="flat">
            <a:solidFill>
              <a:srgbClr val="3B82F6">
                <a:alpha val="20000"/>
              </a:srgbClr>
            </a:solidFill>
            <a:prstDash val="dash"/>
            <a:round/>
            <a:headEnd type="none" w="med" len="med"/>
            <a:tailEnd type="none" w="med" len="med"/>
          </a:ln>
        </p:spPr>
      </p:cxnSp>
      <p:sp>
        <p:nvSpPr>
          <p:cNvPr name="AutoShape 23" id="23"/>
          <p:cNvSpPr/>
          <p:nvPr/>
        </p:nvSpPr>
        <p:spPr>
          <a:xfrm rot="0" flipH="false" flipV="false">
            <a:off x="8318500" y="4127500"/>
            <a:ext cx="3175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300">
                <a:solidFill>
                  <a:srgbClr val="374151"/>
                </a:solidFill>
                <a:latin typeface="Noto Sans SC"/>
                <a:ea typeface="Noto Sans SC"/>
                <a:cs typeface="Noto Sans SC"/>
                <a:sym typeface="Noto Sans SC"/>
              </a:rPr>
              <a:t>当自行推荐累计达成亲推B新里程碑（20人且亲推续订20%），可获得一次性C类加成+3名额，奖励阶段性成果。</a:t>
            </a:r>
            <a:endParaRPr lang="en-US" sz="1100"/>
          </a:p>
        </p:txBody>
      </p:sp>
      <p:sp>
        <p:nvSpPr>
          <p:cNvPr name="AutoShape 24" id="24"/>
          <p:cNvSpPr/>
          <p:nvPr/>
        </p:nvSpPr>
        <p:spPr>
          <a:xfrm rot="0" flipH="false" flipV="false">
            <a:off x="508000" y="5334000"/>
            <a:ext cx="5524500" cy="1143000"/>
          </a:xfrm>
          <a:prstGeom prst="roundRect">
            <a:avLst>
              <a:gd name="adj" fmla="val 0"/>
            </a:avLst>
          </a:prstGeom>
          <a:solidFill>
            <a:srgbClr val="FEF2F2">
              <a:alpha val="100000"/>
            </a:srgbClr>
          </a:solidFill>
          <a:ln w="12700" cmpd="sng" cap="flat">
            <a:solidFill>
              <a:srgbClr val="EF4444">
                <a:alpha val="30000"/>
              </a:srgbClr>
            </a:solid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98500" y="5524500"/>
            <a:ext cx="457200" cy="457200"/>
          </a:xfrm>
          <a:prstGeom prst="rect">
            <a:avLst/>
          </a:prstGeom>
        </p:spPr>
      </p:pic>
      <p:sp>
        <p:nvSpPr>
          <p:cNvPr name="AutoShape 26" id="26"/>
          <p:cNvSpPr/>
          <p:nvPr/>
        </p:nvSpPr>
        <p:spPr>
          <a:xfrm rot="0" flipH="false" flipV="false">
            <a:off x="1397000" y="54610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991B1B"/>
                </a:solidFill>
                <a:latin typeface="Noto Sans SC"/>
                <a:ea typeface="Noto Sans SC"/>
                <a:cs typeface="Noto Sans SC"/>
                <a:sym typeface="Noto Sans SC"/>
              </a:rPr>
              <a:t>特别规则：新经营者首月冲刺验证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50A0A"/>
                </a:solidFill>
                <a:latin typeface="Noto Sans SC"/>
                <a:ea typeface="Noto Sans SC"/>
                <a:cs typeface="Noto Sans SC"/>
                <a:sym typeface="Noto Sans SC"/>
              </a:rPr>
              <a:t>新成员首月须自行推荐至少4人，这是对经营意愿和基础能力的关键验证，是开启经营之路的第一步。</a:t>
            </a:r>
          </a:p>
        </p:txBody>
      </p:sp>
      <p:sp>
        <p:nvSpPr>
          <p:cNvPr name="AutoShape 27" id="27"/>
          <p:cNvSpPr/>
          <p:nvPr/>
        </p:nvSpPr>
        <p:spPr>
          <a:xfrm rot="0" flipH="false" flipV="false">
            <a:off x="6159500" y="5334000"/>
            <a:ext cx="5524500" cy="1143000"/>
          </a:xfrm>
          <a:prstGeom prst="roundRect">
            <a:avLst>
              <a:gd name="adj" fmla="val 0"/>
            </a:avLst>
          </a:prstGeom>
          <a:solidFill>
            <a:srgbClr val="EFF6FF">
              <a:alpha val="100000"/>
            </a:srgbClr>
          </a:solidFill>
          <a:ln w="12700" cmpd="sng" cap="flat">
            <a:solidFill>
              <a:srgbClr val="2563EB">
                <a:alpha val="30000"/>
              </a:srgbClr>
            </a:solid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6350000" y="5524500"/>
            <a:ext cx="457200" cy="457200"/>
          </a:xfrm>
          <a:prstGeom prst="rect">
            <a:avLst/>
          </a:prstGeom>
        </p:spPr>
      </p:pic>
      <p:sp>
        <p:nvSpPr>
          <p:cNvPr name="AutoShape 29" id="29"/>
          <p:cNvSpPr/>
          <p:nvPr/>
        </p:nvSpPr>
        <p:spPr>
          <a:xfrm rot="0" flipH="false" flipV="false">
            <a:off x="7048500" y="54610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500">
                <a:solidFill>
                  <a:srgbClr val="1E3A8A"/>
                </a:solidFill>
                <a:latin typeface="Noto Sans SC"/>
                <a:ea typeface="Noto Sans SC"/>
                <a:cs typeface="Noto Sans SC"/>
                <a:sym typeface="Noto Sans SC"/>
              </a:rPr>
              <a:t>战略意义：获得真实的持续收入正反馈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1E40AF"/>
                </a:solidFill>
                <a:latin typeface="Noto Sans SC"/>
                <a:ea typeface="Noto Sans SC"/>
                <a:cs typeface="Noto Sans SC"/>
                <a:sym typeface="Noto Sans SC"/>
              </a:rPr>
              <a:t>首月达成D，次月即获亲推续订奖金，让经营者亲身验证“收入真实性”，这种体验比任何培训都更具说服力。</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D类：弹性调控与新人持续扶持</a:t>
            </a:r>
            <a:endParaRPr lang="en-US" sz="1100"/>
          </a:p>
        </p:txBody>
      </p:sp>
      <p:sp>
        <p:nvSpPr>
          <p:cNvPr name="AutoShape 4" id="4"/>
          <p:cNvSpPr/>
          <p:nvPr/>
        </p:nvSpPr>
        <p:spPr>
          <a:xfrm rot="0" flipH="false" flipV="false">
            <a:off x="508000" y="1206500"/>
            <a:ext cx="1117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4B5563"/>
                </a:solidFill>
                <a:latin typeface="Noto Sans SC"/>
                <a:ea typeface="Noto Sans SC"/>
                <a:cs typeface="Noto Sans SC"/>
                <a:sym typeface="Noto Sans SC"/>
              </a:rPr>
              <a:t>占系统分配池</a:t>
            </a:r>
            <a:r>
              <a:rPr lang="en-US" b="true" i="false" strike="noStrike" u="none" sz="1800">
                <a:solidFill>
                  <a:srgbClr val="2563EB"/>
                </a:solidFill>
                <a:latin typeface="Noto Sans SC"/>
                <a:ea typeface="Noto Sans SC"/>
                <a:cs typeface="Noto Sans SC"/>
                <a:sym typeface="Noto Sans SC"/>
              </a:rPr>
              <a:t>15%</a:t>
            </a:r>
            <a:r>
              <a:rPr lang="en-US" b="false" i="false" strike="noStrike" u="none" sz="1600">
                <a:solidFill>
                  <a:srgbClr val="D1D5DB"/>
                </a:solidFill>
                <a:latin typeface="Noto Sans SC"/>
                <a:ea typeface="Noto Sans SC"/>
                <a:cs typeface="Noto Sans SC"/>
                <a:sym typeface="Noto Sans SC"/>
              </a:rPr>
              <a:t>|</a:t>
            </a:r>
            <a:r>
              <a:rPr lang="en-US" b="false" i="false" strike="noStrike" u="none" sz="1600">
                <a:solidFill>
                  <a:srgbClr val="4B5563"/>
                </a:solidFill>
                <a:latin typeface="Noto Sans SC"/>
                <a:ea typeface="Noto Sans SC"/>
                <a:cs typeface="Noto Sans SC"/>
                <a:sym typeface="Noto Sans SC"/>
              </a:rPr>
              <a:t>月度总流量占比</a:t>
            </a:r>
            <a:r>
              <a:rPr lang="en-US" b="true" i="false" strike="noStrike" u="none" sz="1800">
                <a:solidFill>
                  <a:srgbClr val="F59E0B"/>
                </a:solidFill>
                <a:latin typeface="Noto Sans SC"/>
                <a:ea typeface="Noto Sans SC"/>
                <a:cs typeface="Noto Sans SC"/>
                <a:sym typeface="Noto Sans SC"/>
              </a:rPr>
              <a:t>10.5%</a:t>
            </a:r>
            <a:endParaRPr lang="en-US" sz="1100"/>
          </a:p>
        </p:txBody>
      </p:sp>
      <p:cxnSp>
        <p:nvCxnSpPr>
          <p:cNvPr name="Connector 5" id="5"/>
          <p:cNvCxnSpPr/>
          <p:nvPr/>
        </p:nvCxnSpPr>
        <p:spPr>
          <a:xfrm rot="-3906" flipH="false" flipV="false">
            <a:off x="508004" y="1898650"/>
            <a:ext cx="11176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6" id="6"/>
          <p:cNvSpPr/>
          <p:nvPr/>
        </p:nvSpPr>
        <p:spPr>
          <a:xfrm rot="0" flipH="false" flipV="false">
            <a:off x="508000" y="2286000"/>
            <a:ext cx="5524500" cy="3556000"/>
          </a:xfrm>
          <a:prstGeom prst="roundRect">
            <a:avLst>
              <a:gd name="adj" fmla="val 0"/>
            </a:avLst>
          </a:prstGeom>
          <a:solidFill>
            <a:srgbClr val="EFF6FF">
              <a:alpha val="80000"/>
            </a:srgbClr>
          </a:solidFill>
          <a:ln w="12700" cmpd="sng" cap="flat">
            <a:solidFill>
              <a:srgbClr val="BFDBFE">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286000"/>
            <a:ext cx="5524500" cy="762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603500"/>
            <a:ext cx="508000" cy="508000"/>
          </a:xfrm>
          <a:prstGeom prst="rect">
            <a:avLst/>
          </a:prstGeom>
        </p:spPr>
      </p:pic>
      <p:sp>
        <p:nvSpPr>
          <p:cNvPr name="AutoShape 9" id="9"/>
          <p:cNvSpPr/>
          <p:nvPr/>
        </p:nvSpPr>
        <p:spPr>
          <a:xfrm rot="0" flipH="false" flipV="false">
            <a:off x="1460500" y="2565400"/>
            <a:ext cx="431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40AF"/>
                </a:solidFill>
                <a:latin typeface="Noto Sans SC"/>
                <a:ea typeface="Noto Sans SC"/>
                <a:cs typeface="Noto Sans SC"/>
                <a:sym typeface="Noto Sans SC"/>
              </a:rPr>
              <a:t>D1 新人持续扶持计划</a:t>
            </a:r>
            <a:r>
              <a:rPr lang="en-US" b="false" i="false" strike="noStrike" u="none" sz="1600">
                <a:solidFill>
                  <a:srgbClr val="1E40AF">
                    <a:alpha val="70196"/>
                  </a:srgbClr>
                </a:solidFill>
                <a:latin typeface="Noto Sans SC"/>
                <a:ea typeface="Noto Sans SC"/>
                <a:cs typeface="Noto Sans SC"/>
                <a:sym typeface="Noto Sans SC"/>
              </a:rPr>
              <a:t>（权重占比 60%）</a:t>
            </a:r>
            <a:endParaRPr lang="en-US" sz="1100"/>
          </a:p>
        </p:txBody>
      </p:sp>
      <p:cxnSp>
        <p:nvCxnSpPr>
          <p:cNvPr name="Connector 10" id="10"/>
          <p:cNvCxnSpPr/>
          <p:nvPr/>
        </p:nvCxnSpPr>
        <p:spPr>
          <a:xfrm rot="-8703" flipH="false" flipV="false">
            <a:off x="762008" y="3359150"/>
            <a:ext cx="5016500" cy="12700"/>
          </a:xfrm>
          <a:prstGeom prst="line">
            <a:avLst/>
          </a:prstGeom>
          <a:solidFill>
            <a:srgbClr val="DEE0E3">
              <a:alpha val="100000"/>
            </a:srgbClr>
          </a:solidFill>
          <a:ln w="12700" cmpd="sng" cap="flat">
            <a:solidFill>
              <a:srgbClr val="2563EB">
                <a:alpha val="20000"/>
              </a:srgbClr>
            </a:solidFill>
            <a:prstDash val="dash"/>
            <a:round/>
            <a:headEnd type="none" w="med" len="med"/>
            <a:tailEnd type="none" w="med" len="med"/>
          </a:ln>
        </p:spPr>
      </p:cxnSp>
      <p:sp>
        <p:nvSpPr>
          <p:cNvPr name="AutoShape 11" id="11"/>
          <p:cNvSpPr/>
          <p:nvPr/>
        </p:nvSpPr>
        <p:spPr>
          <a:xfrm rot="0" flipH="false" flipV="false">
            <a:off x="762000" y="3556000"/>
            <a:ext cx="5016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151"/>
                </a:solidFill>
                <a:latin typeface="Noto Sans SC"/>
                <a:ea typeface="Noto Sans SC"/>
                <a:cs typeface="Noto Sans SC"/>
                <a:sym typeface="Noto Sans SC"/>
              </a:rPr>
              <a:t>精准周期与名额控制</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聚焦新人入职第2-3个月的关键成长期，每月严格筛选2-3名潜力新人进行定向流量倾斜，确保扶持资源的稀缺性与有效性。</a:t>
            </a:r>
          </a:p>
        </p:txBody>
      </p:sp>
      <p:sp>
        <p:nvSpPr>
          <p:cNvPr name="AutoShape 12" id="12"/>
          <p:cNvSpPr/>
          <p:nvPr/>
        </p:nvSpPr>
        <p:spPr>
          <a:xfrm rot="0" flipH="false" flipV="false">
            <a:off x="762000" y="4826000"/>
            <a:ext cx="5016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374151"/>
                </a:solidFill>
                <a:latin typeface="Noto Sans SC"/>
                <a:ea typeface="Noto Sans SC"/>
                <a:cs typeface="Noto Sans SC"/>
                <a:sym typeface="Noto Sans SC"/>
              </a:rPr>
              <a:t>价值锚点：信心与基础的双重构建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通过稳定的新会员来源输入，帮助新人快速熟悉业务流程，建立获客信心，完成从“新手”到“熟手”的基础能力沉淀，降低早期流失率。</a:t>
            </a:r>
          </a:p>
        </p:txBody>
      </p:sp>
      <p:sp>
        <p:nvSpPr>
          <p:cNvPr name="AutoShape 13" id="13"/>
          <p:cNvSpPr/>
          <p:nvPr/>
        </p:nvSpPr>
        <p:spPr>
          <a:xfrm rot="0" flipH="false" flipV="false">
            <a:off x="6286500" y="2286000"/>
            <a:ext cx="5524500" cy="3556000"/>
          </a:xfrm>
          <a:prstGeom prst="roundRect">
            <a:avLst>
              <a:gd name="adj" fmla="val 0"/>
            </a:avLst>
          </a:prstGeom>
          <a:solidFill>
            <a:srgbClr val="FFFBEB">
              <a:alpha val="80000"/>
            </a:srgbClr>
          </a:solidFill>
          <a:ln w="12700" cmpd="sng" cap="flat">
            <a:solidFill>
              <a:srgbClr val="FDE68A">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86500" y="2286000"/>
            <a:ext cx="55245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540500" y="2603500"/>
            <a:ext cx="508000" cy="508000"/>
          </a:xfrm>
          <a:prstGeom prst="rect">
            <a:avLst/>
          </a:prstGeom>
        </p:spPr>
      </p:pic>
      <p:sp>
        <p:nvSpPr>
          <p:cNvPr name="AutoShape 16" id="16"/>
          <p:cNvSpPr/>
          <p:nvPr/>
        </p:nvSpPr>
        <p:spPr>
          <a:xfrm rot="0" flipH="false" flipV="false">
            <a:off x="7239000" y="2565400"/>
            <a:ext cx="431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B45309"/>
                </a:solidFill>
                <a:latin typeface="Noto Sans SC"/>
                <a:ea typeface="Noto Sans SC"/>
                <a:cs typeface="Noto Sans SC"/>
                <a:sym typeface="Noto Sans SC"/>
              </a:rPr>
              <a:t>D2 战略弹性调配机制</a:t>
            </a:r>
            <a:r>
              <a:rPr lang="en-US" b="false" i="false" strike="noStrike" u="none" sz="1600">
                <a:solidFill>
                  <a:srgbClr val="B45309">
                    <a:alpha val="70196"/>
                  </a:srgbClr>
                </a:solidFill>
                <a:latin typeface="Noto Sans SC"/>
                <a:ea typeface="Noto Sans SC"/>
                <a:cs typeface="Noto Sans SC"/>
                <a:sym typeface="Noto Sans SC"/>
              </a:rPr>
              <a:t>（权重占比 40%）</a:t>
            </a:r>
            <a:endParaRPr lang="en-US" sz="1100"/>
          </a:p>
        </p:txBody>
      </p:sp>
      <p:cxnSp>
        <p:nvCxnSpPr>
          <p:cNvPr name="Connector 17" id="17"/>
          <p:cNvCxnSpPr/>
          <p:nvPr/>
        </p:nvCxnSpPr>
        <p:spPr>
          <a:xfrm rot="-8703" flipH="false" flipV="false">
            <a:off x="6540508" y="3359150"/>
            <a:ext cx="5016500" cy="12700"/>
          </a:xfrm>
          <a:prstGeom prst="line">
            <a:avLst/>
          </a:prstGeom>
          <a:solidFill>
            <a:srgbClr val="DEE0E3">
              <a:alpha val="100000"/>
            </a:srgbClr>
          </a:solidFill>
          <a:ln w="12700" cmpd="sng" cap="flat">
            <a:solidFill>
              <a:srgbClr val="F59E0B">
                <a:alpha val="20000"/>
              </a:srgbClr>
            </a:solidFill>
            <a:prstDash val="dash"/>
            <a:round/>
            <a:headEnd type="none" w="med" len="med"/>
            <a:tailEnd type="none" w="med" len="med"/>
          </a:ln>
        </p:spPr>
      </p:cxnSp>
      <p:sp>
        <p:nvSpPr>
          <p:cNvPr name="AutoShape 18" id="18"/>
          <p:cNvSpPr/>
          <p:nvPr/>
        </p:nvSpPr>
        <p:spPr>
          <a:xfrm rot="0" flipH="false" flipV="false">
            <a:off x="6540500" y="3556000"/>
            <a:ext cx="2476500" cy="1079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67500" y="3683000"/>
            <a:ext cx="304800" cy="304800"/>
          </a:xfrm>
          <a:prstGeom prst="rect">
            <a:avLst/>
          </a:prstGeom>
        </p:spPr>
      </p:pic>
      <p:sp>
        <p:nvSpPr>
          <p:cNvPr name="AutoShape 20" id="20"/>
          <p:cNvSpPr/>
          <p:nvPr/>
        </p:nvSpPr>
        <p:spPr>
          <a:xfrm rot="0" flipH="false" flipV="false">
            <a:off x="7048500" y="3619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新赛道冷启动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针对创新业务线，分配种子流量，缩短市场验证周期，助力新品快速切入市场。</a:t>
            </a:r>
          </a:p>
        </p:txBody>
      </p:sp>
      <p:sp>
        <p:nvSpPr>
          <p:cNvPr name="AutoShape 21" id="21"/>
          <p:cNvSpPr/>
          <p:nvPr/>
        </p:nvSpPr>
        <p:spPr>
          <a:xfrm rot="0" flipH="false" flipV="false">
            <a:off x="9080500" y="3556000"/>
            <a:ext cx="2476500" cy="1079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207500" y="3683000"/>
            <a:ext cx="304800" cy="304800"/>
          </a:xfrm>
          <a:prstGeom prst="rect">
            <a:avLst/>
          </a:prstGeom>
        </p:spPr>
      </p:pic>
      <p:sp>
        <p:nvSpPr>
          <p:cNvPr name="AutoShape 23" id="23"/>
          <p:cNvSpPr/>
          <p:nvPr/>
        </p:nvSpPr>
        <p:spPr>
          <a:xfrm rot="0" flipH="false" flipV="false">
            <a:off x="9588500" y="36195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线下活动红利</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承接展会、沙龙等线下触点的溢出流量，进行线上承接转化，实现全渠道价值复用。</a:t>
            </a:r>
          </a:p>
        </p:txBody>
      </p:sp>
      <p:sp>
        <p:nvSpPr>
          <p:cNvPr name="AutoShape 24" id="24"/>
          <p:cNvSpPr/>
          <p:nvPr/>
        </p:nvSpPr>
        <p:spPr>
          <a:xfrm rot="0" flipH="false" flipV="false">
            <a:off x="6540500" y="4762500"/>
            <a:ext cx="2476500" cy="1079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6667500" y="4889500"/>
            <a:ext cx="304800" cy="304800"/>
          </a:xfrm>
          <a:prstGeom prst="rect">
            <a:avLst/>
          </a:prstGeom>
        </p:spPr>
      </p:pic>
      <p:sp>
        <p:nvSpPr>
          <p:cNvPr name="AutoShape 26" id="26"/>
          <p:cNvSpPr/>
          <p:nvPr/>
        </p:nvSpPr>
        <p:spPr>
          <a:xfrm rot="0" flipH="false" flipV="false">
            <a:off x="7048500" y="48260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特殊贡献激励</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奖励对团队建设、文化传播或危机处理有突出贡献的个人，激发组织内部正向活力。</a:t>
            </a:r>
          </a:p>
        </p:txBody>
      </p:sp>
      <p:sp>
        <p:nvSpPr>
          <p:cNvPr name="AutoShape 27" id="27"/>
          <p:cNvSpPr/>
          <p:nvPr/>
        </p:nvSpPr>
        <p:spPr>
          <a:xfrm rot="0" flipH="false" flipV="false">
            <a:off x="9080500" y="4762500"/>
            <a:ext cx="2476500" cy="1079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0" flipH="false" flipV="false">
            <a:off x="9207500" y="4889500"/>
            <a:ext cx="304800" cy="304800"/>
          </a:xfrm>
          <a:prstGeom prst="rect">
            <a:avLst/>
          </a:prstGeom>
        </p:spPr>
      </p:pic>
      <p:sp>
        <p:nvSpPr>
          <p:cNvPr name="AutoShape 29" id="29"/>
          <p:cNvSpPr/>
          <p:nvPr/>
        </p:nvSpPr>
        <p:spPr>
          <a:xfrm rot="0" flipH="false" flipV="false">
            <a:off x="9588500" y="4826000"/>
            <a:ext cx="190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74151"/>
                </a:solidFill>
                <a:latin typeface="Noto Sans SC"/>
                <a:ea typeface="Noto Sans SC"/>
                <a:cs typeface="Noto Sans SC"/>
                <a:sym typeface="Noto Sans SC"/>
              </a:rPr>
              <a:t>风险合规调控</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B7280"/>
                </a:solidFill>
                <a:latin typeface="Noto Sans SC"/>
                <a:ea typeface="Noto Sans SC"/>
                <a:cs typeface="Noto Sans SC"/>
                <a:sym typeface="Noto Sans SC"/>
              </a:rPr>
              <a:t>预留流量池用于合规审查与风险对冲，确保业务发展在安全边界内稳健运行。</a:t>
            </a:r>
          </a:p>
        </p:txBody>
      </p:sp>
      <p:sp>
        <p:nvSpPr>
          <p:cNvPr name="AutoShape 30" id="30"/>
          <p:cNvSpPr/>
          <p:nvPr/>
        </p:nvSpPr>
        <p:spPr>
          <a:xfrm rot="0" flipH="false" flipV="false">
            <a:off x="508000" y="6096000"/>
            <a:ext cx="11303000" cy="5080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635000" y="6197600"/>
            <a:ext cx="1104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核心逻辑：以新人扶持筑牢组织基石，以弹性调配激活战略潜力，实现系统流量分配的可持续性与灵活性平衡。</a:t>
            </a:r>
            <a:endParaRPr lang="en-US" sz="1100"/>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1524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508000"/>
            <a:ext cx="1143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4.5 分配制度的透明化与文化建设</a:t>
            </a:r>
            <a:endParaRPr lang="en-US" sz="1100"/>
          </a:p>
        </p:txBody>
      </p:sp>
      <p:cxnSp>
        <p:nvCxnSpPr>
          <p:cNvPr name="Connector 4" id="4"/>
          <p:cNvCxnSpPr/>
          <p:nvPr/>
        </p:nvCxnSpPr>
        <p:spPr>
          <a:xfrm rot="-3819" flipH="false" flipV="false">
            <a:off x="381004" y="1263650"/>
            <a:ext cx="11430000" cy="12700"/>
          </a:xfrm>
          <a:prstGeom prst="straightConnector1">
            <a:avLst/>
          </a:prstGeom>
          <a:solidFill>
            <a:srgbClr val="DEE0E3">
              <a:alpha val="100000"/>
            </a:srgbClr>
          </a:solidFill>
          <a:ln w="12700" cmpd="sng" cap="flat">
            <a:solidFill>
              <a:srgbClr val="2563EB">
                <a:alpha val="30000"/>
              </a:srgbClr>
            </a:solidFill>
            <a:prstDash val="solid"/>
            <a:round/>
            <a:headEnd type="none" w="med" len="med"/>
            <a:tailEnd type="none" w="med" len="med"/>
          </a:ln>
        </p:spPr>
      </p:cxnSp>
      <p:sp>
        <p:nvSpPr>
          <p:cNvPr name="AutoShape 5" id="5"/>
          <p:cNvSpPr/>
          <p:nvPr/>
        </p:nvSpPr>
        <p:spPr>
          <a:xfrm rot="0" flipH="false" flipV="false">
            <a:off x="381000" y="1778000"/>
            <a:ext cx="3683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381000" y="1778000"/>
            <a:ext cx="3683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35000" y="2095500"/>
            <a:ext cx="406400" cy="406400"/>
          </a:xfrm>
          <a:prstGeom prst="rect">
            <a:avLst/>
          </a:prstGeom>
        </p:spPr>
      </p:pic>
      <p:sp>
        <p:nvSpPr>
          <p:cNvPr name="AutoShape 8" id="8"/>
          <p:cNvSpPr/>
          <p:nvPr/>
        </p:nvSpPr>
        <p:spPr>
          <a:xfrm rot="0" flipH="false" flipV="false">
            <a:off x="11430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透明规则，模糊个人</a:t>
            </a:r>
            <a:endParaRPr lang="en-US" sz="1100"/>
          </a:p>
        </p:txBody>
      </p:sp>
      <p:cxnSp>
        <p:nvCxnSpPr>
          <p:cNvPr name="Connector 9" id="9"/>
          <p:cNvCxnSpPr/>
          <p:nvPr/>
        </p:nvCxnSpPr>
        <p:spPr>
          <a:xfrm rot="-13750" flipH="false" flipV="false">
            <a:off x="635013" y="2787650"/>
            <a:ext cx="3175000" cy="12700"/>
          </a:xfrm>
          <a:prstGeom prst="straightConnector1">
            <a:avLst/>
          </a:prstGeom>
          <a:solidFill>
            <a:srgbClr val="DEE0E3">
              <a:alpha val="100000"/>
            </a:srgbClr>
          </a:solidFill>
          <a:ln w="25400" cmpd="sng" cap="flat">
            <a:solidFill>
              <a:srgbClr val="F3F4F6">
                <a:alpha val="100000"/>
              </a:srgbClr>
            </a:solidFill>
            <a:prstDash val="solid"/>
            <a:round/>
            <a:headEnd type="none" w="lg" len="lg"/>
            <a:tailEnd type="none" w="lg" len="lg"/>
          </a:ln>
        </p:spPr>
      </p:cxnSp>
      <p:sp>
        <p:nvSpPr>
          <p:cNvPr name="AutoShape 10" id="10"/>
          <p:cNvSpPr/>
          <p:nvPr/>
        </p:nvSpPr>
        <p:spPr>
          <a:xfrm rot="0" flipH="false" flipV="false">
            <a:off x="635000" y="3048000"/>
            <a:ext cx="3175000" cy="12065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1496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2563EB"/>
                </a:solidFill>
                <a:latin typeface="Noto Sans SC"/>
                <a:ea typeface="Noto Sans SC"/>
                <a:cs typeface="Noto Sans SC"/>
                <a:sym typeface="Noto Sans SC"/>
              </a:rPr>
              <a:t>✅ 完全公开公示：</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岗位贡献系数表、月度“自驱之星”荣誉名单、A类分配总量与在岗人数，确保制度规则透明可视。</a:t>
            </a:r>
          </a:p>
        </p:txBody>
      </p:sp>
      <p:sp>
        <p:nvSpPr>
          <p:cNvPr name="AutoShape 12" id="12"/>
          <p:cNvSpPr/>
          <p:nvPr/>
        </p:nvSpPr>
        <p:spPr>
          <a:xfrm rot="0" flipH="false" flipV="false">
            <a:off x="635000" y="4572000"/>
            <a:ext cx="3175000" cy="1206500"/>
          </a:xfrm>
          <a:prstGeom prst="roundRect">
            <a:avLst>
              <a:gd name="adj" fmla="val 0"/>
            </a:avLst>
          </a:prstGeom>
          <a:solidFill>
            <a:srgbClr val="F3F4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4673600"/>
            <a:ext cx="2921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D97706"/>
                </a:solidFill>
                <a:latin typeface="Noto Sans SC"/>
                <a:ea typeface="Noto Sans SC"/>
                <a:cs typeface="Noto Sans SC"/>
                <a:sym typeface="Noto Sans SC"/>
              </a:rPr>
              <a:t>❌ 严格隐私保护：</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200">
                <a:solidFill>
                  <a:srgbClr val="4B5563"/>
                </a:solidFill>
                <a:latin typeface="Noto Sans SC"/>
                <a:ea typeface="Noto Sans SC"/>
                <a:cs typeface="Noto Sans SC"/>
                <a:sym typeface="Noto Sans SC"/>
              </a:rPr>
              <a:t>不公示个人具体分配数额及评定档位，有效规避内部横向比较，消除不必要的负面情绪与内卷。</a:t>
            </a:r>
          </a:p>
        </p:txBody>
      </p:sp>
      <p:sp>
        <p:nvSpPr>
          <p:cNvPr name="AutoShape 14" id="14"/>
          <p:cNvSpPr/>
          <p:nvPr/>
        </p:nvSpPr>
        <p:spPr>
          <a:xfrm rot="0" flipH="false" flipV="false">
            <a:off x="4254500" y="1778000"/>
            <a:ext cx="3683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254500" y="1778000"/>
            <a:ext cx="3683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08500" y="2095500"/>
            <a:ext cx="406400" cy="406400"/>
          </a:xfrm>
          <a:prstGeom prst="rect">
            <a:avLst/>
          </a:prstGeom>
        </p:spPr>
      </p:pic>
      <p:sp>
        <p:nvSpPr>
          <p:cNvPr name="AutoShape 17" id="17"/>
          <p:cNvSpPr/>
          <p:nvPr/>
        </p:nvSpPr>
        <p:spPr>
          <a:xfrm rot="0" flipH="false" flipV="false">
            <a:off x="50165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杜绝“等分配”心态</a:t>
            </a:r>
            <a:endParaRPr lang="en-US" sz="1100"/>
          </a:p>
        </p:txBody>
      </p:sp>
      <p:cxnSp>
        <p:nvCxnSpPr>
          <p:cNvPr name="Connector 18" id="18"/>
          <p:cNvCxnSpPr/>
          <p:nvPr/>
        </p:nvCxnSpPr>
        <p:spPr>
          <a:xfrm rot="-13750" flipH="false" flipV="false">
            <a:off x="4508513" y="2787650"/>
            <a:ext cx="3175000" cy="12700"/>
          </a:xfrm>
          <a:prstGeom prst="straightConnector1">
            <a:avLst/>
          </a:prstGeom>
          <a:solidFill>
            <a:srgbClr val="DEE0E3">
              <a:alpha val="100000"/>
            </a:srgbClr>
          </a:solidFill>
          <a:ln w="25400" cmpd="sng" cap="flat">
            <a:solidFill>
              <a:srgbClr val="F3F4F6">
                <a:alpha val="100000"/>
              </a:srgbClr>
            </a:solidFill>
            <a:prstDash val="solid"/>
            <a:round/>
            <a:headEnd type="none" w="lg" len="lg"/>
            <a:tailEnd type="none" w="lg" len="lg"/>
          </a:ln>
        </p:spPr>
      </p:cxnSp>
      <p:sp>
        <p:nvSpPr>
          <p:cNvPr name="AutoShape 19" id="19"/>
          <p:cNvSpPr/>
          <p:nvPr/>
        </p:nvSpPr>
        <p:spPr>
          <a:xfrm rot="0" flipH="false" flipV="false">
            <a:off x="4508500" y="3048000"/>
            <a:ext cx="3175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10B981"/>
                </a:solidFill>
                <a:latin typeface="Noto Sans SC"/>
                <a:ea typeface="Noto Sans SC"/>
                <a:cs typeface="Noto Sans SC"/>
                <a:sym typeface="Noto Sans SC"/>
              </a:rPr>
              <a:t>基础保障 + 增量驱动：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合格完成本职工作，可获得A类稳定分配作为基础保障；在此基础上主动拓展、推荐或创造价值，将叠加C类自驱奖励，总量显著提升。</a:t>
            </a:r>
          </a:p>
        </p:txBody>
      </p:sp>
      <p:sp>
        <p:nvSpPr>
          <p:cNvPr name="AutoShape 20" id="20"/>
          <p:cNvSpPr/>
          <p:nvPr/>
        </p:nvSpPr>
        <p:spPr>
          <a:xfrm rot="0" flipH="false" flipV="false">
            <a:off x="4508500" y="4699000"/>
            <a:ext cx="3175000" cy="10795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635500" y="4826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65F46"/>
                </a:solidFill>
                <a:latin typeface="Noto Sans SC"/>
                <a:ea typeface="Noto Sans SC"/>
                <a:cs typeface="Noto Sans SC"/>
                <a:sym typeface="Noto Sans SC"/>
              </a:rPr>
              <a:t>制度内核：松弛但不躺平</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打破“干多干少一个样”的僵局，让主动者有回报，为希望上进的伙伴提供清晰的上升通道。</a:t>
            </a:r>
          </a:p>
        </p:txBody>
      </p:sp>
      <p:sp>
        <p:nvSpPr>
          <p:cNvPr name="AutoShape 22" id="22"/>
          <p:cNvSpPr/>
          <p:nvPr/>
        </p:nvSpPr>
        <p:spPr>
          <a:xfrm rot="0" flipH="false" flipV="false">
            <a:off x="8128000" y="1778000"/>
            <a:ext cx="3683000" cy="457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128000" y="1778000"/>
            <a:ext cx="36830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095500"/>
            <a:ext cx="406400" cy="406400"/>
          </a:xfrm>
          <a:prstGeom prst="rect">
            <a:avLst/>
          </a:prstGeom>
        </p:spPr>
      </p:pic>
      <p:sp>
        <p:nvSpPr>
          <p:cNvPr name="AutoShape 25" id="25"/>
          <p:cNvSpPr/>
          <p:nvPr/>
        </p:nvSpPr>
        <p:spPr>
          <a:xfrm rot="0" flipH="false" flipV="false">
            <a:off x="8890000" y="2057400"/>
            <a:ext cx="2540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鼓励深度培育人才</a:t>
            </a:r>
            <a:endParaRPr lang="en-US" sz="1100"/>
          </a:p>
        </p:txBody>
      </p:sp>
      <p:cxnSp>
        <p:nvCxnSpPr>
          <p:cNvPr name="Connector 26" id="26"/>
          <p:cNvCxnSpPr/>
          <p:nvPr/>
        </p:nvCxnSpPr>
        <p:spPr>
          <a:xfrm rot="-13750" flipH="false" flipV="false">
            <a:off x="8382013" y="2787650"/>
            <a:ext cx="3175000" cy="12700"/>
          </a:xfrm>
          <a:prstGeom prst="straightConnector1">
            <a:avLst/>
          </a:prstGeom>
          <a:solidFill>
            <a:srgbClr val="DEE0E3">
              <a:alpha val="100000"/>
            </a:srgbClr>
          </a:solidFill>
          <a:ln w="25400" cmpd="sng" cap="flat">
            <a:solidFill>
              <a:srgbClr val="F3F4F6">
                <a:alpha val="100000"/>
              </a:srgbClr>
            </a:solidFill>
            <a:prstDash val="solid"/>
            <a:round/>
            <a:headEnd type="none" w="lg" len="lg"/>
            <a:tailEnd type="none" w="lg" len="lg"/>
          </a:ln>
        </p:spPr>
      </p:cxnSp>
      <p:sp>
        <p:nvSpPr>
          <p:cNvPr name="AutoShape 27" id="27"/>
          <p:cNvSpPr/>
          <p:nvPr/>
        </p:nvSpPr>
        <p:spPr>
          <a:xfrm rot="0" flipH="false" flipV="false">
            <a:off x="8382000" y="3048000"/>
            <a:ext cx="3175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59E0B"/>
                </a:solidFill>
                <a:latin typeface="Noto Sans SC"/>
                <a:ea typeface="Noto Sans SC"/>
                <a:cs typeface="Noto Sans SC"/>
                <a:sym typeface="Noto Sans SC"/>
              </a:rPr>
              <a:t>加权机制传递导向：</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4B5563"/>
                </a:solidFill>
                <a:latin typeface="Noto Sans SC"/>
                <a:ea typeface="Noto Sans SC"/>
                <a:cs typeface="Noto Sans SC"/>
                <a:sym typeface="Noto Sans SC"/>
              </a:rPr>
              <a:t>B类分配对深度位置给予+30%加权，C类分配对培育D级以上经营者给予+20%加权。制度明确发出信号：成就他人就是成就自己。</a:t>
            </a:r>
          </a:p>
        </p:txBody>
      </p:sp>
      <p:sp>
        <p:nvSpPr>
          <p:cNvPr name="AutoShape 28" id="28"/>
          <p:cNvSpPr/>
          <p:nvPr/>
        </p:nvSpPr>
        <p:spPr>
          <a:xfrm rot="0" flipH="false" flipV="false">
            <a:off x="8382000" y="4699000"/>
            <a:ext cx="3175000" cy="1079500"/>
          </a:xfrm>
          <a:prstGeom prst="roundRect">
            <a:avLst>
              <a:gd name="adj" fmla="val 0"/>
            </a:avLst>
          </a:prstGeom>
          <a:solidFill>
            <a:srgbClr val="F59E0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509000" y="4826000"/>
            <a:ext cx="2921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B45309"/>
                </a:solidFill>
                <a:latin typeface="Noto Sans SC"/>
                <a:ea typeface="Noto Sans SC"/>
                <a:cs typeface="Noto Sans SC"/>
                <a:sym typeface="Noto Sans SC"/>
              </a:rPr>
              <a:t>底层逻辑：宽5深7，深度为王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B5563"/>
                </a:solidFill>
                <a:latin typeface="Noto Sans SC"/>
                <a:ea typeface="Noto Sans SC"/>
                <a:cs typeface="Noto Sans SC"/>
                <a:sym typeface="Noto Sans SC"/>
              </a:rPr>
              <a:t>与美乐家经典的人才培育逻辑一脉相承，优先保障深度利益，构建稳健、可持续的团队发展基石。</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4.6 组织成长的阶段性</a:t>
            </a:r>
            <a:endParaRPr lang="en-US" sz="1100"/>
          </a:p>
        </p:txBody>
      </p:sp>
      <p:sp>
        <p:nvSpPr>
          <p:cNvPr name="AutoShape 3" id="3"/>
          <p:cNvSpPr/>
          <p:nvPr/>
        </p:nvSpPr>
        <p:spPr>
          <a:xfrm rot="0" flipH="false" flipV="false">
            <a:off x="508000" y="1143000"/>
            <a:ext cx="11176000" cy="762000"/>
          </a:xfrm>
          <a:prstGeom prst="roundRect">
            <a:avLst>
              <a:gd name="adj" fmla="val 0"/>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1143000"/>
            <a:ext cx="76200" cy="762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206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600">
                <a:solidFill>
                  <a:srgbClr val="374151"/>
                </a:solidFill>
                <a:latin typeface="Noto Sans SC"/>
                <a:ea typeface="Noto Sans SC"/>
                <a:cs typeface="Noto Sans SC"/>
                <a:sym typeface="Noto Sans SC"/>
              </a:rPr>
              <a:t>核心洞察：组织从0到31人的成长并非刻意规划，而是遵循</a:t>
            </a:r>
            <a:r>
              <a:rPr lang="en-US" b="true" i="false" strike="noStrike" u="none" sz="1600">
                <a:solidFill>
                  <a:srgbClr val="374151"/>
                </a:solidFill>
                <a:latin typeface="Noto Sans SC"/>
                <a:ea typeface="Noto Sans SC"/>
                <a:cs typeface="Noto Sans SC"/>
                <a:sym typeface="Noto Sans SC"/>
              </a:rPr>
              <a:t>“自然涌现”</a:t>
            </a:r>
            <a:r>
              <a:rPr lang="en-US" b="false" i="false" strike="noStrike" u="none" sz="1600">
                <a:solidFill>
                  <a:srgbClr val="374151"/>
                </a:solidFill>
                <a:latin typeface="Noto Sans SC"/>
                <a:ea typeface="Noto Sans SC"/>
                <a:cs typeface="Noto Sans SC"/>
                <a:sym typeface="Noto Sans SC"/>
              </a:rPr>
              <a:t>的节奏。每一步的核心任务是完成能力闭环与人才沉淀，而非盲目扩张。</a:t>
            </a:r>
            <a:endParaRPr lang="en-US" sz="1100"/>
          </a:p>
        </p:txBody>
      </p:sp>
      <p:sp>
        <p:nvSpPr>
          <p:cNvPr name="AutoShape 6" id="6"/>
          <p:cNvSpPr/>
          <p:nvPr/>
        </p:nvSpPr>
        <p:spPr>
          <a:xfrm rot="0" flipH="false" flipV="false">
            <a:off x="508000" y="2413000"/>
            <a:ext cx="2108200" cy="330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508000" y="2413000"/>
            <a:ext cx="21082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2667000"/>
            <a:ext cx="355600" cy="355600"/>
          </a:xfrm>
          <a:prstGeom prst="rect">
            <a:avLst/>
          </a:prstGeom>
        </p:spPr>
      </p:pic>
      <p:sp>
        <p:nvSpPr>
          <p:cNvPr name="AutoShape 9" id="9"/>
          <p:cNvSpPr/>
          <p:nvPr/>
        </p:nvSpPr>
        <p:spPr>
          <a:xfrm rot="0" flipH="false" flipV="false">
            <a:off x="1143000" y="2641600"/>
            <a:ext cx="139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01 单核验证</a:t>
            </a:r>
            <a:endParaRPr lang="en-US" sz="1100"/>
          </a:p>
        </p:txBody>
      </p:sp>
      <p:cxnSp>
        <p:nvCxnSpPr>
          <p:cNvPr name="Connector 10" id="10"/>
          <p:cNvCxnSpPr/>
          <p:nvPr/>
        </p:nvCxnSpPr>
        <p:spPr>
          <a:xfrm rot="-25277" flipH="false" flipV="false">
            <a:off x="698523" y="3232150"/>
            <a:ext cx="17272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11" id="11"/>
          <p:cNvSpPr/>
          <p:nvPr/>
        </p:nvSpPr>
        <p:spPr>
          <a:xfrm rot="0" flipH="false" flipV="false">
            <a:off x="635000" y="3429000"/>
            <a:ext cx="1854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创始人亲自操盘1-2个核心赛道，跑通从获客到交付的完整闭环。这个实战过程是组织最宝贵的培训教材。</a:t>
            </a:r>
            <a:endParaRPr lang="en-US" sz="1100"/>
          </a:p>
        </p:txBody>
      </p:sp>
      <p:sp>
        <p:nvSpPr>
          <p:cNvPr name="AutoShape 12" id="12"/>
          <p:cNvSpPr/>
          <p:nvPr/>
        </p:nvSpPr>
        <p:spPr>
          <a:xfrm rot="0" flipH="false" flipV="false">
            <a:off x="635000" y="5207000"/>
            <a:ext cx="1854200" cy="431800"/>
          </a:xfrm>
          <a:prstGeom prst="roundRect">
            <a:avLst>
              <a:gd name="adj" fmla="val 0"/>
            </a:avLst>
          </a:prstGeom>
          <a:solidFill>
            <a:srgbClr val="3B82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 y="5283200"/>
            <a:ext cx="18542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2563EB"/>
                </a:solidFill>
                <a:latin typeface="Noto Sans SC"/>
                <a:ea typeface="Noto Sans SC"/>
                <a:cs typeface="Noto Sans SC"/>
                <a:sym typeface="Noto Sans SC"/>
              </a:rPr>
              <a:t>目标：达成 D → SD</a:t>
            </a:r>
            <a:endParaRPr lang="en-US" sz="1100"/>
          </a:p>
        </p:txBody>
      </p:sp>
      <p:sp>
        <p:nvSpPr>
          <p:cNvPr name="AutoShape 14" id="14"/>
          <p:cNvSpPr/>
          <p:nvPr/>
        </p:nvSpPr>
        <p:spPr>
          <a:xfrm rot="0" flipH="false" flipV="false">
            <a:off x="2819400" y="2413000"/>
            <a:ext cx="2108200" cy="330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2819400" y="2413000"/>
            <a:ext cx="21082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3009900" y="2667000"/>
            <a:ext cx="355600" cy="355600"/>
          </a:xfrm>
          <a:prstGeom prst="rect">
            <a:avLst/>
          </a:prstGeom>
        </p:spPr>
      </p:pic>
      <p:sp>
        <p:nvSpPr>
          <p:cNvPr name="AutoShape 17" id="17"/>
          <p:cNvSpPr/>
          <p:nvPr/>
        </p:nvSpPr>
        <p:spPr>
          <a:xfrm rot="0" flipH="false" flipV="false">
            <a:off x="3454400" y="2641600"/>
            <a:ext cx="139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02 核心涌现</a:t>
            </a:r>
            <a:endParaRPr lang="en-US" sz="1100"/>
          </a:p>
        </p:txBody>
      </p:sp>
      <p:cxnSp>
        <p:nvCxnSpPr>
          <p:cNvPr name="Connector 18" id="18"/>
          <p:cNvCxnSpPr/>
          <p:nvPr/>
        </p:nvCxnSpPr>
        <p:spPr>
          <a:xfrm rot="-25277" flipH="false" flipV="false">
            <a:off x="3009923" y="3232150"/>
            <a:ext cx="17272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19" id="19"/>
          <p:cNvSpPr/>
          <p:nvPr/>
        </p:nvSpPr>
        <p:spPr>
          <a:xfrm rot="0" flipH="false" flipV="false">
            <a:off x="2946400" y="3429000"/>
            <a:ext cx="1854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从活跃会员社群中筛选种子选手，进行一对一深度陪跑，精准匹配职能方向，完成第一位核心经营者的孵化。</a:t>
            </a:r>
            <a:endParaRPr lang="en-US" sz="1100"/>
          </a:p>
        </p:txBody>
      </p:sp>
      <p:sp>
        <p:nvSpPr>
          <p:cNvPr name="AutoShape 20" id="20"/>
          <p:cNvSpPr/>
          <p:nvPr/>
        </p:nvSpPr>
        <p:spPr>
          <a:xfrm rot="0" flipH="false" flipV="false">
            <a:off x="2946400" y="5207000"/>
            <a:ext cx="1854200" cy="4318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2946400" y="5283200"/>
            <a:ext cx="18542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059669"/>
                </a:solidFill>
                <a:latin typeface="Noto Sans SC"/>
                <a:ea typeface="Noto Sans SC"/>
                <a:cs typeface="Noto Sans SC"/>
                <a:sym typeface="Noto Sans SC"/>
              </a:rPr>
              <a:t>目标：核心达成 D</a:t>
            </a:r>
            <a:endParaRPr lang="en-US" sz="1100"/>
          </a:p>
        </p:txBody>
      </p:sp>
      <p:sp>
        <p:nvSpPr>
          <p:cNvPr name="AutoShape 22" id="22"/>
          <p:cNvSpPr/>
          <p:nvPr/>
        </p:nvSpPr>
        <p:spPr>
          <a:xfrm rot="0" flipH="false" flipV="false">
            <a:off x="5130800" y="2413000"/>
            <a:ext cx="2108200" cy="330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5130800" y="2413000"/>
            <a:ext cx="21082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321300" y="2667000"/>
            <a:ext cx="355600" cy="355600"/>
          </a:xfrm>
          <a:prstGeom prst="rect">
            <a:avLst/>
          </a:prstGeom>
        </p:spPr>
      </p:pic>
      <p:sp>
        <p:nvSpPr>
          <p:cNvPr name="AutoShape 25" id="25"/>
          <p:cNvSpPr/>
          <p:nvPr/>
        </p:nvSpPr>
        <p:spPr>
          <a:xfrm rot="0" flipH="false" flipV="false">
            <a:off x="5765800" y="2641600"/>
            <a:ext cx="139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03 团队成形</a:t>
            </a:r>
            <a:endParaRPr lang="en-US" sz="1100"/>
          </a:p>
        </p:txBody>
      </p:sp>
      <p:cxnSp>
        <p:nvCxnSpPr>
          <p:cNvPr name="Connector 26" id="26"/>
          <p:cNvCxnSpPr/>
          <p:nvPr/>
        </p:nvCxnSpPr>
        <p:spPr>
          <a:xfrm rot="-25277" flipH="false" flipV="false">
            <a:off x="5321323" y="3232150"/>
            <a:ext cx="17272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27" id="27"/>
          <p:cNvSpPr/>
          <p:nvPr/>
        </p:nvSpPr>
        <p:spPr>
          <a:xfrm rot="0" flipH="false" flipV="false">
            <a:off x="5257800" y="3429000"/>
            <a:ext cx="1854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形成3-5人的核心小团队，赛道与职能开始分工。分配规则实现制度化运行，组织开始具备初步的协作效率。</a:t>
            </a:r>
            <a:endParaRPr lang="en-US" sz="1100"/>
          </a:p>
        </p:txBody>
      </p:sp>
      <p:sp>
        <p:nvSpPr>
          <p:cNvPr name="AutoShape 28" id="28"/>
          <p:cNvSpPr/>
          <p:nvPr/>
        </p:nvSpPr>
        <p:spPr>
          <a:xfrm rot="0" flipH="false" flipV="false">
            <a:off x="5257800" y="5207000"/>
            <a:ext cx="1854200" cy="431800"/>
          </a:xfrm>
          <a:prstGeom prst="roundRect">
            <a:avLst>
              <a:gd name="adj" fmla="val 0"/>
            </a:avLst>
          </a:prstGeom>
          <a:solidFill>
            <a:srgbClr val="F59E0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5257800" y="5283200"/>
            <a:ext cx="18542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D97706"/>
                </a:solidFill>
                <a:latin typeface="Noto Sans SC"/>
                <a:ea typeface="Noto Sans SC"/>
                <a:cs typeface="Noto Sans SC"/>
                <a:sym typeface="Noto Sans SC"/>
              </a:rPr>
              <a:t>目标：创始人迈向 ED</a:t>
            </a:r>
            <a:endParaRPr lang="en-US" sz="1100"/>
          </a:p>
        </p:txBody>
      </p:sp>
      <p:sp>
        <p:nvSpPr>
          <p:cNvPr name="AutoShape 30" id="30"/>
          <p:cNvSpPr/>
          <p:nvPr/>
        </p:nvSpPr>
        <p:spPr>
          <a:xfrm rot="0" flipH="false" flipV="false">
            <a:off x="7442200" y="2413000"/>
            <a:ext cx="2108200" cy="330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7442200" y="2413000"/>
            <a:ext cx="2108200" cy="76200"/>
          </a:xfrm>
          <a:prstGeom prst="roundRect">
            <a:avLst>
              <a:gd name="adj" fmla="val 0"/>
            </a:avLst>
          </a:prstGeom>
          <a:solidFill>
            <a:srgbClr val="8B5C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2" id="3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7632700" y="2667000"/>
            <a:ext cx="355600" cy="355600"/>
          </a:xfrm>
          <a:prstGeom prst="rect">
            <a:avLst/>
          </a:prstGeom>
        </p:spPr>
      </p:pic>
      <p:sp>
        <p:nvSpPr>
          <p:cNvPr name="AutoShape 33" id="33"/>
          <p:cNvSpPr/>
          <p:nvPr/>
        </p:nvSpPr>
        <p:spPr>
          <a:xfrm rot="0" flipH="false" flipV="false">
            <a:off x="8077200" y="2641600"/>
            <a:ext cx="139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04 矩阵扩展</a:t>
            </a:r>
            <a:endParaRPr lang="en-US" sz="1100"/>
          </a:p>
        </p:txBody>
      </p:sp>
      <p:cxnSp>
        <p:nvCxnSpPr>
          <p:cNvPr name="Connector 34" id="34"/>
          <p:cNvCxnSpPr/>
          <p:nvPr/>
        </p:nvCxnSpPr>
        <p:spPr>
          <a:xfrm rot="-25277" flipH="false" flipV="false">
            <a:off x="7632723" y="3232150"/>
            <a:ext cx="17272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35" id="35"/>
          <p:cNvSpPr/>
          <p:nvPr/>
        </p:nvSpPr>
        <p:spPr>
          <a:xfrm rot="0" flipH="false" flipV="false">
            <a:off x="7569200" y="3429000"/>
            <a:ext cx="1854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核心成员突破10人，形成“十三钗”雏形。主要赛道由独立博主覆盖，开始批量培育SD级人才，组织层级升级。</a:t>
            </a:r>
            <a:endParaRPr lang="en-US" sz="1100"/>
          </a:p>
        </p:txBody>
      </p:sp>
      <p:sp>
        <p:nvSpPr>
          <p:cNvPr name="AutoShape 36" id="36"/>
          <p:cNvSpPr/>
          <p:nvPr/>
        </p:nvSpPr>
        <p:spPr>
          <a:xfrm rot="0" flipH="false" flipV="false">
            <a:off x="7569200" y="5207000"/>
            <a:ext cx="1854200" cy="431800"/>
          </a:xfrm>
          <a:prstGeom prst="roundRect">
            <a:avLst>
              <a:gd name="adj" fmla="val 0"/>
            </a:avLst>
          </a:prstGeom>
          <a:solidFill>
            <a:srgbClr val="8B5CF6">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7" id="37"/>
          <p:cNvSpPr/>
          <p:nvPr/>
        </p:nvSpPr>
        <p:spPr>
          <a:xfrm rot="0" flipH="false" flipV="false">
            <a:off x="7569200" y="5283200"/>
            <a:ext cx="18542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7C3AED"/>
                </a:solidFill>
                <a:latin typeface="Noto Sans SC"/>
                <a:ea typeface="Noto Sans SC"/>
                <a:cs typeface="Noto Sans SC"/>
                <a:sym typeface="Noto Sans SC"/>
              </a:rPr>
              <a:t>目标：ED 晋升至 ND</a:t>
            </a:r>
            <a:endParaRPr lang="en-US" sz="1100"/>
          </a:p>
        </p:txBody>
      </p:sp>
      <p:sp>
        <p:nvSpPr>
          <p:cNvPr name="AutoShape 38" id="38"/>
          <p:cNvSpPr/>
          <p:nvPr/>
        </p:nvSpPr>
        <p:spPr>
          <a:xfrm rot="0" flipH="false" flipV="false">
            <a:off x="9753600" y="2413000"/>
            <a:ext cx="2108200" cy="3302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39" id="39"/>
          <p:cNvSpPr/>
          <p:nvPr/>
        </p:nvSpPr>
        <p:spPr>
          <a:xfrm rot="0" flipH="false" flipV="false">
            <a:off x="9753600" y="2413000"/>
            <a:ext cx="2108200" cy="76200"/>
          </a:xfrm>
          <a:prstGeom prst="roundRect">
            <a:avLst>
              <a:gd name="adj" fmla="val 0"/>
            </a:avLst>
          </a:prstGeom>
          <a:solidFill>
            <a:srgbClr val="EC4899">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40" id="40"/>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944100" y="2667000"/>
            <a:ext cx="355600" cy="355600"/>
          </a:xfrm>
          <a:prstGeom prst="rect">
            <a:avLst/>
          </a:prstGeom>
        </p:spPr>
      </p:pic>
      <p:sp>
        <p:nvSpPr>
          <p:cNvPr name="AutoShape 41" id="41"/>
          <p:cNvSpPr/>
          <p:nvPr/>
        </p:nvSpPr>
        <p:spPr>
          <a:xfrm rot="0" flipH="false" flipV="false">
            <a:off x="10388600" y="2641600"/>
            <a:ext cx="139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F2937"/>
                </a:solidFill>
                <a:latin typeface="Noto Sans SC"/>
                <a:ea typeface="Noto Sans SC"/>
                <a:cs typeface="Noto Sans SC"/>
                <a:sym typeface="Noto Sans SC"/>
              </a:rPr>
              <a:t>05 完整生态</a:t>
            </a:r>
            <a:endParaRPr lang="en-US" sz="1100"/>
          </a:p>
        </p:txBody>
      </p:sp>
      <p:cxnSp>
        <p:nvCxnSpPr>
          <p:cNvPr name="Connector 42" id="42"/>
          <p:cNvCxnSpPr/>
          <p:nvPr/>
        </p:nvCxnSpPr>
        <p:spPr>
          <a:xfrm rot="-25277" flipH="false" flipV="false">
            <a:off x="9944123" y="3232150"/>
            <a:ext cx="17272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43" id="43"/>
          <p:cNvSpPr/>
          <p:nvPr/>
        </p:nvSpPr>
        <p:spPr>
          <a:xfrm rot="0" flipH="false" flipV="false">
            <a:off x="9880600" y="3429000"/>
            <a:ext cx="1854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B5563"/>
                </a:solidFill>
                <a:latin typeface="Noto Sans SC"/>
                <a:ea typeface="Noto Sans SC"/>
                <a:cs typeface="Noto Sans SC"/>
                <a:sym typeface="Noto Sans SC"/>
              </a:rPr>
              <a:t>构建“十三钗+十八罗汉”的多层网络，系统实现半自动化运行。组织进入成熟发展期，具备自我迭代能力。</a:t>
            </a:r>
            <a:endParaRPr lang="en-US" sz="1100"/>
          </a:p>
        </p:txBody>
      </p:sp>
      <p:sp>
        <p:nvSpPr>
          <p:cNvPr name="AutoShape 44" id="44"/>
          <p:cNvSpPr/>
          <p:nvPr/>
        </p:nvSpPr>
        <p:spPr>
          <a:xfrm rot="0" flipH="false" flipV="false">
            <a:off x="9880600" y="5207000"/>
            <a:ext cx="1854200" cy="431800"/>
          </a:xfrm>
          <a:prstGeom prst="roundRect">
            <a:avLst>
              <a:gd name="adj" fmla="val 0"/>
            </a:avLst>
          </a:prstGeom>
          <a:solidFill>
            <a:srgbClr val="EC4899">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5" id="45"/>
          <p:cNvSpPr/>
          <p:nvPr/>
        </p:nvSpPr>
        <p:spPr>
          <a:xfrm rot="0" flipH="false" flipV="false">
            <a:off x="9880600" y="5283200"/>
            <a:ext cx="1854200" cy="3048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200">
                <a:solidFill>
                  <a:srgbClr val="DB2777"/>
                </a:solidFill>
                <a:latin typeface="Noto Sans SC"/>
                <a:ea typeface="Noto Sans SC"/>
                <a:cs typeface="Noto Sans SC"/>
                <a:sym typeface="Noto Sans SC"/>
              </a:rPr>
              <a:t>目标：ND → CD → PD</a:t>
            </a:r>
            <a:endParaRPr lang="en-US" sz="1100"/>
          </a:p>
        </p:txBody>
      </p:sp>
      <p:cxnSp>
        <p:nvCxnSpPr>
          <p:cNvPr name="Connector 46" id="46"/>
          <p:cNvCxnSpPr/>
          <p:nvPr/>
        </p:nvCxnSpPr>
        <p:spPr>
          <a:xfrm rot="-3906" flipH="false" flipV="false">
            <a:off x="508004" y="60896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7" id="47"/>
          <p:cNvSpPr/>
          <p:nvPr/>
        </p:nvSpPr>
        <p:spPr>
          <a:xfrm rot="0" flipH="false" flipV="false">
            <a:off x="508000" y="6223000"/>
            <a:ext cx="1117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6B7280"/>
                </a:solidFill>
                <a:latin typeface="Noto Sans SC"/>
                <a:ea typeface="Noto Sans SC"/>
                <a:cs typeface="Noto Sans SC"/>
                <a:sym typeface="Noto Sans SC"/>
              </a:rPr>
              <a:t>总结：每个阶段的核心不在于人数的增加，而在于</a:t>
            </a:r>
            <a:r>
              <a:rPr lang="en-US" b="true" i="false" strike="noStrike" u="none" sz="1300">
                <a:solidFill>
                  <a:srgbClr val="6B7280"/>
                </a:solidFill>
                <a:latin typeface="Noto Sans SC"/>
                <a:ea typeface="Noto Sans SC"/>
                <a:cs typeface="Noto Sans SC"/>
                <a:sym typeface="Noto Sans SC"/>
              </a:rPr>
              <a:t>“能力模型”</a:t>
            </a:r>
            <a:r>
              <a:rPr lang="en-US" b="false" i="false" strike="noStrike" u="none" sz="1300">
                <a:solidFill>
                  <a:srgbClr val="6B7280"/>
                </a:solidFill>
                <a:latin typeface="Noto Sans SC"/>
                <a:ea typeface="Noto Sans SC"/>
                <a:cs typeface="Noto Sans SC"/>
                <a:sym typeface="Noto Sans SC"/>
              </a:rPr>
              <a:t>的升级与</a:t>
            </a:r>
            <a:r>
              <a:rPr lang="en-US" b="true" i="false" strike="noStrike" u="none" sz="1300">
                <a:solidFill>
                  <a:srgbClr val="6B7280"/>
                </a:solidFill>
                <a:latin typeface="Noto Sans SC"/>
                <a:ea typeface="Noto Sans SC"/>
                <a:cs typeface="Noto Sans SC"/>
                <a:sym typeface="Noto Sans SC"/>
              </a:rPr>
              <a:t>“人才密度”</a:t>
            </a:r>
            <a:r>
              <a:rPr lang="en-US" b="false" i="false" strike="noStrike" u="none" sz="1300">
                <a:solidFill>
                  <a:srgbClr val="6B7280"/>
                </a:solidFill>
                <a:latin typeface="Noto Sans SC"/>
                <a:ea typeface="Noto Sans SC"/>
                <a:cs typeface="Noto Sans SC"/>
                <a:sym typeface="Noto Sans SC"/>
              </a:rPr>
              <a:t>的提升，是一个从量变到质变的自然演化过程。</a:t>
            </a:r>
            <a:endParaRPr lang="en-US" sz="1100"/>
          </a:p>
        </p:txBody>
      </p:sp>
    </p:spTree>
  </p:cSld>
  <p:clrMapOvr>
    <a:masterClrMapping/>
  </p:clrMapOvr>
</p:sld>
</file>

<file path=ppt/slides/slide34.xml><?xml version="1.0" encoding="utf-8"?>
<p:sld xmlns:p="http://schemas.openxmlformats.org/presentationml/2006/main" xmlns:a="http://schemas.openxmlformats.org/drawingml/2006/main">
  <p:cSld>
    <p:bg>
      <p:bgPr>
        <a:gradFill rotWithShape="true">
          <a:gsLst>
            <a:gs pos="0">
              <a:srgbClr val="081C42">
                <a:alpha val="100000"/>
              </a:srgbClr>
            </a:gs>
            <a:gs pos="100000">
              <a:srgbClr val="12388B">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254000" y="2032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0">
                <a:solidFill>
                  <a:srgbClr val="FFFFFF">
                    <a:alpha val="7843"/>
                  </a:srgbClr>
                </a:solidFill>
                <a:latin typeface="Noto Sans SC"/>
                <a:ea typeface="Noto Sans SC"/>
                <a:cs typeface="Noto Sans SC"/>
                <a:sym typeface="Noto Sans SC"/>
              </a:rPr>
              <a:t>05</a:t>
            </a:r>
            <a:endParaRPr lang="en-US" sz="1100"/>
          </a:p>
        </p:txBody>
      </p:sp>
      <p:sp>
        <p:nvSpPr>
          <p:cNvPr name="AutoShape 3" id="3"/>
          <p:cNvSpPr/>
          <p:nvPr/>
        </p:nvSpPr>
        <p:spPr>
          <a:xfrm rot="0" flipH="false" flipV="false">
            <a:off x="5334000" y="2032000"/>
            <a:ext cx="76200" cy="2794000"/>
          </a:xfrm>
          <a:prstGeom prst="roundRect">
            <a:avLst>
              <a:gd name="adj" fmla="val 0"/>
            </a:avLst>
          </a:prstGeom>
          <a:solidFill>
            <a:srgbClr val="38BDF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715000" y="2159000"/>
            <a:ext cx="584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spc="200">
                <a:solidFill>
                  <a:srgbClr val="FFFFFF">
                    <a:alpha val="60000"/>
                  </a:srgbClr>
                </a:solidFill>
                <a:latin typeface="Noto Sans SC"/>
                <a:ea typeface="Noto Sans SC"/>
                <a:cs typeface="Noto Sans SC"/>
                <a:sym typeface="Noto Sans SC"/>
              </a:rPr>
              <a:t>CHAPTER 05</a:t>
            </a:r>
            <a:endParaRPr lang="en-US" sz="1100"/>
          </a:p>
        </p:txBody>
      </p:sp>
      <p:sp>
        <p:nvSpPr>
          <p:cNvPr name="AutoShape 5" id="5"/>
          <p:cNvSpPr/>
          <p:nvPr/>
        </p:nvSpPr>
        <p:spPr>
          <a:xfrm rot="0" flipH="false" flipV="false">
            <a:off x="5715000" y="3048000"/>
            <a:ext cx="596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400">
                <a:solidFill>
                  <a:srgbClr val="FFFFFF"/>
                </a:solidFill>
                <a:latin typeface="Noto Sans SC"/>
                <a:ea typeface="Noto Sans SC"/>
                <a:cs typeface="Noto Sans SC"/>
                <a:sym typeface="Noto Sans SC"/>
              </a:rPr>
              <a:t>收入模型与资金策略</a:t>
            </a:r>
            <a:endParaRPr lang="en-US" sz="1100"/>
          </a:p>
        </p:txBody>
      </p:sp>
      <p:cxnSp>
        <p:nvCxnSpPr>
          <p:cNvPr name="Connector 6" id="6"/>
          <p:cNvCxnSpPr/>
          <p:nvPr/>
        </p:nvCxnSpPr>
        <p:spPr>
          <a:xfrm rot="-7639" flipH="false" flipV="false">
            <a:off x="5715007" y="4565650"/>
            <a:ext cx="5715000" cy="12700"/>
          </a:xfrm>
          <a:prstGeom prst="straightConnector1">
            <a:avLst/>
          </a:prstGeom>
          <a:solidFill>
            <a:srgbClr val="DEE0E3">
              <a:alpha val="100000"/>
            </a:srgbClr>
          </a:solidFill>
          <a:ln w="12700" cmpd="sng" cap="flat">
            <a:solidFill>
              <a:srgbClr val="FFFFFF">
                <a:alpha val="20000"/>
              </a:srgbClr>
            </a:solidFill>
            <a:prstDash val="solid"/>
            <a:round/>
            <a:headEnd type="none" w="med" len="med"/>
            <a:tailEnd type="none" w="med" len="med"/>
          </a:ln>
        </p:spPr>
      </p:cxnSp>
      <p:sp>
        <p:nvSpPr>
          <p:cNvPr name="AutoShape 7" id="7"/>
          <p:cNvSpPr/>
          <p:nvPr/>
        </p:nvSpPr>
        <p:spPr>
          <a:xfrm rot="0" flipH="false" flipV="false">
            <a:off x="5715000" y="4953000"/>
            <a:ext cx="5715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80000"/>
                  </a:srgbClr>
                </a:solidFill>
                <a:latin typeface="Noto Sans SC"/>
                <a:ea typeface="Noto Sans SC"/>
                <a:cs typeface="Noto Sans SC"/>
                <a:sym typeface="Noto Sans SC"/>
              </a:rPr>
              <a:t>构建多元化、可持续的商业闭环收入结构，制定科学的资金管理与风险控制策略，为项目的长远发展筑牢财务基石。</a:t>
            </a:r>
            <a:endParaRPr lang="en-US" sz="1100"/>
          </a:p>
        </p:txBody>
      </p:sp>
      <p:sp>
        <p:nvSpPr>
          <p:cNvPr name="AutoShape 8" id="8"/>
          <p:cNvSpPr/>
          <p:nvPr/>
        </p:nvSpPr>
        <p:spPr>
          <a:xfrm rot="0" flipH="false" flipV="false">
            <a:off x="10922000" y="508000"/>
            <a:ext cx="1016000" cy="1016000"/>
          </a:xfrm>
          <a:prstGeom prst="ellipse">
            <a:avLst/>
          </a:prstGeom>
          <a:solidFill>
            <a:srgbClr val="38BDF8">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303000" y="889000"/>
            <a:ext cx="508000" cy="508000"/>
          </a:xfrm>
          <a:prstGeom prst="ellipse">
            <a:avLst/>
          </a:prstGeom>
          <a:solidFill>
            <a:srgbClr val="FFFFFF">
              <a:alpha val="5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5.1 两大收入来源</a:t>
            </a:r>
            <a:endParaRPr lang="en-US" sz="1100"/>
          </a:p>
        </p:txBody>
      </p:sp>
      <p:cxnSp>
        <p:nvCxnSpPr>
          <p:cNvPr name="Connector 3" id="3"/>
          <p:cNvCxnSpPr/>
          <p:nvPr/>
        </p:nvCxnSpPr>
        <p:spPr>
          <a:xfrm rot="-3906" flipH="false" flipV="false">
            <a:off x="508004" y="1136650"/>
            <a:ext cx="11176000" cy="12700"/>
          </a:xfrm>
          <a:prstGeom prst="straightConnector1">
            <a:avLst/>
          </a:prstGeom>
          <a:solidFill>
            <a:srgbClr val="DEE0E3">
              <a:alpha val="100000"/>
            </a:srgbClr>
          </a:solidFill>
          <a:ln w="12700" cmpd="sng" cap="flat">
            <a:solidFill>
              <a:srgbClr val="1F2937">
                <a:alpha val="10000"/>
              </a:srgbClr>
            </a:solidFill>
            <a:prstDash val="solid"/>
            <a:round/>
            <a:headEnd type="none" w="med" len="med"/>
            <a:tailEnd type="none" w="med" len="med"/>
          </a:ln>
        </p:spPr>
      </p:cxnSp>
      <p:sp>
        <p:nvSpPr>
          <p:cNvPr name="AutoShape 4" id="4"/>
          <p:cNvSpPr/>
          <p:nvPr/>
        </p:nvSpPr>
        <p:spPr>
          <a:xfrm rot="0" flipH="false" flipV="false">
            <a:off x="508000" y="1397000"/>
            <a:ext cx="5524500" cy="4572000"/>
          </a:xfrm>
          <a:prstGeom prst="roundRect">
            <a:avLst>
              <a:gd name="adj" fmla="val 0"/>
            </a:avLst>
          </a:prstGeom>
          <a:solidFill>
            <a:srgbClr val="2563EB">
              <a:alpha val="5000"/>
            </a:srgbClr>
          </a:solidFill>
          <a:ln w="12700" cmpd="sng" cap="flat">
            <a:solidFill>
              <a:srgbClr val="2563EB">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397000"/>
            <a:ext cx="5524500" cy="76200"/>
          </a:xfrm>
          <a:prstGeom prst="roundRect">
            <a:avLst>
              <a:gd name="adj" fmla="val 0"/>
            </a:avLst>
          </a:prstGeom>
          <a:solidFill>
            <a:srgbClr val="2563E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714500"/>
            <a:ext cx="406400" cy="406400"/>
          </a:xfrm>
          <a:prstGeom prst="rect">
            <a:avLst/>
          </a:prstGeom>
        </p:spPr>
      </p:pic>
      <p:sp>
        <p:nvSpPr>
          <p:cNvPr name="AutoShape 7" id="7"/>
          <p:cNvSpPr/>
          <p:nvPr/>
        </p:nvSpPr>
        <p:spPr>
          <a:xfrm rot="0" flipH="false" flipV="false">
            <a:off x="1270000" y="1676400"/>
            <a:ext cx="450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2563EB"/>
                </a:solidFill>
                <a:latin typeface="Noto Sans SC"/>
                <a:ea typeface="Noto Sans SC"/>
                <a:cs typeface="Noto Sans SC"/>
                <a:sym typeface="Noto Sans SC"/>
              </a:rPr>
              <a:t>美乐家佣金：核心持续收入</a:t>
            </a:r>
            <a:endParaRPr lang="en-US" sz="1100"/>
          </a:p>
        </p:txBody>
      </p:sp>
      <p:cxnSp>
        <p:nvCxnSpPr>
          <p:cNvPr name="Connector 8" id="8"/>
          <p:cNvCxnSpPr/>
          <p:nvPr/>
        </p:nvCxnSpPr>
        <p:spPr>
          <a:xfrm rot="-8703" flipH="false" flipV="false">
            <a:off x="762008" y="2343150"/>
            <a:ext cx="5016500" cy="12700"/>
          </a:xfrm>
          <a:prstGeom prst="straightConnector1">
            <a:avLst/>
          </a:prstGeom>
          <a:solidFill>
            <a:srgbClr val="DEE0E3">
              <a:alpha val="100000"/>
            </a:srgbClr>
          </a:solidFill>
          <a:ln w="12700" cmpd="sng" cap="flat">
            <a:solidFill>
              <a:srgbClr val="2563EB">
                <a:alpha val="15000"/>
              </a:srgbClr>
            </a:solidFill>
            <a:prstDash val="dash"/>
            <a:round/>
            <a:headEnd type="none" w="med" len="med"/>
            <a:tailEnd type="none" w="med" len="med"/>
          </a:ln>
        </p:spPr>
      </p:cxnSp>
      <p:sp>
        <p:nvSpPr>
          <p:cNvPr name="AutoShape 9" id="9"/>
          <p:cNvSpPr/>
          <p:nvPr/>
        </p:nvSpPr>
        <p:spPr>
          <a:xfrm rot="0" flipH="false" flipV="false">
            <a:off x="762000" y="25400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46阶晋阶体系驱动倍增收益</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构建 D→SD→ED→ND→CD→PD 的深度组织架构，通过管道式收入模型实现市场份额的持续裂变与价值累积。</a:t>
            </a:r>
          </a:p>
        </p:txBody>
      </p:sp>
      <p:cxnSp>
        <p:nvCxnSpPr>
          <p:cNvPr name="Connector 10" id="10"/>
          <p:cNvCxnSpPr/>
          <p:nvPr/>
        </p:nvCxnSpPr>
        <p:spPr>
          <a:xfrm rot="-8703" flipH="false" flipV="false">
            <a:off x="762008" y="3549650"/>
            <a:ext cx="5016500" cy="12700"/>
          </a:xfrm>
          <a:prstGeom prst="straightConnector1">
            <a:avLst/>
          </a:prstGeom>
          <a:solidFill>
            <a:srgbClr val="DEE0E3">
              <a:alpha val="100000"/>
            </a:srgbClr>
          </a:solidFill>
          <a:ln w="12700" cmpd="sng" cap="flat">
            <a:solidFill>
              <a:srgbClr val="2563EB">
                <a:alpha val="10000"/>
              </a:srgbClr>
            </a:solidFill>
            <a:prstDash val="solid"/>
            <a:round/>
            <a:headEnd type="none" w="med" len="med"/>
            <a:tailEnd type="none" w="med" len="med"/>
          </a:ln>
        </p:spPr>
      </p:cxnSp>
      <p:sp>
        <p:nvSpPr>
          <p:cNvPr name="AutoShape 11" id="11"/>
          <p:cNvSpPr/>
          <p:nvPr/>
        </p:nvSpPr>
        <p:spPr>
          <a:xfrm rot="0" flipH="false" flipV="false">
            <a:off x="762000" y="3810000"/>
            <a:ext cx="2413000" cy="1778000"/>
          </a:xfrm>
          <a:prstGeom prst="roundRect">
            <a:avLst>
              <a:gd name="adj" fmla="val 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89000" y="3937000"/>
            <a:ext cx="2159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563EB"/>
                </a:solidFill>
                <a:latin typeface="Noto Sans SC"/>
                <a:ea typeface="Noto Sans SC"/>
                <a:cs typeface="Noto Sans SC"/>
                <a:sym typeface="Noto Sans SC"/>
              </a:rPr>
              <a:t>01. 基础收入底盘</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374151"/>
                </a:solidFill>
                <a:latin typeface="Noto Sans SC"/>
                <a:ea typeface="Noto Sans SC"/>
                <a:cs typeface="Noto Sans SC"/>
                <a:sym typeface="Noto Sans SC"/>
              </a:rPr>
              <a:t>由直接顾客的消费回馈与间接顾客矩阵的组织收入构成，是收入结构中最稳定、最底层的基石部分。</a:t>
            </a:r>
          </a:p>
        </p:txBody>
      </p:sp>
      <p:sp>
        <p:nvSpPr>
          <p:cNvPr name="AutoShape 13" id="13"/>
          <p:cNvSpPr/>
          <p:nvPr/>
        </p:nvSpPr>
        <p:spPr>
          <a:xfrm rot="0" flipH="false" flipV="false">
            <a:off x="3365500" y="3810000"/>
            <a:ext cx="2413000" cy="1778000"/>
          </a:xfrm>
          <a:prstGeom prst="roundRect">
            <a:avLst>
              <a:gd name="adj" fmla="val 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3492500" y="3937000"/>
            <a:ext cx="2159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563EB"/>
                </a:solidFill>
                <a:latin typeface="Noto Sans SC"/>
                <a:ea typeface="Noto Sans SC"/>
                <a:cs typeface="Noto Sans SC"/>
                <a:sym typeface="Noto Sans SC"/>
              </a:rPr>
              <a:t>02. 多维奖励叠加</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200">
                <a:solidFill>
                  <a:srgbClr val="374151"/>
                </a:solidFill>
                <a:latin typeface="Noto Sans SC"/>
                <a:ea typeface="Noto Sans SC"/>
                <a:cs typeface="Noto Sans SC"/>
                <a:sym typeface="Noto Sans SC"/>
              </a:rPr>
              <a:t>包含晋阶奖、快速晋阶奖、培育奖、PEG奖励及年终分红等8项额外收益，为高阶发展提供丰厚的激励回报。</a:t>
            </a:r>
          </a:p>
        </p:txBody>
      </p:sp>
      <p:sp>
        <p:nvSpPr>
          <p:cNvPr name="AutoShape 15" id="15"/>
          <p:cNvSpPr/>
          <p:nvPr/>
        </p:nvSpPr>
        <p:spPr>
          <a:xfrm rot="0" flipH="false" flipV="false">
            <a:off x="6159500" y="1397000"/>
            <a:ext cx="5524500" cy="4572000"/>
          </a:xfrm>
          <a:prstGeom prst="roundRect">
            <a:avLst>
              <a:gd name="adj" fmla="val 0"/>
            </a:avLst>
          </a:prstGeom>
          <a:solidFill>
            <a:srgbClr val="10B981">
              <a:alpha val="5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159500" y="1397000"/>
            <a:ext cx="55245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413500" y="1714500"/>
            <a:ext cx="406400" cy="406400"/>
          </a:xfrm>
          <a:prstGeom prst="rect">
            <a:avLst/>
          </a:prstGeom>
        </p:spPr>
      </p:pic>
      <p:sp>
        <p:nvSpPr>
          <p:cNvPr name="AutoShape 18" id="18"/>
          <p:cNvSpPr/>
          <p:nvPr/>
        </p:nvSpPr>
        <p:spPr>
          <a:xfrm rot="0" flipH="false" flipV="false">
            <a:off x="6921500" y="1676400"/>
            <a:ext cx="450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0B981"/>
                </a:solidFill>
                <a:latin typeface="Noto Sans SC"/>
                <a:ea typeface="Noto Sans SC"/>
                <a:cs typeface="Noto Sans SC"/>
                <a:sym typeface="Noto Sans SC"/>
              </a:rPr>
              <a:t>付费社群收入：系统运营循环金</a:t>
            </a:r>
            <a:endParaRPr lang="en-US" sz="1100"/>
          </a:p>
        </p:txBody>
      </p:sp>
      <p:cxnSp>
        <p:nvCxnSpPr>
          <p:cNvPr name="Connector 19" id="19"/>
          <p:cNvCxnSpPr/>
          <p:nvPr/>
        </p:nvCxnSpPr>
        <p:spPr>
          <a:xfrm rot="-8703" flipH="false" flipV="false">
            <a:off x="6413508" y="2343150"/>
            <a:ext cx="5016500" cy="12700"/>
          </a:xfrm>
          <a:prstGeom prst="straightConnector1">
            <a:avLst/>
          </a:prstGeom>
          <a:solidFill>
            <a:srgbClr val="DEE0E3">
              <a:alpha val="100000"/>
            </a:srgbClr>
          </a:solidFill>
          <a:ln w="12700" cmpd="sng" cap="flat">
            <a:solidFill>
              <a:srgbClr val="10B981">
                <a:alpha val="15000"/>
              </a:srgbClr>
            </a:solidFill>
            <a:prstDash val="dash"/>
            <a:round/>
            <a:headEnd type="none" w="med" len="med"/>
            <a:tailEnd type="none" w="med" len="med"/>
          </a:ln>
        </p:spPr>
      </p:cxnSp>
      <p:sp>
        <p:nvSpPr>
          <p:cNvPr name="AutoShape 20" id="20"/>
          <p:cNvSpPr/>
          <p:nvPr/>
        </p:nvSpPr>
        <p:spPr>
          <a:xfrm rot="0" flipH="false" flipV="false">
            <a:off x="6413500" y="2540000"/>
            <a:ext cx="5016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1F2937"/>
                </a:solidFill>
                <a:latin typeface="Noto Sans SC"/>
                <a:ea typeface="Noto Sans SC"/>
                <a:cs typeface="Noto Sans SC"/>
                <a:sym typeface="Noto Sans SC"/>
              </a:rPr>
              <a:t>核心原则：投入即循环，账面无盈利</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建立独立核算体系，承诺将所有社群收入100%定向回流至运营系统，不追求短期商业变现，确保每一分钱都服务于系统建设。</a:t>
            </a:r>
          </a:p>
        </p:txBody>
      </p:sp>
      <p:cxnSp>
        <p:nvCxnSpPr>
          <p:cNvPr name="Connector 21" id="21"/>
          <p:cNvCxnSpPr/>
          <p:nvPr/>
        </p:nvCxnSpPr>
        <p:spPr>
          <a:xfrm rot="-8703" flipH="false" flipV="false">
            <a:off x="6413508" y="3676650"/>
            <a:ext cx="5016500" cy="12700"/>
          </a:xfrm>
          <a:prstGeom prst="straightConnector1">
            <a:avLst/>
          </a:prstGeom>
          <a:solidFill>
            <a:srgbClr val="DEE0E3">
              <a:alpha val="100000"/>
            </a:srgbClr>
          </a:solidFill>
          <a:ln w="12700" cmpd="sng" cap="flat">
            <a:solidFill>
              <a:srgbClr val="10B981">
                <a:alpha val="10000"/>
              </a:srgbClr>
            </a:solidFill>
            <a:prstDash val="solid"/>
            <a:round/>
            <a:headEnd type="none" w="med" len="med"/>
            <a:tailEnd type="none" w="med" len="med"/>
          </a:ln>
        </p:spPr>
      </p:cxnSp>
      <p:sp>
        <p:nvSpPr>
          <p:cNvPr name="AutoShape 22" id="22"/>
          <p:cNvSpPr/>
          <p:nvPr/>
        </p:nvSpPr>
        <p:spPr>
          <a:xfrm rot="0" flipH="false" flipV="false">
            <a:off x="6413500" y="3937000"/>
            <a:ext cx="1587500" cy="16510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4064000"/>
            <a:ext cx="304800" cy="304800"/>
          </a:xfrm>
          <a:prstGeom prst="rect">
            <a:avLst/>
          </a:prstGeom>
        </p:spPr>
      </p:pic>
      <p:sp>
        <p:nvSpPr>
          <p:cNvPr name="AutoShape 24" id="24"/>
          <p:cNvSpPr/>
          <p:nvPr/>
        </p:nvSpPr>
        <p:spPr>
          <a:xfrm rot="0" flipH="false" flipV="false">
            <a:off x="6540500" y="4508500"/>
            <a:ext cx="133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65F46"/>
                </a:solidFill>
                <a:latin typeface="Noto Sans SC"/>
                <a:ea typeface="Noto Sans SC"/>
                <a:cs typeface="Noto Sans SC"/>
                <a:sym typeface="Noto Sans SC"/>
              </a:rPr>
              <a:t>自媒体运营</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374151"/>
                </a:solidFill>
                <a:latin typeface="Noto Sans SC"/>
                <a:ea typeface="Noto Sans SC"/>
                <a:cs typeface="Noto Sans SC"/>
                <a:sym typeface="Noto Sans SC"/>
              </a:rPr>
              <a:t>用于内容创作、平台推广及流量获取，沉淀优质用户资产。</a:t>
            </a:r>
          </a:p>
        </p:txBody>
      </p:sp>
      <p:sp>
        <p:nvSpPr>
          <p:cNvPr name="AutoShape 25" id="25"/>
          <p:cNvSpPr/>
          <p:nvPr/>
        </p:nvSpPr>
        <p:spPr>
          <a:xfrm rot="0" flipH="false" flipV="false">
            <a:off x="8128000" y="3937000"/>
            <a:ext cx="1587500" cy="16510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8255000" y="4064000"/>
            <a:ext cx="304800" cy="304800"/>
          </a:xfrm>
          <a:prstGeom prst="rect">
            <a:avLst/>
          </a:prstGeom>
        </p:spPr>
      </p:pic>
      <p:sp>
        <p:nvSpPr>
          <p:cNvPr name="AutoShape 27" id="27"/>
          <p:cNvSpPr/>
          <p:nvPr/>
        </p:nvSpPr>
        <p:spPr>
          <a:xfrm rot="0" flipH="false" flipV="false">
            <a:off x="8255000" y="4508500"/>
            <a:ext cx="133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65F46"/>
                </a:solidFill>
                <a:latin typeface="Noto Sans SC"/>
                <a:ea typeface="Noto Sans SC"/>
                <a:cs typeface="Noto Sans SC"/>
                <a:sym typeface="Noto Sans SC"/>
              </a:rPr>
              <a:t>社群精细化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374151"/>
                </a:solidFill>
                <a:latin typeface="Noto Sans SC"/>
                <a:ea typeface="Noto Sans SC"/>
                <a:cs typeface="Noto Sans SC"/>
                <a:sym typeface="Noto Sans SC"/>
              </a:rPr>
              <a:t>覆盖社群维护、活动策划与用户服务，提升用户粘性与活跃度。</a:t>
            </a:r>
          </a:p>
        </p:txBody>
      </p:sp>
      <p:sp>
        <p:nvSpPr>
          <p:cNvPr name="AutoShape 28" id="28"/>
          <p:cNvSpPr/>
          <p:nvPr/>
        </p:nvSpPr>
        <p:spPr>
          <a:xfrm rot="0" flipH="false" flipV="false">
            <a:off x="9779000" y="3937000"/>
            <a:ext cx="1587500" cy="1651000"/>
          </a:xfrm>
          <a:prstGeom prst="roundRect">
            <a:avLst>
              <a:gd name="adj" fmla="val 0"/>
            </a:avLst>
          </a:prstGeom>
          <a:solidFill>
            <a:srgbClr val="10B981">
              <a:alpha val="8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906000" y="4064000"/>
            <a:ext cx="304800" cy="304800"/>
          </a:xfrm>
          <a:prstGeom prst="rect">
            <a:avLst/>
          </a:prstGeom>
        </p:spPr>
      </p:pic>
      <p:sp>
        <p:nvSpPr>
          <p:cNvPr name="AutoShape 30" id="30"/>
          <p:cNvSpPr/>
          <p:nvPr/>
        </p:nvSpPr>
        <p:spPr>
          <a:xfrm rot="0" flipH="false" flipV="false">
            <a:off x="9906000" y="4508500"/>
            <a:ext cx="133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65F46"/>
                </a:solidFill>
                <a:latin typeface="Noto Sans SC"/>
                <a:ea typeface="Noto Sans SC"/>
                <a:cs typeface="Noto Sans SC"/>
                <a:sym typeface="Noto Sans SC"/>
              </a:rPr>
              <a:t>线下体验馆</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374151"/>
                </a:solidFill>
                <a:latin typeface="Noto Sans SC"/>
                <a:ea typeface="Noto Sans SC"/>
                <a:cs typeface="Noto Sans SC"/>
                <a:sym typeface="Noto Sans SC"/>
              </a:rPr>
              <a:t>支持线下沙龙、产品体验及聚会场地，构建真实的连接场景。</a:t>
            </a:r>
          </a:p>
        </p:txBody>
      </p:sp>
      <p:sp>
        <p:nvSpPr>
          <p:cNvPr name="AutoShape 31" id="31"/>
          <p:cNvSpPr/>
          <p:nvPr/>
        </p:nvSpPr>
        <p:spPr>
          <a:xfrm rot="0" flipH="false" flipV="false">
            <a:off x="508000" y="6223000"/>
            <a:ext cx="11176000" cy="457200"/>
          </a:xfrm>
          <a:prstGeom prst="roundRect">
            <a:avLst>
              <a:gd name="adj" fmla="val 0"/>
            </a:avLst>
          </a:prstGeom>
          <a:solidFill>
            <a:srgbClr val="1F2937">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635000" y="6299200"/>
            <a:ext cx="1092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双收入模式构建稳健闭环：美乐家佣金提供个人与团队的长期财务保障，付费社群收入保障系统运营的独立性与可持续性。</a:t>
            </a:r>
            <a:endParaRPr lang="en-US" sz="1100"/>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9525000" y="-1270000"/>
            <a:ext cx="3810000" cy="3810000"/>
          </a:xfrm>
          <a:prstGeom prst="ellipse">
            <a:avLst/>
          </a:prstGeom>
          <a:solidFill>
            <a:srgbClr val="1E40A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635000" y="5080000"/>
            <a:ext cx="2540000" cy="2540000"/>
          </a:xfrm>
          <a:prstGeom prst="ellipse">
            <a:avLst/>
          </a:prstGeom>
          <a:solidFill>
            <a:srgbClr val="1E40AF">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508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E40AF"/>
                </a:solidFill>
                <a:latin typeface="Noto Sans SC"/>
                <a:ea typeface="Noto Sans SC"/>
                <a:cs typeface="Noto Sans SC"/>
                <a:sym typeface="Noto Sans SC"/>
              </a:rPr>
              <a:t>六大阶衔核心门槛</a:t>
            </a:r>
            <a:endParaRPr lang="en-US" sz="1100"/>
          </a:p>
        </p:txBody>
      </p:sp>
      <p:sp>
        <p:nvSpPr>
          <p:cNvPr name="AutoShape 5" id="5"/>
          <p:cNvSpPr/>
          <p:nvPr/>
        </p:nvSpPr>
        <p:spPr>
          <a:xfrm rot="0" flipH="false" flipV="false">
            <a:off x="508000" y="1206500"/>
            <a:ext cx="1016000" cy="50800"/>
          </a:xfrm>
          <a:prstGeom prst="roundRect">
            <a:avLst>
              <a:gd name="adj" fmla="val 0"/>
            </a:avLst>
          </a:prstGeom>
          <a:solidFill>
            <a:srgbClr val="1E40AF">
              <a:alpha val="100000"/>
            </a:srgbClr>
          </a:solidFill>
          <a:ln w="25400" cmpd="sng" cap="flat">
            <a:noFill/>
            <a:prstDash val="solid"/>
            <a:round/>
          </a:ln>
        </p:spPr>
        <p:txBody>
          <a:bodyPr anchor="ctr" rtlCol="false" vert="horz" wrap="square" lIns="63500" rIns="63500" tIns="63500" bIns="63500"/>
          <a:lstStyle/>
          <a:p>
            <a:pPr algn="ctr">
              <a:defRPr/>
            </a:pPr>
            <a:endParaRPr/>
          </a:p>
        </p:txBody>
      </p:sp>
      <p:graphicFrame>
        <p:nvGraphicFramePr>
          <p:cNvPr name="Table 6" id="6"/>
          <p:cNvGraphicFramePr>
            <a:graphicFrameLocks noGrp="true"/>
          </p:cNvGraphicFramePr>
          <p:nvPr/>
        </p:nvGraphicFramePr>
        <p:xfrm>
          <a:off x="508000" y="1778000"/>
          <a:ext cx="10668000" cy="4064000"/>
        </p:xfrm>
        <a:graphic>
          <a:graphicData uri="http://schemas.openxmlformats.org/drawingml/2006/table">
            <a:tbl>
              <a:tblPr>
                <a:effectLst/>
              </a:tblPr>
              <a:tblGrid>
                <a:gridCol w="1778000"/>
                <a:gridCol w="1727200"/>
                <a:gridCol w="1727200"/>
                <a:gridCol w="1727200"/>
                <a:gridCol w="1727200"/>
                <a:gridCol w="1981200"/>
              </a:tblGrid>
              <a:tr h="635000">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阶衔等级</a:t>
                      </a:r>
                      <a:endParaRPr lang="en-US" sz="1100"/>
                    </a:p>
                  </a:txBody>
                  <a:tcPr anchor="ctr" anchorCtr="false" marL="101600" marR="101600" marT="101600" marB="101600">
                    <a:lnL>
                      <a:noFill/>
                    </a:lnL>
                    <a:lnR>
                      <a:noFill/>
                    </a:lnR>
                    <a:lnT>
                      <a:noFill/>
                    </a:lnT>
                    <a:lnB>
                      <a:noFill/>
                    </a:lnB>
                    <a:solidFill>
                      <a:srgbClr val="1E40AF">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亲推 B</a:t>
                      </a:r>
                      <a:endParaRPr lang="en-US" sz="1100"/>
                    </a:p>
                  </a:txBody>
                  <a:tcPr anchor="ctr" anchorCtr="false" marL="101600" marR="101600" marT="101600" marB="101600">
                    <a:lnL>
                      <a:noFill/>
                    </a:lnL>
                    <a:lnR>
                      <a:noFill/>
                    </a:lnR>
                    <a:lnT>
                      <a:noFill/>
                    </a:lnT>
                    <a:lnB>
                      <a:noFill/>
                    </a:lnB>
                    <a:solidFill>
                      <a:srgbClr val="1E40AF">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亲推 D</a:t>
                      </a:r>
                      <a:endParaRPr lang="en-US" sz="1100"/>
                    </a:p>
                  </a:txBody>
                  <a:tcPr anchor="ctr" anchorCtr="false" marL="101600" marR="101600" marT="101600" marB="101600">
                    <a:lnL>
                      <a:noFill/>
                    </a:lnL>
                    <a:lnR>
                      <a:noFill/>
                    </a:lnR>
                    <a:lnT>
                      <a:noFill/>
                    </a:lnT>
                    <a:lnB>
                      <a:noFill/>
                    </a:lnB>
                    <a:solidFill>
                      <a:srgbClr val="1E40AF">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亲推 SD</a:t>
                      </a:r>
                      <a:endParaRPr lang="en-US" sz="1100"/>
                    </a:p>
                  </a:txBody>
                  <a:tcPr anchor="ctr" anchorCtr="false" marL="101600" marR="101600" marT="101600" marB="101600">
                    <a:lnL>
                      <a:noFill/>
                    </a:lnL>
                    <a:lnR>
                      <a:noFill/>
                    </a:lnR>
                    <a:lnT>
                      <a:noFill/>
                    </a:lnT>
                    <a:lnB>
                      <a:noFill/>
                    </a:lnB>
                    <a:solidFill>
                      <a:srgbClr val="1E40AF">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亲推 ED</a:t>
                      </a:r>
                      <a:endParaRPr lang="en-US" sz="1100"/>
                    </a:p>
                  </a:txBody>
                  <a:tcPr anchor="ctr" anchorCtr="false" marL="101600" marR="101600" marT="101600" marB="101600">
                    <a:lnL>
                      <a:noFill/>
                    </a:lnL>
                    <a:lnR>
                      <a:noFill/>
                    </a:lnR>
                    <a:lnT>
                      <a:noFill/>
                    </a:lnT>
                    <a:lnB>
                      <a:noFill/>
                    </a:lnB>
                    <a:solidFill>
                      <a:srgbClr val="1E40AF">
                        <a:alpha val="100000"/>
                      </a:srgbClr>
                    </a:solidFill>
                  </a:tcPr>
                </a:tc>
                <a:tc>
                  <a:txBody>
                    <a:bodyPr anchor="t" rtlCol="false"/>
                    <a:lstStyle/>
                    <a:p>
                      <a:pPr algn="ctr" marL="0" indent="0">
                        <a:lnSpc>
                          <a:spcPct val="100000"/>
                        </a:lnSpc>
                        <a:defRPr/>
                      </a:pPr>
                      <a:r>
                        <a:rPr lang="en-US" b="true" i="false" strike="noStrike" u="none" sz="1500">
                          <a:solidFill>
                            <a:srgbClr val="FFFFFF"/>
                          </a:solidFill>
                          <a:latin typeface="Noto Sans SC"/>
                          <a:ea typeface="Noto Sans SC"/>
                          <a:cs typeface="Noto Sans SC"/>
                          <a:sym typeface="Noto Sans SC"/>
                        </a:rPr>
                        <a:t>市场消费额 (万/月)</a:t>
                      </a:r>
                      <a:endParaRPr lang="en-US" sz="1100"/>
                    </a:p>
                  </a:txBody>
                  <a:tcPr anchor="ctr" anchorCtr="false" marL="101600" marR="101600" marT="101600" marB="101600">
                    <a:lnL>
                      <a:noFill/>
                    </a:lnL>
                    <a:lnR>
                      <a:noFill/>
                    </a:lnR>
                    <a:lnT>
                      <a:noFill/>
                    </a:lnT>
                    <a:lnB>
                      <a:noFill/>
                    </a:lnB>
                    <a:solidFill>
                      <a:srgbClr val="1E40AF">
                        <a:alpha val="100000"/>
                      </a:srgbClr>
                    </a:solidFill>
                  </a:tcPr>
                </a:tc>
              </a:tr>
              <a:tr h="571500">
                <a:tc>
                  <a:txBody>
                    <a:bodyPr anchor="t" rtlCol="false"/>
                    <a:lstStyle/>
                    <a:p>
                      <a:pPr algn="ctr" marL="0" indent="0">
                        <a:lnSpc>
                          <a:spcPct val="100000"/>
                        </a:lnSpc>
                        <a:defRPr/>
                      </a:pPr>
                      <a:r>
                        <a:rPr lang="en-US" b="true" i="false" strike="noStrike" u="none" sz="1400">
                          <a:solidFill>
                            <a:srgbClr val="1F2937"/>
                          </a:solidFill>
                          <a:latin typeface="Noto Sans SC"/>
                          <a:ea typeface="Noto Sans SC"/>
                          <a:cs typeface="Noto Sans SC"/>
                          <a:sym typeface="Noto Sans SC"/>
                        </a:rPr>
                        <a:t>D 经销商</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8 位</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 位</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a:noFill/>
                    </a:lnT>
                    <a:lnB cmpd="sng" algn="ctr" cap="flat" w="12700">
                      <a:solidFill>
                        <a:srgbClr val="1E40AF"/>
                      </a:solidFill>
                      <a:prstDash val="solid"/>
                      <a:round/>
                      <a:headEnd type="none" w="med" len="med"/>
                      <a:tailEnd type="none" w="med" len="med"/>
                    </a:lnB>
                    <a:solidFill>
                      <a:srgbClr val="DBEAFE">
                        <a:alpha val="50000"/>
                      </a:srgbClr>
                    </a:solidFill>
                  </a:tcPr>
                </a:tc>
              </a:tr>
              <a:tr h="571500">
                <a:tc>
                  <a:txBody>
                    <a:bodyPr anchor="t" rtlCol="false"/>
                    <a:lstStyle/>
                    <a:p>
                      <a:pPr algn="ctr" marL="0" indent="0">
                        <a:lnSpc>
                          <a:spcPct val="100000"/>
                        </a:lnSpc>
                        <a:defRPr/>
                      </a:pPr>
                      <a:r>
                        <a:rPr lang="en-US" b="true" i="false" strike="noStrike" u="none" sz="1400">
                          <a:solidFill>
                            <a:srgbClr val="1F2937"/>
                          </a:solidFill>
                          <a:latin typeface="Noto Sans SC"/>
                          <a:ea typeface="Noto Sans SC"/>
                          <a:cs typeface="Noto Sans SC"/>
                          <a:sym typeface="Noto Sans SC"/>
                        </a:rPr>
                        <a:t>SD 高级经销商</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20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5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18 万</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r>
              <a:tr h="571500">
                <a:tc>
                  <a:txBody>
                    <a:bodyPr anchor="t" rtlCol="false"/>
                    <a:lstStyle/>
                    <a:p>
                      <a:pPr algn="ctr" marL="0" indent="0">
                        <a:lnSpc>
                          <a:spcPct val="100000"/>
                        </a:lnSpc>
                        <a:defRPr/>
                      </a:pPr>
                      <a:r>
                        <a:rPr lang="en-US" b="true" i="false" strike="noStrike" u="none" sz="1400">
                          <a:solidFill>
                            <a:srgbClr val="1F2937"/>
                          </a:solidFill>
                          <a:latin typeface="Noto Sans SC"/>
                          <a:ea typeface="Noto Sans SC"/>
                          <a:cs typeface="Noto Sans SC"/>
                          <a:sym typeface="Noto Sans SC"/>
                        </a:rPr>
                        <a:t>ED 执行经销商</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20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45 万</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r>
              <a:tr h="571500">
                <a:tc>
                  <a:txBody>
                    <a:bodyPr anchor="t" rtlCol="false"/>
                    <a:lstStyle/>
                    <a:p>
                      <a:pPr algn="ctr" marL="0" indent="0">
                        <a:lnSpc>
                          <a:spcPct val="100000"/>
                        </a:lnSpc>
                        <a:defRPr/>
                      </a:pPr>
                      <a:r>
                        <a:rPr lang="en-US" b="true" i="false" strike="noStrike" u="none" sz="1400">
                          <a:solidFill>
                            <a:srgbClr val="1E40AF"/>
                          </a:solidFill>
                          <a:latin typeface="Noto Sans SC"/>
                          <a:ea typeface="Noto Sans SC"/>
                          <a:cs typeface="Noto Sans SC"/>
                          <a:sym typeface="Noto Sans SC"/>
                        </a:rPr>
                        <a:t>ND 全国总监</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20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4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126 万</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FFFFFF">
                        <a:alpha val="100000"/>
                      </a:srgbClr>
                    </a:solidFill>
                  </a:tcPr>
                </a:tc>
              </a:tr>
              <a:tr h="571500">
                <a:tc>
                  <a:txBody>
                    <a:bodyPr anchor="t" rtlCol="false"/>
                    <a:lstStyle/>
                    <a:p>
                      <a:pPr algn="ctr" marL="0" indent="0">
                        <a:lnSpc>
                          <a:spcPct val="100000"/>
                        </a:lnSpc>
                        <a:defRPr/>
                      </a:pPr>
                      <a:r>
                        <a:rPr lang="en-US" b="true" i="false" strike="noStrike" u="none" sz="1400">
                          <a:solidFill>
                            <a:srgbClr val="1E40AF"/>
                          </a:solidFill>
                          <a:latin typeface="Noto Sans SC"/>
                          <a:ea typeface="Noto Sans SC"/>
                          <a:cs typeface="Noto Sans SC"/>
                          <a:sym typeface="Noto Sans SC"/>
                        </a:rPr>
                        <a:t>CD 首席总监</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20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10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5 位</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225 万</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cmpd="sng" algn="ctr" cap="flat" w="12700">
                      <a:solidFill>
                        <a:srgbClr val="1E40AF"/>
                      </a:solidFill>
                      <a:prstDash val="solid"/>
                      <a:round/>
                      <a:headEnd type="none" w="med" len="med"/>
                      <a:tailEnd type="none" w="med" len="med"/>
                    </a:lnB>
                    <a:solidFill>
                      <a:srgbClr val="DBEAFE">
                        <a:alpha val="50000"/>
                      </a:srgbClr>
                    </a:solidFill>
                  </a:tcPr>
                </a:tc>
              </a:tr>
              <a:tr h="571500">
                <a:tc>
                  <a:txBody>
                    <a:bodyPr anchor="t" rtlCol="false"/>
                    <a:lstStyle/>
                    <a:p>
                      <a:pPr algn="ctr" marL="0" indent="0">
                        <a:lnSpc>
                          <a:spcPct val="100000"/>
                        </a:lnSpc>
                        <a:defRPr/>
                      </a:pPr>
                      <a:r>
                        <a:rPr lang="en-US" b="true" i="false" strike="noStrike" u="none" sz="1400">
                          <a:solidFill>
                            <a:srgbClr val="1E40AF"/>
                          </a:solidFill>
                          <a:latin typeface="Noto Sans SC"/>
                          <a:ea typeface="Noto Sans SC"/>
                          <a:cs typeface="Noto Sans SC"/>
                          <a:sym typeface="Noto Sans SC"/>
                        </a:rPr>
                        <a:t>PD 资深总监</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c>
                  <a:txBody>
                    <a:bodyPr anchor="t" rtlCol="false"/>
                    <a:lstStyle/>
                    <a:p>
                      <a:pPr algn="ctr" marL="0" indent="0">
                        <a:lnSpc>
                          <a:spcPct val="100000"/>
                        </a:lnSpc>
                        <a:defRPr/>
                      </a:pPr>
                      <a:r>
                        <a:rPr lang="en-US" b="false" i="false" strike="noStrike" u="none" sz="1400">
                          <a:solidFill>
                            <a:srgbClr val="374151"/>
                          </a:solidFill>
                          <a:latin typeface="Noto Sans SC"/>
                          <a:ea typeface="Noto Sans SC"/>
                          <a:cs typeface="Noto Sans SC"/>
                          <a:sym typeface="Noto Sans SC"/>
                        </a:rPr>
                        <a:t>系数 35 分</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c>
                  <a:txBody>
                    <a:bodyPr anchor="t" rtlCol="false"/>
                    <a:lstStyle/>
                    <a:p>
                      <a:pPr algn="ctr" marL="0" indent="0">
                        <a:lnSpc>
                          <a:spcPct val="100000"/>
                        </a:lnSpc>
                        <a:defRPr/>
                      </a:pPr>
                      <a:r>
                        <a:rPr lang="en-US" b="false" i="false" strike="noStrike" u="none" sz="1400">
                          <a:solidFill>
                            <a:srgbClr val="9CA3AF"/>
                          </a:solidFill>
                          <a:latin typeface="Noto Sans SC"/>
                          <a:ea typeface="Noto Sans SC"/>
                          <a:cs typeface="Noto Sans SC"/>
                          <a:sym typeface="Noto Sans SC"/>
                        </a:rPr>
                        <a:t>—</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c>
                  <a:txBody>
                    <a:bodyPr anchor="t" rtlCol="false"/>
                    <a:lstStyle/>
                    <a:p>
                      <a:pPr algn="ctr" marL="0" indent="0">
                        <a:lnSpc>
                          <a:spcPct val="100000"/>
                        </a:lnSpc>
                        <a:defRPr/>
                      </a:pPr>
                      <a:r>
                        <a:rPr lang="en-US" b="true" i="false" strike="noStrike" u="none" sz="1400">
                          <a:solidFill>
                            <a:srgbClr val="DC2626"/>
                          </a:solidFill>
                          <a:latin typeface="Noto Sans SC"/>
                          <a:ea typeface="Noto Sans SC"/>
                          <a:cs typeface="Noto Sans SC"/>
                          <a:sym typeface="Noto Sans SC"/>
                        </a:rPr>
                        <a:t>960 万</a:t>
                      </a:r>
                      <a:endParaRPr lang="en-US" sz="1100"/>
                    </a:p>
                  </a:txBody>
                  <a:tcPr anchor="ctr" anchorCtr="false" marL="101600" marR="101600" marT="101600" marB="101600">
                    <a:lnL>
                      <a:noFill/>
                    </a:lnL>
                    <a:lnR>
                      <a:noFill/>
                    </a:lnR>
                    <a:lnT cmpd="sng" algn="ctr" cap="flat" w="12700">
                      <a:solidFill>
                        <a:srgbClr val="1E40AF"/>
                      </a:solidFill>
                      <a:prstDash val="solid"/>
                      <a:round/>
                      <a:headEnd type="none" w="med" len="med"/>
                      <a:tailEnd type="none" w="med" len="med"/>
                    </a:lnT>
                    <a:lnB>
                      <a:noFill/>
                    </a:lnB>
                    <a:solidFill>
                      <a:srgbClr val="1E40AF">
                        <a:alpha val="10000"/>
                      </a:srgbClr>
                    </a:solidFill>
                  </a:tcPr>
                </a:tc>
              </a:tr>
            </a:tbl>
          </a:graphicData>
        </a:graphic>
      </p:graphicFrame>
      <p:sp>
        <p:nvSpPr>
          <p:cNvPr name="AutoShape 7" id="7"/>
          <p:cNvSpPr/>
          <p:nvPr/>
        </p:nvSpPr>
        <p:spPr>
          <a:xfrm rot="0" flipH="false" flipV="false">
            <a:off x="508000" y="5651500"/>
            <a:ext cx="11176000" cy="762000"/>
          </a:xfrm>
          <a:prstGeom prst="roundRect">
            <a:avLst>
              <a:gd name="adj" fmla="val 0"/>
            </a:avLst>
          </a:prstGeom>
          <a:solidFill>
            <a:srgbClr val="FEF3C7">
              <a:alpha val="100000"/>
            </a:srgbClr>
          </a:solidFill>
          <a:ln w="12700" cmpd="sng" cap="flat">
            <a:solidFill>
              <a:srgbClr val="F59E0B">
                <a:alpha val="5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98500" y="5829300"/>
            <a:ext cx="406400" cy="406400"/>
          </a:xfrm>
          <a:prstGeom prst="rect">
            <a:avLst/>
          </a:prstGeom>
        </p:spPr>
      </p:pic>
      <p:sp>
        <p:nvSpPr>
          <p:cNvPr name="AutoShape 9" id="9"/>
          <p:cNvSpPr/>
          <p:nvPr/>
        </p:nvSpPr>
        <p:spPr>
          <a:xfrm rot="0" flipH="false" flipV="false">
            <a:off x="1270000" y="5778500"/>
            <a:ext cx="9779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B45309"/>
                </a:solidFill>
                <a:latin typeface="Noto Sans SC"/>
                <a:ea typeface="Noto Sans SC"/>
                <a:cs typeface="Noto Sans SC"/>
                <a:sym typeface="Noto Sans SC"/>
              </a:rPr>
              <a:t>晋升福利提示：</a:t>
            </a:r>
            <a:r>
              <a:rPr lang="en-US" b="false" i="false" strike="noStrike" u="none" sz="1600">
                <a:solidFill>
                  <a:srgbClr val="374151"/>
                </a:solidFill>
                <a:latin typeface="Noto Sans SC"/>
                <a:ea typeface="Noto Sans SC"/>
                <a:cs typeface="Noto Sans SC"/>
                <a:sym typeface="Noto Sans SC"/>
              </a:rPr>
              <a:t>PD 阶衔晋升时，除常规收益外，将额外获得</a:t>
            </a:r>
            <a:r>
              <a:rPr lang="en-US" b="true" i="false" strike="noStrike" u="none" sz="1600">
                <a:solidFill>
                  <a:srgbClr val="DC2626"/>
                </a:solidFill>
                <a:latin typeface="Noto Sans SC"/>
                <a:ea typeface="Noto Sans SC"/>
                <a:cs typeface="Noto Sans SC"/>
                <a:sym typeface="Noto Sans SC"/>
              </a:rPr>
              <a:t>晋阶奖 PEG 10% + 650万</a:t>
            </a:r>
            <a:r>
              <a:rPr lang="en-US" b="false" i="false" strike="noStrike" u="none" sz="1600">
                <a:solidFill>
                  <a:srgbClr val="374151"/>
                </a:solidFill>
                <a:latin typeface="Noto Sans SC"/>
                <a:ea typeface="Noto Sans SC"/>
                <a:cs typeface="Noto Sans SC"/>
                <a:sym typeface="Noto Sans SC"/>
              </a:rPr>
              <a:t>的一次性奖励，是体系中最高阶的荣誉与收益回报。</a:t>
            </a:r>
            <a:endParaRPr lang="en-US" sz="1100"/>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8F9FA">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5.2 不做的事情</a:t>
            </a:r>
            <a:endParaRPr lang="en-US" sz="1100"/>
          </a:p>
        </p:txBody>
      </p:sp>
      <p:cxnSp>
        <p:nvCxnSpPr>
          <p:cNvPr name="Connector 3" id="3"/>
          <p:cNvCxnSpPr/>
          <p:nvPr/>
        </p:nvCxnSpPr>
        <p:spPr>
          <a:xfrm rot="-3906" flipH="false" flipV="false">
            <a:off x="508004" y="1390650"/>
            <a:ext cx="11176000" cy="12700"/>
          </a:xfrm>
          <a:prstGeom prst="line">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sp>
        <p:nvSpPr>
          <p:cNvPr name="AutoShape 4" id="4"/>
          <p:cNvSpPr/>
          <p:nvPr/>
        </p:nvSpPr>
        <p:spPr>
          <a:xfrm rot="0" flipH="false" flipV="false">
            <a:off x="508000" y="1905000"/>
            <a:ext cx="3556000" cy="3683000"/>
          </a:xfrm>
          <a:prstGeom prst="roundRect">
            <a:avLst>
              <a:gd name="adj" fmla="val 0"/>
            </a:avLst>
          </a:prstGeom>
          <a:solidFill>
            <a:srgbClr val="FFFFFF">
              <a:alpha val="100000"/>
            </a:srgbClr>
          </a:solidFill>
          <a:ln w="12700" cmpd="sng" cap="flat">
            <a:solidFill>
              <a:srgbClr val="EF4444">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905000"/>
            <a:ext cx="3556000" cy="76200"/>
          </a:xfrm>
          <a:prstGeom prst="roundRect">
            <a:avLst>
              <a:gd name="adj" fmla="val 0"/>
            </a:avLst>
          </a:prstGeom>
          <a:solidFill>
            <a:srgbClr val="EF4444">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2286000"/>
            <a:ext cx="609600" cy="609600"/>
          </a:xfrm>
          <a:prstGeom prst="rect">
            <a:avLst/>
          </a:prstGeom>
        </p:spPr>
      </p:pic>
      <p:sp>
        <p:nvSpPr>
          <p:cNvPr name="AutoShape 7" id="7"/>
          <p:cNvSpPr/>
          <p:nvPr/>
        </p:nvSpPr>
        <p:spPr>
          <a:xfrm rot="0" flipH="false" flipV="false">
            <a:off x="1524000" y="2286000"/>
            <a:ext cx="228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严守边界：不越位</a:t>
            </a:r>
            <a:endParaRPr lang="en-US" sz="1100"/>
          </a:p>
        </p:txBody>
      </p:sp>
      <p:cxnSp>
        <p:nvCxnSpPr>
          <p:cNvPr name="Connector 8" id="8"/>
          <p:cNvCxnSpPr/>
          <p:nvPr/>
        </p:nvCxnSpPr>
        <p:spPr>
          <a:xfrm rot="-14323" flipH="false" flipV="false">
            <a:off x="762013" y="3168650"/>
            <a:ext cx="3048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9" id="9"/>
          <p:cNvSpPr/>
          <p:nvPr/>
        </p:nvSpPr>
        <p:spPr>
          <a:xfrm rot="0" flipH="false" flipV="false">
            <a:off x="762000" y="3429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EF4444"/>
                </a:solidFill>
                <a:latin typeface="Noto Sans SC"/>
                <a:ea typeface="Noto Sans SC"/>
                <a:cs typeface="Noto Sans SC"/>
                <a:sym typeface="Noto Sans SC"/>
              </a:rPr>
              <a:t>不带货、不卖课</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个人行为层面不做强制限制，但团队层面坚决不参与任何带货或售卖课程的商业行为。</a:t>
            </a:r>
          </a:p>
        </p:txBody>
      </p:sp>
      <p:sp>
        <p:nvSpPr>
          <p:cNvPr name="AutoShape 10" id="10"/>
          <p:cNvSpPr/>
          <p:nvPr/>
        </p:nvSpPr>
        <p:spPr>
          <a:xfrm rot="0" flipH="false" flipV="false">
            <a:off x="635000" y="5080000"/>
            <a:ext cx="3302000" cy="762000"/>
          </a:xfrm>
          <a:prstGeom prst="roundRect">
            <a:avLst>
              <a:gd name="adj" fmla="val 0"/>
            </a:avLst>
          </a:prstGeom>
          <a:solidFill>
            <a:srgbClr val="EF4444">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52070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6B7280"/>
                </a:solidFill>
                <a:latin typeface="Noto Sans SC"/>
                <a:ea typeface="Noto Sans SC"/>
                <a:cs typeface="Noto Sans SC"/>
                <a:sym typeface="Noto Sans SC"/>
              </a:rPr>
              <a:t>保持团队的纯粹性，聚焦美乐家主业，不被短期利益分散精力。</a:t>
            </a:r>
            <a:endParaRPr lang="en-US" sz="1100"/>
          </a:p>
        </p:txBody>
      </p:sp>
      <p:sp>
        <p:nvSpPr>
          <p:cNvPr name="AutoShape 12" id="12"/>
          <p:cNvSpPr/>
          <p:nvPr/>
        </p:nvSpPr>
        <p:spPr>
          <a:xfrm rot="0" flipH="false" flipV="false">
            <a:off x="4318000" y="1905000"/>
            <a:ext cx="3556000" cy="3683000"/>
          </a:xfrm>
          <a:prstGeom prst="roundRect">
            <a:avLst>
              <a:gd name="adj" fmla="val 0"/>
            </a:avLst>
          </a:prstGeom>
          <a:solidFill>
            <a:srgbClr val="FFFFFF">
              <a:alpha val="100000"/>
            </a:srgbClr>
          </a:solidFill>
          <a:ln w="12700" cmpd="sng" cap="flat">
            <a:solidFill>
              <a:srgbClr val="F59E0B">
                <a:alpha val="2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18000" y="1905000"/>
            <a:ext cx="3556000" cy="762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572000" y="2286000"/>
            <a:ext cx="609600" cy="609600"/>
          </a:xfrm>
          <a:prstGeom prst="rect">
            <a:avLst/>
          </a:prstGeom>
        </p:spPr>
      </p:pic>
      <p:sp>
        <p:nvSpPr>
          <p:cNvPr name="AutoShape 15" id="15"/>
          <p:cNvSpPr/>
          <p:nvPr/>
        </p:nvSpPr>
        <p:spPr>
          <a:xfrm rot="0" flipH="false" flipV="false">
            <a:off x="5334000" y="2286000"/>
            <a:ext cx="228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善意初心：零门槛</a:t>
            </a:r>
            <a:endParaRPr lang="en-US" sz="1100"/>
          </a:p>
        </p:txBody>
      </p:sp>
      <p:cxnSp>
        <p:nvCxnSpPr>
          <p:cNvPr name="Connector 16" id="16"/>
          <p:cNvCxnSpPr/>
          <p:nvPr/>
        </p:nvCxnSpPr>
        <p:spPr>
          <a:xfrm rot="-14323" flipH="false" flipV="false">
            <a:off x="4572013" y="3168650"/>
            <a:ext cx="3048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17" id="17"/>
          <p:cNvSpPr/>
          <p:nvPr/>
        </p:nvSpPr>
        <p:spPr>
          <a:xfrm rot="0" flipH="false" flipV="false">
            <a:off x="4572000" y="3429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F59E0B"/>
                </a:solidFill>
                <a:latin typeface="Noto Sans SC"/>
                <a:ea typeface="Noto Sans SC"/>
                <a:cs typeface="Noto Sans SC"/>
                <a:sym typeface="Noto Sans SC"/>
              </a:rPr>
              <a:t>新人培训完全免费</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降低新人入门的资金门槛，不把培训作为牟利手段，确保每一位伙伴都能轻松起步。</a:t>
            </a:r>
          </a:p>
        </p:txBody>
      </p:sp>
      <p:sp>
        <p:nvSpPr>
          <p:cNvPr name="AutoShape 18" id="18"/>
          <p:cNvSpPr/>
          <p:nvPr/>
        </p:nvSpPr>
        <p:spPr>
          <a:xfrm rot="0" flipH="false" flipV="false">
            <a:off x="4445000" y="5080000"/>
            <a:ext cx="3302000" cy="762000"/>
          </a:xfrm>
          <a:prstGeom prst="roundRect">
            <a:avLst>
              <a:gd name="adj" fmla="val 0"/>
            </a:avLst>
          </a:prstGeom>
          <a:solidFill>
            <a:srgbClr val="F59E0B">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572000" y="52070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6B7280"/>
                </a:solidFill>
                <a:latin typeface="Noto Sans SC"/>
                <a:ea typeface="Noto Sans SC"/>
                <a:cs typeface="Noto Sans SC"/>
                <a:sym typeface="Noto Sans SC"/>
              </a:rPr>
              <a:t>践行“助人达成目标”的使命，以纯粹的善意链接伙伴，传递事业的温度。</a:t>
            </a:r>
            <a:endParaRPr lang="en-US" sz="1100"/>
          </a:p>
        </p:txBody>
      </p:sp>
      <p:sp>
        <p:nvSpPr>
          <p:cNvPr name="AutoShape 20" id="20"/>
          <p:cNvSpPr/>
          <p:nvPr/>
        </p:nvSpPr>
        <p:spPr>
          <a:xfrm rot="0" flipH="false" flipV="false">
            <a:off x="8128000" y="1905000"/>
            <a:ext cx="3556000" cy="3683000"/>
          </a:xfrm>
          <a:prstGeom prst="roundRect">
            <a:avLst>
              <a:gd name="adj" fmla="val 0"/>
            </a:avLst>
          </a:prstGeom>
          <a:solidFill>
            <a:srgbClr val="FFFFFF">
              <a:alpha val="100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8128000" y="1905000"/>
            <a:ext cx="3556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382000" y="2286000"/>
            <a:ext cx="609600" cy="609600"/>
          </a:xfrm>
          <a:prstGeom prst="rect">
            <a:avLst/>
          </a:prstGeom>
        </p:spPr>
      </p:pic>
      <p:sp>
        <p:nvSpPr>
          <p:cNvPr name="AutoShape 23" id="23"/>
          <p:cNvSpPr/>
          <p:nvPr/>
        </p:nvSpPr>
        <p:spPr>
          <a:xfrm rot="0" flipH="false" flipV="false">
            <a:off x="9144000" y="2286000"/>
            <a:ext cx="228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937"/>
                </a:solidFill>
                <a:latin typeface="Noto Sans SC"/>
                <a:ea typeface="Noto Sans SC"/>
                <a:cs typeface="Noto Sans SC"/>
                <a:sym typeface="Noto Sans SC"/>
              </a:rPr>
              <a:t>维护秩序：守规则</a:t>
            </a:r>
            <a:endParaRPr lang="en-US" sz="1100"/>
          </a:p>
        </p:txBody>
      </p:sp>
      <p:cxnSp>
        <p:nvCxnSpPr>
          <p:cNvPr name="Connector 24" id="24"/>
          <p:cNvCxnSpPr/>
          <p:nvPr/>
        </p:nvCxnSpPr>
        <p:spPr>
          <a:xfrm rot="-14323" flipH="false" flipV="false">
            <a:off x="8382013" y="3168650"/>
            <a:ext cx="3048000" cy="12700"/>
          </a:xfrm>
          <a:prstGeom prst="line">
            <a:avLst/>
          </a:prstGeom>
          <a:solidFill>
            <a:srgbClr val="DEE0E3">
              <a:alpha val="100000"/>
            </a:srgbClr>
          </a:solidFill>
          <a:ln w="12700" cmpd="sng" cap="flat">
            <a:solidFill>
              <a:srgbClr val="000000">
                <a:alpha val="5000"/>
              </a:srgbClr>
            </a:solidFill>
            <a:prstDash val="dash"/>
            <a:round/>
            <a:headEnd type="none" w="med" len="med"/>
            <a:tailEnd type="none" w="med" len="med"/>
          </a:ln>
        </p:spPr>
      </p:cxnSp>
      <p:sp>
        <p:nvSpPr>
          <p:cNvPr name="AutoShape 25" id="25"/>
          <p:cNvSpPr/>
          <p:nvPr/>
        </p:nvSpPr>
        <p:spPr>
          <a:xfrm rot="0" flipH="false" flipV="false">
            <a:off x="8382000" y="3429000"/>
            <a:ext cx="304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600">
                <a:solidFill>
                  <a:srgbClr val="3B82F6"/>
                </a:solidFill>
                <a:latin typeface="Noto Sans SC"/>
                <a:ea typeface="Noto Sans SC"/>
                <a:cs typeface="Noto Sans SC"/>
                <a:sym typeface="Noto Sans SC"/>
              </a:rPr>
              <a:t>不做团队自主促销</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在会员社群及公开场合，严禁发起任何形式的非官方促销、折扣或赠品活动。</a:t>
            </a:r>
          </a:p>
        </p:txBody>
      </p:sp>
      <p:sp>
        <p:nvSpPr>
          <p:cNvPr name="AutoShape 26" id="26"/>
          <p:cNvSpPr/>
          <p:nvPr/>
        </p:nvSpPr>
        <p:spPr>
          <a:xfrm rot="0" flipH="false" flipV="false">
            <a:off x="8255000" y="5080000"/>
            <a:ext cx="3302000" cy="762000"/>
          </a:xfrm>
          <a:prstGeom prst="roundRect">
            <a:avLst>
              <a:gd name="adj" fmla="val 0"/>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382000" y="5207000"/>
            <a:ext cx="304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6B7280"/>
                </a:solidFill>
                <a:latin typeface="Noto Sans SC"/>
                <a:ea typeface="Noto Sans SC"/>
                <a:cs typeface="Noto Sans SC"/>
                <a:sym typeface="Noto Sans SC"/>
              </a:rPr>
              <a:t>严格遵循美乐家官方规则，维护品牌统一形象，确保价格体系的公平与稳定。</a:t>
            </a:r>
            <a:endParaRPr lang="en-US" sz="1100"/>
          </a:p>
        </p:txBody>
      </p:sp>
      <p:sp>
        <p:nvSpPr>
          <p:cNvPr name="AutoShape 28" id="28"/>
          <p:cNvSpPr/>
          <p:nvPr/>
        </p:nvSpPr>
        <p:spPr>
          <a:xfrm rot="0" flipH="false" flipV="false">
            <a:off x="508000" y="5969000"/>
            <a:ext cx="11176000" cy="584200"/>
          </a:xfrm>
          <a:prstGeom prst="roundRect">
            <a:avLst>
              <a:gd name="adj" fmla="val 0"/>
            </a:avLst>
          </a:prstGeom>
          <a:solidFill>
            <a:srgbClr val="1F2937">
              <a:alpha val="3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35000" y="6070600"/>
            <a:ext cx="1092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核心宗旨：明确“不做”的边界，是为了更好地聚焦“该做”的核心，建立长期、稳健、可持续的事业基石。</a:t>
            </a:r>
            <a:endParaRPr lang="en-US" sz="1100"/>
          </a:p>
        </p:txBody>
      </p:sp>
    </p:spTree>
  </p:cSld>
  <p:clrMapOvr>
    <a:masterClrMapping/>
  </p:clrMapOvr>
</p:sld>
</file>

<file path=ppt/slides/slide38.xml><?xml version="1.0" encoding="utf-8"?>
<p:sld xmlns:p="http://schemas.openxmlformats.org/presentationml/2006/main" xmlns:a="http://schemas.openxmlformats.org/drawingml/2006/main">
  <p:cSld>
    <p:bg>
      <p:bgPr>
        <a:gradFill rotWithShape="true">
          <a:gsLst>
            <a:gs pos="0">
              <a:srgbClr val="0A192F">
                <a:alpha val="100000"/>
              </a:srgbClr>
            </a:gs>
            <a:gs pos="100000">
              <a:srgbClr val="172A45">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1270000" y="-1270000"/>
            <a:ext cx="5080000" cy="5080000"/>
          </a:xfrm>
          <a:prstGeom prst="ellipse">
            <a:avLst/>
          </a:prstGeom>
          <a:solidFill>
            <a:srgbClr val="38BDF8">
              <a:alpha val="8000"/>
            </a:srgbClr>
          </a:solidFill>
          <a:ln cmpd="sng" cap="flat">
            <a:solidFill>
              <a:srgbClr val="1CA3DF">
                <a:alpha val="8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899999" flipH="false" flipV="false">
            <a:off x="9525000" y="4445000"/>
            <a:ext cx="3810000" cy="3810000"/>
          </a:xfrm>
          <a:prstGeom prst="triangle">
            <a:avLst/>
          </a:prstGeom>
          <a:solidFill>
            <a:srgbClr val="1E40AF">
              <a:alpha val="10000"/>
            </a:srgbClr>
          </a:solidFill>
          <a:ln cmpd="sng" cap="flat">
            <a:solidFill>
              <a:srgbClr val="0B2B96">
                <a:alpha val="10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2032000"/>
            <a:ext cx="381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0">
                <a:solidFill>
                  <a:srgbClr val="FFFFFF">
                    <a:alpha val="10196"/>
                  </a:srgbClr>
                </a:solidFill>
                <a:latin typeface="Noto Sans SC"/>
                <a:ea typeface="Noto Sans SC"/>
                <a:cs typeface="Noto Sans SC"/>
                <a:sym typeface="Noto Sans SC"/>
              </a:rPr>
              <a:t>06</a:t>
            </a:r>
            <a:endParaRPr lang="en-US" sz="1100"/>
          </a:p>
        </p:txBody>
      </p:sp>
      <p:sp>
        <p:nvSpPr>
          <p:cNvPr name="AutoShape 5" id="5"/>
          <p:cNvSpPr/>
          <p:nvPr/>
        </p:nvSpPr>
        <p:spPr>
          <a:xfrm rot="0" flipH="false" flipV="false">
            <a:off x="889000" y="5334000"/>
            <a:ext cx="1524000" cy="76200"/>
          </a:xfrm>
          <a:prstGeom prst="roundRect">
            <a:avLst>
              <a:gd name="adj" fmla="val 0"/>
            </a:avLst>
          </a:prstGeom>
          <a:solidFill>
            <a:srgbClr val="38BDF8">
              <a:alpha val="100000"/>
            </a:srgbClr>
          </a:solidFill>
          <a:ln cmpd="sng" cap="flat">
            <a:solidFill>
              <a:srgbClr val="1CA3DF">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2667000" y="5334000"/>
            <a:ext cx="762000" cy="76200"/>
          </a:xfrm>
          <a:prstGeom prst="roundRect">
            <a:avLst>
              <a:gd name="adj" fmla="val 0"/>
            </a:avLst>
          </a:prstGeom>
          <a:solidFill>
            <a:srgbClr val="38BDF8">
              <a:alpha val="50000"/>
            </a:srgbClr>
          </a:solidFill>
          <a:ln cmpd="sng" cap="flat">
            <a:solidFill>
              <a:srgbClr val="1CA3DF">
                <a:alpha val="50000"/>
              </a:srgbClr>
            </a:solidFill>
            <a:prstDash val="solid"/>
            <a:round/>
          </a:ln>
        </p:spPr>
        <p:txBody>
          <a:bodyPr anchor="ctr" rtlCol="false" vert="horz" wrap="square" lIns="63500" rIns="63500" tIns="63500" bIns="63500"/>
          <a:lstStyle/>
          <a:p>
            <a:pPr algn="ctr">
              <a:defRPr/>
            </a:pPr>
            <a:endParaRPr/>
          </a:p>
        </p:txBody>
      </p:sp>
      <p:cxnSp>
        <p:nvCxnSpPr>
          <p:cNvPr name="Connector 7" id="7"/>
          <p:cNvCxnSpPr/>
          <p:nvPr/>
        </p:nvCxnSpPr>
        <p:spPr>
          <a:xfrm rot="5388540" flipH="false" flipV="false">
            <a:off x="3429000" y="3422661"/>
            <a:ext cx="3810000" cy="12700"/>
          </a:xfrm>
          <a:prstGeom prst="straightConnector1">
            <a:avLst/>
          </a:prstGeom>
          <a:solidFill>
            <a:srgbClr val="DEE0E3">
              <a:alpha val="100000"/>
            </a:srgbClr>
          </a:solidFill>
          <a:ln w="12700" cmpd="sng" cap="flat">
            <a:solidFill>
              <a:srgbClr val="FFFFFF">
                <a:alpha val="20000"/>
              </a:srgbClr>
            </a:solidFill>
            <a:prstDash val="dash"/>
            <a:round/>
            <a:headEnd type="none" w="med" len="med"/>
            <a:tailEnd type="none" w="med" len="med"/>
          </a:ln>
        </p:spPr>
      </p:cxnSp>
      <p:sp>
        <p:nvSpPr>
          <p:cNvPr name="AutoShape 8" id="8"/>
          <p:cNvSpPr/>
          <p:nvPr/>
        </p:nvSpPr>
        <p:spPr>
          <a:xfrm rot="0" flipH="false" flipV="false">
            <a:off x="5842000" y="2032000"/>
            <a:ext cx="584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400">
                <a:solidFill>
                  <a:srgbClr val="94A3B8"/>
                </a:solidFill>
                <a:latin typeface="Noto Sans SC"/>
                <a:ea typeface="Noto Sans SC"/>
                <a:cs typeface="Noto Sans SC"/>
                <a:sym typeface="Noto Sans SC"/>
              </a:rPr>
              <a:t>CHAPTER 06</a:t>
            </a:r>
            <a:endParaRPr lang="en-US" sz="1100"/>
          </a:p>
        </p:txBody>
      </p:sp>
      <p:sp>
        <p:nvSpPr>
          <p:cNvPr name="AutoShape 9" id="9"/>
          <p:cNvSpPr/>
          <p:nvPr/>
        </p:nvSpPr>
        <p:spPr>
          <a:xfrm rot="0" flipH="false" flipV="false">
            <a:off x="5842000" y="2921000"/>
            <a:ext cx="584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核心理念与终极愿景</a:t>
            </a:r>
            <a:endParaRPr lang="en-US" sz="1100"/>
          </a:p>
        </p:txBody>
      </p:sp>
      <p:cxnSp>
        <p:nvCxnSpPr>
          <p:cNvPr name="Connector 10" id="10"/>
          <p:cNvCxnSpPr/>
          <p:nvPr/>
        </p:nvCxnSpPr>
        <p:spPr>
          <a:xfrm rot="-8185" flipH="false" flipV="false">
            <a:off x="5842008" y="4438650"/>
            <a:ext cx="5334000" cy="12700"/>
          </a:xfrm>
          <a:prstGeom prst="straightConnector1">
            <a:avLst/>
          </a:prstGeom>
          <a:solidFill>
            <a:srgbClr val="DEE0E3">
              <a:alpha val="100000"/>
            </a:srgbClr>
          </a:solidFill>
          <a:ln w="25400" cmpd="sng" cap="flat">
            <a:solidFill>
              <a:srgbClr val="38BDF8">
                <a:alpha val="60000"/>
              </a:srgbClr>
            </a:solidFill>
            <a:prstDash val="solid"/>
            <a:round/>
            <a:headEnd type="none" w="lg" len="lg"/>
            <a:tailEnd type="none" w="lg" len="lg"/>
          </a:ln>
        </p:spPr>
      </p:cxnSp>
      <p:sp>
        <p:nvSpPr>
          <p:cNvPr name="AutoShape 11" id="11"/>
          <p:cNvSpPr/>
          <p:nvPr/>
        </p:nvSpPr>
        <p:spPr>
          <a:xfrm rot="0" flipH="false" flipV="false">
            <a:off x="5842000" y="4826000"/>
            <a:ext cx="5842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E2E8F0">
                    <a:alpha val="90196"/>
                  </a:srgbClr>
                </a:solidFill>
                <a:latin typeface="Noto Sans SC"/>
                <a:ea typeface="Noto Sans SC"/>
                <a:cs typeface="Noto Sans SC"/>
                <a:sym typeface="Noto Sans SC"/>
              </a:rPr>
              <a:t>理念是发展的基石，愿景是前行的灯塔。本章将深入剖析品牌的核心价值体系，明确我们的精神内核与长远追求，以坚定的信念凝聚共识，锚定未来发展的终极方向。</a:t>
            </a:r>
            <a:endParaRPr lang="en-US" sz="1100"/>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AFAF8">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8890000" y="3810000"/>
            <a:ext cx="5080000" cy="5080000"/>
          </a:xfrm>
          <a:prstGeom prst="ellipse">
            <a:avLst/>
          </a:prstGeom>
          <a:solidFill>
            <a:srgbClr val="10B981">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270000" y="-1270000"/>
            <a:ext cx="3810000" cy="3810000"/>
          </a:xfrm>
          <a:prstGeom prst="ellipse">
            <a:avLst/>
          </a:prstGeom>
          <a:solidFill>
            <a:srgbClr val="3B82F6">
              <a:alpha val="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F2937"/>
                </a:solidFill>
                <a:latin typeface="Noto Sans SC"/>
                <a:ea typeface="Noto Sans SC"/>
                <a:cs typeface="Noto Sans SC"/>
                <a:sym typeface="Noto Sans SC"/>
              </a:rPr>
              <a:t>6.1 利他即增强回路</a:t>
            </a:r>
            <a:endParaRPr lang="en-US" sz="1100"/>
          </a:p>
        </p:txBody>
      </p:sp>
      <p:cxnSp>
        <p:nvCxnSpPr>
          <p:cNvPr name="Connector 5" id="5"/>
          <p:cNvCxnSpPr/>
          <p:nvPr/>
        </p:nvCxnSpPr>
        <p:spPr>
          <a:xfrm rot="-3906" flipH="false" flipV="false">
            <a:off x="508004" y="1136650"/>
            <a:ext cx="11176000" cy="12700"/>
          </a:xfrm>
          <a:prstGeom prst="line">
            <a:avLst/>
          </a:prstGeom>
          <a:solidFill>
            <a:srgbClr val="DEE0E3">
              <a:alpha val="100000"/>
            </a:srgbClr>
          </a:solidFill>
          <a:ln w="12700" cmpd="sng" cap="flat">
            <a:solidFill>
              <a:srgbClr val="000000">
                <a:alpha val="10000"/>
              </a:srgbClr>
            </a:solidFill>
            <a:prstDash val="solid"/>
            <a:round/>
            <a:headEnd type="none" w="med" len="med"/>
            <a:tailEnd type="none" w="med" len="med"/>
          </a:ln>
        </p:spPr>
      </p:cxn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08000" y="1524000"/>
            <a:ext cx="508000" cy="508000"/>
          </a:xfrm>
          <a:prstGeom prst="rect">
            <a:avLst/>
          </a:prstGeom>
        </p:spPr>
      </p:pic>
      <p:sp>
        <p:nvSpPr>
          <p:cNvPr name="AutoShape 7" id="7"/>
          <p:cNvSpPr/>
          <p:nvPr/>
        </p:nvSpPr>
        <p:spPr>
          <a:xfrm rot="0" flipH="false" flipV="false">
            <a:off x="1143000" y="1460500"/>
            <a:ext cx="1041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4B5563"/>
                </a:solidFill>
                <a:latin typeface="Noto Serif SC"/>
                <a:ea typeface="Noto Serif SC"/>
                <a:cs typeface="Noto Serif SC"/>
                <a:sym typeface="Noto Serif SC"/>
              </a:rPr>
              <a:t>“带有善意的推荐他人——让他用到天然、健康、环保、平价的产品。带有善意的推荐事业——来到这里便是突破，认知的突破，因为它已一脚迈进了BI象限的大门。只有这样，它才能称之为职业生涯，如忠贞的爱情一样，如我们的使命一样，永不褪色，早晚幸福会来敲门。”</a:t>
            </a:r>
            <a:endParaRPr lang="en-US" sz="1100"/>
          </a:p>
        </p:txBody>
      </p:sp>
      <p:sp>
        <p:nvSpPr>
          <p:cNvPr name="AutoShape 8" id="8"/>
          <p:cNvSpPr/>
          <p:nvPr/>
        </p:nvSpPr>
        <p:spPr>
          <a:xfrm rot="0" flipH="false" flipV="false">
            <a:off x="508000" y="3556000"/>
            <a:ext cx="5524500" cy="2032000"/>
          </a:xfrm>
          <a:prstGeom prst="roundRect">
            <a:avLst>
              <a:gd name="adj" fmla="val 0"/>
            </a:avLst>
          </a:prstGeom>
          <a:solidFill>
            <a:srgbClr val="ECFDF5">
              <a:alpha val="100000"/>
            </a:srgbClr>
          </a:solidFill>
          <a:ln w="12700" cmpd="sng" cap="flat">
            <a:solidFill>
              <a:srgbClr val="10B981">
                <a:alpha val="2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762000" y="3810000"/>
            <a:ext cx="609600" cy="609600"/>
          </a:xfrm>
          <a:prstGeom prst="rect">
            <a:avLst/>
          </a:prstGeom>
        </p:spPr>
      </p:pic>
      <p:sp>
        <p:nvSpPr>
          <p:cNvPr name="AutoShape 10" id="10"/>
          <p:cNvSpPr/>
          <p:nvPr/>
        </p:nvSpPr>
        <p:spPr>
          <a:xfrm rot="0" flipH="false" flipV="false">
            <a:off x="1651000" y="3810000"/>
            <a:ext cx="393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65F46"/>
                </a:solidFill>
                <a:latin typeface="Noto Sans SC"/>
                <a:ea typeface="Noto Sans SC"/>
                <a:cs typeface="Noto Sans SC"/>
                <a:sym typeface="Noto Sans SC"/>
              </a:rPr>
              <a:t>善意的起心动念：行动的原点</a:t>
            </a:r>
            <a:endParaRPr lang="en-US" sz="1100"/>
          </a:p>
        </p:txBody>
      </p:sp>
      <p:cxnSp>
        <p:nvCxnSpPr>
          <p:cNvPr name="Connector 11" id="11"/>
          <p:cNvCxnSpPr/>
          <p:nvPr/>
        </p:nvCxnSpPr>
        <p:spPr>
          <a:xfrm rot="-8814" flipH="false" flipV="false">
            <a:off x="762008" y="4565650"/>
            <a:ext cx="4953000" cy="12700"/>
          </a:xfrm>
          <a:prstGeom prst="line">
            <a:avLst/>
          </a:prstGeom>
          <a:solidFill>
            <a:srgbClr val="DEE0E3">
              <a:alpha val="100000"/>
            </a:srgbClr>
          </a:solidFill>
          <a:ln w="12700" cmpd="sng" cap="flat">
            <a:solidFill>
              <a:srgbClr val="10B981">
                <a:alpha val="20000"/>
              </a:srgbClr>
            </a:solidFill>
            <a:prstDash val="dash"/>
            <a:round/>
            <a:headEnd type="none" w="med" len="med"/>
            <a:tailEnd type="none" w="med" len="med"/>
          </a:ln>
        </p:spPr>
      </p:cxnSp>
      <p:sp>
        <p:nvSpPr>
          <p:cNvPr name="AutoShape 12" id="12"/>
          <p:cNvSpPr/>
          <p:nvPr/>
        </p:nvSpPr>
        <p:spPr>
          <a:xfrm rot="0" flipH="false" flipV="false">
            <a:off x="762000" y="46990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摒弃功利性的结果导向，将“真心帮助他人”作为一切行动的起点。这种纯粹的善意不仅是道德的指引，更是构建信任、建立长期关系的基石。</a:t>
            </a:r>
            <a:endParaRPr lang="en-US" sz="1100"/>
          </a:p>
        </p:txBody>
      </p:sp>
      <p:sp>
        <p:nvSpPr>
          <p:cNvPr name="AutoShape 13" id="13"/>
          <p:cNvSpPr/>
          <p:nvPr/>
        </p:nvSpPr>
        <p:spPr>
          <a:xfrm rot="0" flipH="false" flipV="false">
            <a:off x="6286500" y="3556000"/>
            <a:ext cx="5524500" cy="2032000"/>
          </a:xfrm>
          <a:prstGeom prst="roundRect">
            <a:avLst>
              <a:gd name="adj" fmla="val 0"/>
            </a:avLst>
          </a:prstGeom>
          <a:solidFill>
            <a:srgbClr val="EFF6FF">
              <a:alpha val="100000"/>
            </a:srgbClr>
          </a:solidFill>
          <a:ln w="12700" cmpd="sng" cap="flat">
            <a:solidFill>
              <a:srgbClr val="3B82F6">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540500" y="3810000"/>
            <a:ext cx="609600" cy="609600"/>
          </a:xfrm>
          <a:prstGeom prst="rect">
            <a:avLst/>
          </a:prstGeom>
        </p:spPr>
      </p:pic>
      <p:sp>
        <p:nvSpPr>
          <p:cNvPr name="AutoShape 15" id="15"/>
          <p:cNvSpPr/>
          <p:nvPr/>
        </p:nvSpPr>
        <p:spPr>
          <a:xfrm rot="0" flipH="false" flipV="false">
            <a:off x="7429500" y="3810000"/>
            <a:ext cx="393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E40AF"/>
                </a:solidFill>
                <a:latin typeface="Noto Sans SC"/>
                <a:ea typeface="Noto Sans SC"/>
                <a:cs typeface="Noto Sans SC"/>
                <a:sym typeface="Noto Sans SC"/>
              </a:rPr>
              <a:t>全域IP + 利他：系统的增强回路</a:t>
            </a:r>
            <a:endParaRPr lang="en-US" sz="1100"/>
          </a:p>
        </p:txBody>
      </p:sp>
      <p:cxnSp>
        <p:nvCxnSpPr>
          <p:cNvPr name="Connector 16" id="16"/>
          <p:cNvCxnSpPr/>
          <p:nvPr/>
        </p:nvCxnSpPr>
        <p:spPr>
          <a:xfrm rot="-8814" flipH="false" flipV="false">
            <a:off x="6540508" y="4565650"/>
            <a:ext cx="4953000" cy="12700"/>
          </a:xfrm>
          <a:prstGeom prst="line">
            <a:avLst/>
          </a:prstGeom>
          <a:solidFill>
            <a:srgbClr val="DEE0E3">
              <a:alpha val="100000"/>
            </a:srgbClr>
          </a:solidFill>
          <a:ln w="12700" cmpd="sng" cap="flat">
            <a:solidFill>
              <a:srgbClr val="3B82F6">
                <a:alpha val="20000"/>
              </a:srgbClr>
            </a:solidFill>
            <a:prstDash val="dash"/>
            <a:round/>
            <a:headEnd type="none" w="med" len="med"/>
            <a:tailEnd type="none" w="med" len="med"/>
          </a:ln>
        </p:spPr>
      </p:cxnSp>
      <p:sp>
        <p:nvSpPr>
          <p:cNvPr name="AutoShape 17" id="17"/>
          <p:cNvSpPr/>
          <p:nvPr/>
        </p:nvSpPr>
        <p:spPr>
          <a:xfrm rot="0" flipH="false" flipV="false">
            <a:off x="6540500" y="4699000"/>
            <a:ext cx="5016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74151"/>
                </a:solidFill>
                <a:latin typeface="Noto Sans SC"/>
                <a:ea typeface="Noto Sans SC"/>
                <a:cs typeface="Noto Sans SC"/>
                <a:sym typeface="Noto Sans SC"/>
              </a:rPr>
              <a:t>全域IP是传播的载体，善意是核心驱动力。当IP与利他结合，形成正向反馈：帮助的人越多，IP影响力越大；影响力越大，越能帮助更多人。</a:t>
            </a:r>
            <a:endParaRPr lang="en-US" sz="1100"/>
          </a:p>
        </p:txBody>
      </p:sp>
      <p:sp>
        <p:nvSpPr>
          <p:cNvPr name="AutoShape 18" id="18"/>
          <p:cNvSpPr/>
          <p:nvPr/>
        </p:nvSpPr>
        <p:spPr>
          <a:xfrm rot="0" flipH="false" flipV="false">
            <a:off x="508000" y="5842000"/>
            <a:ext cx="11303000" cy="762000"/>
          </a:xfrm>
          <a:prstGeom prst="roundRect">
            <a:avLst>
              <a:gd name="adj" fmla="val 0"/>
            </a:avLst>
          </a:prstGeom>
          <a:solidFill>
            <a:srgbClr val="1F293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08000" y="5842000"/>
            <a:ext cx="76200" cy="762000"/>
          </a:xfrm>
          <a:prstGeom prst="roundRect">
            <a:avLst>
              <a:gd name="adj" fmla="val 0"/>
            </a:avLst>
          </a:prstGeom>
          <a:solidFill>
            <a:srgbClr val="F59E0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762000" y="5969000"/>
            <a:ext cx="1079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核心洞察：不是刻意追求幸福的结果，而是坚持善意的过程，幸福与成功终将成为必然的馈赠。</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08000" y="508000"/>
            <a:ext cx="1117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6.2 系统思维：整体大于部分之和</a:t>
            </a:r>
            <a:endParaRPr lang="en-US" sz="1100"/>
          </a:p>
        </p:txBody>
      </p:sp>
      <p:cxnSp>
        <p:nvCxnSpPr>
          <p:cNvPr name="Connector 3" id="3"/>
          <p:cNvCxnSpPr/>
          <p:nvPr/>
        </p:nvCxnSpPr>
        <p:spPr>
          <a:xfrm rot="-3906" flipH="false" flipV="false">
            <a:off x="508004" y="1390650"/>
            <a:ext cx="11176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4" id="4"/>
          <p:cNvSpPr/>
          <p:nvPr/>
        </p:nvSpPr>
        <p:spPr>
          <a:xfrm rot="0" flipH="false" flipV="false">
            <a:off x="508000" y="1778000"/>
            <a:ext cx="5334000" cy="13970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778000"/>
            <a:ext cx="76200" cy="13970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800">
                <a:solidFill>
                  <a:srgbClr val="1E40AF"/>
                </a:solidFill>
                <a:latin typeface="Noto Sans SC"/>
                <a:ea typeface="Noto Sans SC"/>
                <a:cs typeface="Noto Sans SC"/>
                <a:sym typeface="Noto Sans SC"/>
              </a:rPr>
              <a:t>核心观点：基于关系的指数思维</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400">
                <a:solidFill>
                  <a:srgbClr val="374151"/>
                </a:solidFill>
                <a:latin typeface="Noto Sans SC"/>
                <a:ea typeface="Noto Sans SC"/>
                <a:cs typeface="Noto Sans SC"/>
                <a:sym typeface="Noto Sans SC"/>
              </a:rPr>
              <a:t>商业模式的核心不再是“拥有资产”，而是“构建连接”。做时间的朋友，让价值在关系网络中随时间自然沉淀、倍增，而非依赖一次性投入。</a:t>
            </a:r>
          </a:p>
        </p:txBody>
      </p:sp>
      <p:sp>
        <p:nvSpPr>
          <p:cNvPr name="AutoShape 7" id="7"/>
          <p:cNvSpPr/>
          <p:nvPr/>
        </p:nvSpPr>
        <p:spPr>
          <a:xfrm rot="0" flipH="false" flipV="false">
            <a:off x="508000" y="3556000"/>
            <a:ext cx="5334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01. 新零售完全体的底层逻辑</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美乐家是少有的以“个体”为核心资产的商业模式，注重企业与用户的双向价值流动，配合大数据精准匹配与深度物流体系，形成了闭环的零售生态。</a:t>
            </a:r>
          </a:p>
        </p:txBody>
      </p:sp>
      <p:cxnSp>
        <p:nvCxnSpPr>
          <p:cNvPr name="Connector 8" id="8"/>
          <p:cNvCxnSpPr/>
          <p:nvPr/>
        </p:nvCxnSpPr>
        <p:spPr>
          <a:xfrm rot="-8185" flipH="false" flipV="false">
            <a:off x="508008" y="4756150"/>
            <a:ext cx="5334000" cy="12700"/>
          </a:xfrm>
          <a:prstGeom prst="straightConnector1">
            <a:avLst/>
          </a:prstGeom>
          <a:solidFill>
            <a:srgbClr val="DEE0E3">
              <a:alpha val="100000"/>
            </a:srgbClr>
          </a:solidFill>
          <a:ln w="12700" cmpd="sng" cap="flat">
            <a:solidFill>
              <a:srgbClr val="F3F4F6">
                <a:alpha val="100000"/>
              </a:srgbClr>
            </a:solidFill>
            <a:prstDash val="dash"/>
            <a:round/>
            <a:headEnd type="none" w="med" len="med"/>
            <a:tailEnd type="none" w="med" len="med"/>
          </a:ln>
        </p:spPr>
      </p:cxnSp>
      <p:sp>
        <p:nvSpPr>
          <p:cNvPr name="AutoShape 9" id="9"/>
          <p:cNvSpPr/>
          <p:nvPr/>
        </p:nvSpPr>
        <p:spPr>
          <a:xfrm rot="0" flipH="false" flipV="false">
            <a:off x="508000" y="5080000"/>
            <a:ext cx="533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1F2937"/>
                </a:solidFill>
                <a:latin typeface="Noto Sans SC"/>
                <a:ea typeface="Noto Sans SC"/>
                <a:cs typeface="Noto Sans SC"/>
                <a:sym typeface="Noto Sans SC"/>
              </a:rPr>
              <a:t>02. 简单性决定可行性：零投资的倍增系统</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4B5563"/>
                </a:solidFill>
                <a:latin typeface="Noto Sans SC"/>
                <a:ea typeface="Noto Sans SC"/>
                <a:cs typeface="Noto Sans SC"/>
                <a:sym typeface="Noto Sans SC"/>
              </a:rPr>
              <a:t>“制度的简单性决定了人人可为。”无需资金投入，依托系统的力量让成果可积累、可继承，将复杂的商业运营简化为个体可参与的价值分享。</a:t>
            </a:r>
          </a:p>
        </p:txBody>
      </p:sp>
      <p:cxnSp>
        <p:nvCxnSpPr>
          <p:cNvPr name="Connector 10" id="10"/>
          <p:cNvCxnSpPr/>
          <p:nvPr/>
        </p:nvCxnSpPr>
        <p:spPr>
          <a:xfrm rot="5390450" flipH="false" flipV="false">
            <a:off x="3937000" y="4057659"/>
            <a:ext cx="4572000" cy="12700"/>
          </a:xfrm>
          <a:prstGeom prst="straightConnector1">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11" id="11"/>
          <p:cNvSpPr/>
          <p:nvPr/>
        </p:nvSpPr>
        <p:spPr>
          <a:xfrm rot="0" flipH="false" flipV="false">
            <a:off x="6477000" y="1778000"/>
            <a:ext cx="2476500" cy="2095500"/>
          </a:xfrm>
          <a:prstGeom prst="roundRect">
            <a:avLst>
              <a:gd name="adj" fmla="val 0"/>
            </a:avLst>
          </a:prstGeom>
          <a:solidFill>
            <a:srgbClr val="FFF7ED">
              <a:alpha val="100000"/>
            </a:srgbClr>
          </a:solidFill>
          <a:ln cmpd="sng" cap="flat">
            <a:solidFill>
              <a:srgbClr val="E6D4BE">
                <a:alpha val="10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6604000" y="1968500"/>
            <a:ext cx="355600" cy="355600"/>
          </a:xfrm>
          <a:prstGeom prst="rect">
            <a:avLst/>
          </a:prstGeom>
        </p:spPr>
      </p:pic>
      <p:sp>
        <p:nvSpPr>
          <p:cNvPr name="AutoShape 13" id="13"/>
          <p:cNvSpPr/>
          <p:nvPr/>
        </p:nvSpPr>
        <p:spPr>
          <a:xfrm rot="0" flipH="false" flipV="false">
            <a:off x="7048500" y="19304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9A3412"/>
                </a:solidFill>
                <a:latin typeface="Noto Sans SC"/>
                <a:ea typeface="Noto Sans SC"/>
                <a:cs typeface="Noto Sans SC"/>
                <a:sym typeface="Noto Sans SC"/>
              </a:rPr>
              <a:t>UBER：无车的王者</a:t>
            </a:r>
            <a:endParaRPr lang="en-US" sz="1100"/>
          </a:p>
        </p:txBody>
      </p:sp>
      <p:cxnSp>
        <p:nvCxnSpPr>
          <p:cNvPr name="Connector 14" id="14"/>
          <p:cNvCxnSpPr/>
          <p:nvPr/>
        </p:nvCxnSpPr>
        <p:spPr>
          <a:xfrm rot="-19644" flipH="false" flipV="false">
            <a:off x="6604018" y="2470150"/>
            <a:ext cx="2222500" cy="12700"/>
          </a:xfrm>
          <a:prstGeom prst="straightConnector1">
            <a:avLst/>
          </a:prstGeom>
          <a:solidFill>
            <a:srgbClr val="DEE0E3">
              <a:alpha val="100000"/>
            </a:srgbClr>
          </a:solidFill>
          <a:ln w="12700" cmpd="sng" cap="flat">
            <a:solidFill>
              <a:srgbClr val="FDBA74">
                <a:alpha val="50000"/>
              </a:srgbClr>
            </a:solidFill>
            <a:prstDash val="solid"/>
            <a:round/>
            <a:headEnd type="none" w="med" len="med"/>
            <a:tailEnd type="none" w="med" len="med"/>
          </a:ln>
        </p:spPr>
      </p:cxnSp>
      <p:sp>
        <p:nvSpPr>
          <p:cNvPr name="AutoShape 15" id="15"/>
          <p:cNvSpPr/>
          <p:nvPr/>
        </p:nvSpPr>
        <p:spPr>
          <a:xfrm rot="0" flipH="false" flipV="false">
            <a:off x="6604000" y="2603500"/>
            <a:ext cx="222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31407"/>
                </a:solidFill>
                <a:latin typeface="Noto Sans SC"/>
                <a:ea typeface="Noto Sans SC"/>
                <a:cs typeface="Noto Sans SC"/>
                <a:sym typeface="Noto Sans SC"/>
              </a:rPr>
              <a:t>作为全球最大的出租车公司，却不拥有任何一辆汽车。它只做连接者，重构了司机与乘客的关系，释放了闲置运力的商业价值。</a:t>
            </a:r>
            <a:endParaRPr lang="en-US" sz="1100"/>
          </a:p>
        </p:txBody>
      </p:sp>
      <p:sp>
        <p:nvSpPr>
          <p:cNvPr name="AutoShape 16" id="16"/>
          <p:cNvSpPr/>
          <p:nvPr/>
        </p:nvSpPr>
        <p:spPr>
          <a:xfrm rot="0" flipH="false" flipV="false">
            <a:off x="9144000" y="1778000"/>
            <a:ext cx="2476500" cy="2095500"/>
          </a:xfrm>
          <a:prstGeom prst="roundRect">
            <a:avLst>
              <a:gd name="adj" fmla="val 0"/>
            </a:avLst>
          </a:prstGeom>
          <a:solidFill>
            <a:srgbClr val="EFF6FF">
              <a:alpha val="100000"/>
            </a:srgbClr>
          </a:solidFill>
          <a:ln cmpd="sng" cap="flat">
            <a:solidFill>
              <a:srgbClr val="C0D0E6">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271000" y="1968500"/>
            <a:ext cx="355600" cy="355600"/>
          </a:xfrm>
          <a:prstGeom prst="rect">
            <a:avLst/>
          </a:prstGeom>
        </p:spPr>
      </p:pic>
      <p:sp>
        <p:nvSpPr>
          <p:cNvPr name="AutoShape 18" id="18"/>
          <p:cNvSpPr/>
          <p:nvPr/>
        </p:nvSpPr>
        <p:spPr>
          <a:xfrm rot="0" flipH="false" flipV="false">
            <a:off x="9715500" y="1930400"/>
            <a:ext cx="177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1E3A8A"/>
                </a:solidFill>
                <a:latin typeface="Noto Sans SC"/>
                <a:ea typeface="Noto Sans SC"/>
                <a:cs typeface="Noto Sans SC"/>
                <a:sym typeface="Noto Sans SC"/>
              </a:rPr>
              <a:t>FB：无内容的媒体</a:t>
            </a:r>
            <a:endParaRPr lang="en-US" sz="1100"/>
          </a:p>
        </p:txBody>
      </p:sp>
      <p:cxnSp>
        <p:nvCxnSpPr>
          <p:cNvPr name="Connector 19" id="19"/>
          <p:cNvCxnSpPr/>
          <p:nvPr/>
        </p:nvCxnSpPr>
        <p:spPr>
          <a:xfrm rot="-19644" flipH="false" flipV="false">
            <a:off x="9271018" y="2470150"/>
            <a:ext cx="2222500" cy="12700"/>
          </a:xfrm>
          <a:prstGeom prst="straightConnector1">
            <a:avLst/>
          </a:prstGeom>
          <a:solidFill>
            <a:srgbClr val="DEE0E3">
              <a:alpha val="100000"/>
            </a:srgbClr>
          </a:solidFill>
          <a:ln w="12700" cmpd="sng" cap="flat">
            <a:solidFill>
              <a:srgbClr val="93C5FD">
                <a:alpha val="50000"/>
              </a:srgbClr>
            </a:solidFill>
            <a:prstDash val="solid"/>
            <a:round/>
            <a:headEnd type="none" w="med" len="med"/>
            <a:tailEnd type="none" w="med" len="med"/>
          </a:ln>
        </p:spPr>
      </p:cxnSp>
      <p:sp>
        <p:nvSpPr>
          <p:cNvPr name="AutoShape 20" id="20"/>
          <p:cNvSpPr/>
          <p:nvPr/>
        </p:nvSpPr>
        <p:spPr>
          <a:xfrm rot="0" flipH="false" flipV="false">
            <a:off x="9271000" y="2603500"/>
            <a:ext cx="2222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1E3A8A"/>
                </a:solidFill>
                <a:latin typeface="Noto Sans SC"/>
                <a:ea typeface="Noto Sans SC"/>
                <a:cs typeface="Noto Sans SC"/>
                <a:sym typeface="Noto Sans SC"/>
              </a:rPr>
              <a:t>作为全球最热门的媒体平台，却不签约任何内容制作人。它搭建了社交场域，让用户成为内容的创造者，构建了海量的注意力经济生态。</a:t>
            </a:r>
            <a:endParaRPr lang="en-US" sz="1100"/>
          </a:p>
        </p:txBody>
      </p:sp>
      <p:sp>
        <p:nvSpPr>
          <p:cNvPr name="AutoShape 21" id="21"/>
          <p:cNvSpPr/>
          <p:nvPr/>
        </p:nvSpPr>
        <p:spPr>
          <a:xfrm rot="0" flipH="false" flipV="false">
            <a:off x="6477000" y="4191000"/>
            <a:ext cx="5143500" cy="2032000"/>
          </a:xfrm>
          <a:prstGeom prst="roundRect">
            <a:avLst>
              <a:gd name="adj" fmla="val 0"/>
            </a:avLst>
          </a:prstGeom>
          <a:solidFill>
            <a:srgbClr val="ECFDF5">
              <a:alpha val="10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667500" y="4381500"/>
            <a:ext cx="457200" cy="457200"/>
          </a:xfrm>
          <a:prstGeom prst="rect">
            <a:avLst/>
          </a:prstGeom>
        </p:spPr>
      </p:pic>
      <p:sp>
        <p:nvSpPr>
          <p:cNvPr name="AutoShape 23" id="23"/>
          <p:cNvSpPr/>
          <p:nvPr/>
        </p:nvSpPr>
        <p:spPr>
          <a:xfrm rot="0" flipH="false" flipV="false">
            <a:off x="7239000" y="4381500"/>
            <a:ext cx="4191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065F46"/>
                </a:solidFill>
                <a:latin typeface="Noto Sans SC"/>
                <a:ea typeface="Noto Sans SC"/>
                <a:cs typeface="Noto Sans SC"/>
                <a:sym typeface="Noto Sans SC"/>
              </a:rPr>
              <a:t>美乐家：新零售的终极进化形态</a:t>
            </a:r>
            <a:endParaRPr lang="en-US" sz="1100"/>
          </a:p>
        </p:txBody>
      </p:sp>
      <p:cxnSp>
        <p:nvCxnSpPr>
          <p:cNvPr name="Connector 24" id="24"/>
          <p:cNvCxnSpPr/>
          <p:nvPr/>
        </p:nvCxnSpPr>
        <p:spPr>
          <a:xfrm rot="-9167" flipH="false" flipV="false">
            <a:off x="6667508" y="5073650"/>
            <a:ext cx="4762500" cy="12700"/>
          </a:xfrm>
          <a:prstGeom prst="straightConnector1">
            <a:avLst/>
          </a:prstGeom>
          <a:solidFill>
            <a:srgbClr val="DEE0E3">
              <a:alpha val="100000"/>
            </a:srgbClr>
          </a:solidFill>
          <a:ln w="12700" cmpd="sng" cap="flat">
            <a:solidFill>
              <a:srgbClr val="A7F3D0">
                <a:alpha val="100000"/>
              </a:srgbClr>
            </a:solidFill>
            <a:prstDash val="solid"/>
            <a:round/>
            <a:headEnd type="none" w="med" len="med"/>
            <a:tailEnd type="none" w="med" len="med"/>
          </a:ln>
        </p:spPr>
      </p:cxnSp>
      <p:sp>
        <p:nvSpPr>
          <p:cNvPr name="AutoShape 25" id="25"/>
          <p:cNvSpPr/>
          <p:nvPr/>
        </p:nvSpPr>
        <p:spPr>
          <a:xfrm rot="0" flipH="false" flipV="false">
            <a:off x="6667500" y="5207000"/>
            <a:ext cx="4826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064E3B"/>
                </a:solidFill>
                <a:latin typeface="Noto Sans SC"/>
                <a:ea typeface="Noto Sans SC"/>
                <a:cs typeface="Noto Sans SC"/>
                <a:sym typeface="Noto Sans SC"/>
              </a:rPr>
              <a:t>美乐家不仅是“不拥有传统重资产”，更是将“用户关系”视为核心资产。它融合了大数据精准需求匹配与深度直达的物流体系，建立了零投资、可积累、人人可为的倍增系统，实现了企业与用户的共生共赢。</a:t>
            </a:r>
            <a:endParaRPr lang="en-US" sz="1100"/>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5334000" y="0"/>
            <a:ext cx="6858000" cy="6858000"/>
          </a:xfrm>
          <a:prstGeom prst="roundRect">
            <a:avLst>
              <a:gd name="adj" fmla="val 0"/>
            </a:avLst>
          </a:prstGeom>
          <a:solidFill>
            <a:srgbClr val="F0F5F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381000" y="381000"/>
            <a:ext cx="1143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1F2937"/>
                </a:solidFill>
                <a:latin typeface="Noto Sans SC"/>
                <a:ea typeface="Noto Sans SC"/>
                <a:cs typeface="Noto Sans SC"/>
                <a:sym typeface="Noto Sans SC"/>
              </a:rPr>
              <a:t>6.3 去中心化之下的核心价值</a:t>
            </a:r>
            <a:endParaRPr lang="en-US" sz="1100"/>
          </a:p>
        </p:txBody>
      </p:sp>
      <p:cxnSp>
        <p:nvCxnSpPr>
          <p:cNvPr name="Connector 4" id="4"/>
          <p:cNvCxnSpPr/>
          <p:nvPr/>
        </p:nvCxnSpPr>
        <p:spPr>
          <a:xfrm rot="-3819" flipH="false" flipV="false">
            <a:off x="381004" y="1136650"/>
            <a:ext cx="11430000" cy="12700"/>
          </a:xfrm>
          <a:prstGeom prst="line">
            <a:avLst/>
          </a:prstGeom>
          <a:solidFill>
            <a:srgbClr val="DEE0E3">
              <a:alpha val="100000"/>
            </a:srgbClr>
          </a:solidFill>
          <a:ln w="12700" cmpd="sng" cap="flat">
            <a:solidFill>
              <a:srgbClr val="E5E7EB">
                <a:alpha val="100000"/>
              </a:srgbClr>
            </a:solidFill>
            <a:prstDash val="solid"/>
            <a:round/>
            <a:headEnd type="none" w="med" len="med"/>
            <a:tailEnd type="none" w="med" len="med"/>
          </a:ln>
        </p:spPr>
      </p:cxnSp>
      <p:sp>
        <p:nvSpPr>
          <p:cNvPr name="AutoShape 5" id="5"/>
          <p:cNvSpPr/>
          <p:nvPr/>
        </p:nvSpPr>
        <p:spPr>
          <a:xfrm rot="0" flipH="false" flipV="false">
            <a:off x="381000" y="1651000"/>
            <a:ext cx="4572000" cy="4572000"/>
          </a:xfrm>
          <a:prstGeom prst="roundRect">
            <a:avLst>
              <a:gd name="adj" fmla="val 0"/>
            </a:avLst>
          </a:prstGeom>
          <a:solidFill>
            <a:srgbClr val="1E3A8A">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71500" y="1841500"/>
            <a:ext cx="101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6000">
                <a:solidFill>
                  <a:srgbClr val="FFFFFF">
                    <a:alpha val="20000"/>
                  </a:srgbClr>
                </a:solidFill>
                <a:latin typeface="Noto Sans SC"/>
                <a:ea typeface="Noto Sans SC"/>
                <a:cs typeface="Noto Sans SC"/>
                <a:sym typeface="Noto Sans SC"/>
              </a:rPr>
              <a:t>“</a:t>
            </a:r>
            <a:endParaRPr lang="en-US" sz="1100"/>
          </a:p>
        </p:txBody>
      </p:sp>
      <p:sp>
        <p:nvSpPr>
          <p:cNvPr name="AutoShape 7" id="7"/>
          <p:cNvSpPr/>
          <p:nvPr/>
        </p:nvSpPr>
        <p:spPr>
          <a:xfrm rot="0" flipH="false" flipV="false">
            <a:off x="698500" y="3048000"/>
            <a:ext cx="3937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90196"/>
                  </a:srgbClr>
                </a:solidFill>
                <a:latin typeface="Noto Sans SC"/>
                <a:ea typeface="Noto Sans SC"/>
                <a:cs typeface="Noto Sans SC"/>
                <a:sym typeface="Noto Sans SC"/>
              </a:rPr>
              <a:t>也许今天你这个点还没有感觉到核心的价值和作用，但你已经具备这样的先提条件了，有一天只要你成长到了，你就能感受得到。核心是永不褪色的，同样这份职业生涯永远不会归零。</a:t>
            </a:r>
            <a:endParaRPr lang="en-US" sz="1100"/>
          </a:p>
        </p:txBody>
      </p:sp>
      <p:cxnSp>
        <p:nvCxnSpPr>
          <p:cNvPr name="Connector 8" id="8"/>
          <p:cNvCxnSpPr/>
          <p:nvPr/>
        </p:nvCxnSpPr>
        <p:spPr>
          <a:xfrm rot="-11089" flipH="false" flipV="false">
            <a:off x="698510" y="5708650"/>
            <a:ext cx="3937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9" id="9"/>
          <p:cNvSpPr/>
          <p:nvPr/>
        </p:nvSpPr>
        <p:spPr>
          <a:xfrm rot="0" flipH="false" flipV="false">
            <a:off x="698500" y="5842000"/>
            <a:ext cx="3937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BBF24"/>
                </a:solidFill>
                <a:latin typeface="Noto Sans SC"/>
                <a:ea typeface="Noto Sans SC"/>
                <a:cs typeface="Noto Sans SC"/>
                <a:sym typeface="Noto Sans SC"/>
              </a:rPr>
              <a:t>核心洞察：职业生涯的价值沉淀，源于节点本身的不可替代性。</a:t>
            </a:r>
            <a:endParaRPr lang="en-US" sz="1100"/>
          </a:p>
        </p:txBody>
      </p:sp>
      <p:sp>
        <p:nvSpPr>
          <p:cNvPr name="AutoShape 10" id="10"/>
          <p:cNvSpPr/>
          <p:nvPr/>
        </p:nvSpPr>
        <p:spPr>
          <a:xfrm rot="0" flipH="false" flipV="false">
            <a:off x="5588000" y="1651000"/>
            <a:ext cx="62230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5778500" y="1968500"/>
            <a:ext cx="762000" cy="762000"/>
          </a:xfrm>
          <a:prstGeom prst="roundRect">
            <a:avLst>
              <a:gd name="adj" fmla="val 0"/>
            </a:avLst>
          </a:prstGeom>
          <a:solidFill>
            <a:srgbClr val="3B82F6">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956300" y="2146300"/>
            <a:ext cx="406400" cy="406400"/>
          </a:xfrm>
          <a:prstGeom prst="rect">
            <a:avLst/>
          </a:prstGeom>
        </p:spPr>
      </p:pic>
      <p:sp>
        <p:nvSpPr>
          <p:cNvPr name="AutoShape 13" id="13"/>
          <p:cNvSpPr/>
          <p:nvPr/>
        </p:nvSpPr>
        <p:spPr>
          <a:xfrm rot="0" flipH="false" flipV="false">
            <a:off x="6731000" y="1778000"/>
            <a:ext cx="495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01. 重塑节点价值：去中心化的本质</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美乐家的去中心化结构打破了传统的金字塔集权模式，赋予网络中每一个独立节点平等的核心价值与作用。每个经营者不再是依附于上层的附庸，而是具备自主发展能力的价值主体。</a:t>
            </a:r>
          </a:p>
        </p:txBody>
      </p:sp>
      <p:sp>
        <p:nvSpPr>
          <p:cNvPr name="AutoShape 14" id="14"/>
          <p:cNvSpPr/>
          <p:nvPr/>
        </p:nvSpPr>
        <p:spPr>
          <a:xfrm rot="0" flipH="false" flipV="false">
            <a:off x="5588000" y="3302000"/>
            <a:ext cx="62230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778500" y="3619500"/>
            <a:ext cx="762000" cy="762000"/>
          </a:xfrm>
          <a:prstGeom prst="roundRect">
            <a:avLst>
              <a:gd name="adj" fmla="val 0"/>
            </a:avLst>
          </a:prstGeom>
          <a:solidFill>
            <a:srgbClr val="10B981">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956300" y="3797300"/>
            <a:ext cx="406400" cy="406400"/>
          </a:xfrm>
          <a:prstGeom prst="rect">
            <a:avLst/>
          </a:prstGeom>
        </p:spPr>
      </p:pic>
      <p:sp>
        <p:nvSpPr>
          <p:cNvPr name="AutoShape 17" id="17"/>
          <p:cNvSpPr/>
          <p:nvPr/>
        </p:nvSpPr>
        <p:spPr>
          <a:xfrm rot="0" flipH="false" flipV="false">
            <a:off x="6731000" y="3429000"/>
            <a:ext cx="495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02. MelBeacon系统赋能：降低经营门槛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依托MelBeacon系统进行科学的流量分配与职能分工，将复杂的商业运作标准化、模块化。这不仅解决了个人能力参差不齐的问题，更让普通个体无需具备全能的商业素养，也能轻松开启和持续经营。</a:t>
            </a:r>
          </a:p>
        </p:txBody>
      </p:sp>
      <p:sp>
        <p:nvSpPr>
          <p:cNvPr name="AutoShape 18" id="18"/>
          <p:cNvSpPr/>
          <p:nvPr/>
        </p:nvSpPr>
        <p:spPr>
          <a:xfrm rot="0" flipH="false" flipV="false">
            <a:off x="5588000" y="4953000"/>
            <a:ext cx="6223000" cy="1397000"/>
          </a:xfrm>
          <a:prstGeom prst="roundRect">
            <a:avLst>
              <a:gd name="adj" fmla="val 0"/>
            </a:avLst>
          </a:prstGeom>
          <a:solidFill>
            <a:srgbClr val="FFFFFF">
              <a:alpha val="10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5778500" y="5270500"/>
            <a:ext cx="762000" cy="762000"/>
          </a:xfrm>
          <a:prstGeom prst="roundRect">
            <a:avLst>
              <a:gd name="adj" fmla="val 0"/>
            </a:avLst>
          </a:prstGeom>
          <a:solidFill>
            <a:srgbClr val="F59E0B">
              <a:alpha val="1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5956300" y="5448300"/>
            <a:ext cx="406400" cy="406400"/>
          </a:xfrm>
          <a:prstGeom prst="rect">
            <a:avLst/>
          </a:prstGeom>
        </p:spPr>
      </p:pic>
      <p:sp>
        <p:nvSpPr>
          <p:cNvPr name="AutoShape 21" id="21"/>
          <p:cNvSpPr/>
          <p:nvPr/>
        </p:nvSpPr>
        <p:spPr>
          <a:xfrm rot="0" flipH="false" flipV="false">
            <a:off x="6731000" y="5080000"/>
            <a:ext cx="495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937"/>
                </a:solidFill>
                <a:latin typeface="Noto Sans SC"/>
                <a:ea typeface="Noto Sans SC"/>
                <a:cs typeface="Noto Sans SC"/>
                <a:sym typeface="Noto Sans SC"/>
              </a:rPr>
              <a:t>03. 机制驱动成长：对抗“躺平”与集权</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B5563"/>
                </a:solidFill>
                <a:latin typeface="Noto Sans SC"/>
                <a:ea typeface="Noto Sans SC"/>
                <a:cs typeface="Noto Sans SC"/>
                <a:sym typeface="Noto Sans SC"/>
              </a:rPr>
              <a:t>通过明确的晋升奖励机制，激励节点持续创造价值，有效对抗“躺平思维”。同时，去中心化的利益分配机制避免了权力与资源的过度集中，确保了网络生态的健康循环与每一位经营者的公平发展机会。</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0F4F8">
                <a:alpha val="100000"/>
              </a:srgbClr>
            </a:gs>
            <a:gs pos="100000">
              <a:srgbClr val="FFFFFF">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508000" y="381000"/>
            <a:ext cx="1117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0F172A"/>
                </a:solidFill>
                <a:latin typeface="Noto Sans SC"/>
                <a:ea typeface="Noto Sans SC"/>
                <a:cs typeface="Noto Sans SC"/>
                <a:sym typeface="Noto Sans SC"/>
              </a:rPr>
              <a:t>6.4 终极愿景</a:t>
            </a:r>
            <a:endParaRPr lang="en-US" sz="1100"/>
          </a:p>
        </p:txBody>
      </p:sp>
      <p:cxnSp>
        <p:nvCxnSpPr>
          <p:cNvPr name="Connector 3" id="3"/>
          <p:cNvCxnSpPr/>
          <p:nvPr/>
        </p:nvCxnSpPr>
        <p:spPr>
          <a:xfrm rot="-3906" flipH="false" flipV="false">
            <a:off x="508004" y="1136650"/>
            <a:ext cx="11176000" cy="12700"/>
          </a:xfrm>
          <a:prstGeom prst="straightConnector1">
            <a:avLst/>
          </a:prstGeom>
          <a:solidFill>
            <a:srgbClr val="DEE0E3">
              <a:alpha val="100000"/>
            </a:srgbClr>
          </a:solidFill>
          <a:ln w="12700" cmpd="sng" cap="flat">
            <a:solidFill>
              <a:srgbClr val="3B82F6">
                <a:alpha val="30000"/>
              </a:srgbClr>
            </a:solidFill>
            <a:prstDash val="solid"/>
            <a:round/>
            <a:headEnd type="none" w="med" len="med"/>
            <a:tailEnd type="none" w="med" len="med"/>
          </a:ln>
        </p:spPr>
      </p:cxnSp>
      <p:sp>
        <p:nvSpPr>
          <p:cNvPr name="AutoShape 4" id="4"/>
          <p:cNvSpPr/>
          <p:nvPr/>
        </p:nvSpPr>
        <p:spPr>
          <a:xfrm rot="0" flipH="false" flipV="false">
            <a:off x="508000" y="1651000"/>
            <a:ext cx="3556000" cy="4191000"/>
          </a:xfrm>
          <a:prstGeom prst="roundRect">
            <a:avLst>
              <a:gd name="adj" fmla="val 0"/>
            </a:avLst>
          </a:prstGeom>
          <a:solidFill>
            <a:srgbClr val="DBEAFE">
              <a:alpha val="40000"/>
            </a:srgbClr>
          </a:solidFill>
          <a:ln cmpd="sng" cap="flat">
            <a:solidFill>
              <a:srgbClr val="AEC5E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508000" y="1651000"/>
            <a:ext cx="3556000" cy="76200"/>
          </a:xfrm>
          <a:prstGeom prst="roundRect">
            <a:avLst>
              <a:gd name="adj" fmla="val 0"/>
            </a:avLst>
          </a:prstGeom>
          <a:solidFill>
            <a:srgbClr val="60A5FA">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762000" y="1968500"/>
            <a:ext cx="508000" cy="508000"/>
          </a:xfrm>
          <a:prstGeom prst="rect">
            <a:avLst/>
          </a:prstGeom>
        </p:spPr>
      </p:pic>
      <p:sp>
        <p:nvSpPr>
          <p:cNvPr name="AutoShape 7" id="7"/>
          <p:cNvSpPr/>
          <p:nvPr/>
        </p:nvSpPr>
        <p:spPr>
          <a:xfrm rot="0" flipH="false" flipV="false">
            <a:off x="1397000" y="19685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3A8A"/>
                </a:solidFill>
                <a:latin typeface="Noto Sans SC"/>
                <a:ea typeface="Noto Sans SC"/>
                <a:cs typeface="Noto Sans SC"/>
                <a:sym typeface="Noto Sans SC"/>
              </a:rPr>
              <a:t>01 基石层：效率革新</a:t>
            </a:r>
            <a:endParaRPr lang="en-US" sz="1100"/>
          </a:p>
        </p:txBody>
      </p:sp>
      <p:cxnSp>
        <p:nvCxnSpPr>
          <p:cNvPr name="Connector 8" id="8"/>
          <p:cNvCxnSpPr/>
          <p:nvPr/>
        </p:nvCxnSpPr>
        <p:spPr>
          <a:xfrm rot="-14323" flipH="false" flipV="false">
            <a:off x="762013" y="2787650"/>
            <a:ext cx="3048000" cy="12700"/>
          </a:xfrm>
          <a:prstGeom prst="straightConnector1">
            <a:avLst/>
          </a:prstGeom>
          <a:solidFill>
            <a:srgbClr val="DEE0E3">
              <a:alpha val="100000"/>
            </a:srgbClr>
          </a:solidFill>
          <a:ln w="12700" cmpd="sng" cap="flat">
            <a:solidFill>
              <a:srgbClr val="2563EB">
                <a:alpha val="20000"/>
              </a:srgbClr>
            </a:solidFill>
            <a:prstDash val="dash"/>
            <a:round/>
            <a:headEnd type="none" w="med" len="med"/>
            <a:tailEnd type="none" w="med" len="med"/>
          </a:ln>
        </p:spPr>
      </p:cxnSp>
      <p:sp>
        <p:nvSpPr>
          <p:cNvPr name="AutoShape 9" id="9"/>
          <p:cNvSpPr/>
          <p:nvPr/>
        </p:nvSpPr>
        <p:spPr>
          <a:xfrm rot="0" flipH="false" flipV="false">
            <a:off x="698500" y="3048000"/>
            <a:ext cx="3175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4155"/>
                </a:solidFill>
                <a:latin typeface="Noto Sans SC"/>
                <a:ea typeface="Noto Sans SC"/>
                <a:cs typeface="Noto Sans SC"/>
                <a:sym typeface="Noto Sans SC"/>
              </a:rPr>
              <a:t>打造可复制、可规模化的现代化运营方案。</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75569"/>
                </a:solidFill>
                <a:latin typeface="Noto Sans SC"/>
                <a:ea typeface="Noto Sans SC"/>
                <a:cs typeface="Noto Sans SC"/>
                <a:sym typeface="Noto Sans SC"/>
              </a:rPr>
              <a:t>摒弃传统模式的低效与局限，充分利用互联网技术手段，打破业务扩张的效率天花板，为规模化增长提供标准化的底层逻辑支撑。</a:t>
            </a:r>
          </a:p>
        </p:txBody>
      </p:sp>
      <p:sp>
        <p:nvSpPr>
          <p:cNvPr name="AutoShape 10" id="10"/>
          <p:cNvSpPr/>
          <p:nvPr/>
        </p:nvSpPr>
        <p:spPr>
          <a:xfrm rot="0" flipH="false" flipV="false">
            <a:off x="698500" y="5207000"/>
            <a:ext cx="3175000" cy="508000"/>
          </a:xfrm>
          <a:prstGeom prst="roundRect">
            <a:avLst>
              <a:gd name="adj" fmla="val 0"/>
            </a:avLst>
          </a:prstGeom>
          <a:solidFill>
            <a:srgbClr val="2563EB">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5270500"/>
            <a:ext cx="304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2563EB"/>
                </a:solidFill>
                <a:latin typeface="Noto Sans SC"/>
                <a:ea typeface="Noto Sans SC"/>
                <a:cs typeface="Noto Sans SC"/>
                <a:sym typeface="Noto Sans SC"/>
              </a:rPr>
              <a:t>标准化 · 互联网化 · 效率化</a:t>
            </a:r>
            <a:endParaRPr lang="en-US" sz="1100"/>
          </a:p>
        </p:txBody>
      </p:sp>
      <p:cxnSp>
        <p:nvCxnSpPr>
          <p:cNvPr name="Connector 12" id="12"/>
          <p:cNvCxnSpPr/>
          <p:nvPr/>
        </p:nvCxnSpPr>
        <p:spPr>
          <a:xfrm rot="-228844" flipH="false" flipV="false">
            <a:off x="4254711" y="3740150"/>
            <a:ext cx="190500" cy="12700"/>
          </a:xfrm>
          <a:prstGeom prst="straightConnector1">
            <a:avLst/>
          </a:prstGeom>
          <a:solidFill>
            <a:srgbClr val="DEE0E3">
              <a:alpha val="100000"/>
            </a:srgbClr>
          </a:solidFill>
          <a:ln w="25400" cmpd="sng" cap="flat">
            <a:solidFill>
              <a:srgbClr val="CBD5E1">
                <a:alpha val="100000"/>
              </a:srgbClr>
            </a:solidFill>
            <a:prstDash val="solid"/>
            <a:round/>
            <a:headEnd type="none" w="lg" len="lg"/>
            <a:tailEnd type="arrow" w="sm" len="sm"/>
          </a:ln>
        </p:spPr>
      </p:cxnSp>
      <p:sp>
        <p:nvSpPr>
          <p:cNvPr name="AutoShape 13" id="13"/>
          <p:cNvSpPr/>
          <p:nvPr/>
        </p:nvSpPr>
        <p:spPr>
          <a:xfrm rot="0" flipH="false" flipV="false">
            <a:off x="4572000" y="1651000"/>
            <a:ext cx="3556000" cy="4191000"/>
          </a:xfrm>
          <a:prstGeom prst="roundRect">
            <a:avLst>
              <a:gd name="adj" fmla="val 0"/>
            </a:avLst>
          </a:prstGeom>
          <a:solidFill>
            <a:srgbClr val="BFDBFE">
              <a:alpha val="50000"/>
            </a:srgbClr>
          </a:solidFill>
          <a:ln cmpd="sng" cap="flat">
            <a:solidFill>
              <a:srgbClr val="95B8E5">
                <a:alpha val="5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72000" y="1651000"/>
            <a:ext cx="3556000" cy="76200"/>
          </a:xfrm>
          <a:prstGeom prst="roundRect">
            <a:avLst>
              <a:gd name="adj" fmla="val 0"/>
            </a:avLst>
          </a:prstGeom>
          <a:solidFill>
            <a:srgbClr val="3B82F6">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4826000" y="1968500"/>
            <a:ext cx="508000" cy="508000"/>
          </a:xfrm>
          <a:prstGeom prst="rect">
            <a:avLst/>
          </a:prstGeom>
        </p:spPr>
      </p:pic>
      <p:sp>
        <p:nvSpPr>
          <p:cNvPr name="AutoShape 16" id="16"/>
          <p:cNvSpPr/>
          <p:nvPr/>
        </p:nvSpPr>
        <p:spPr>
          <a:xfrm rot="0" flipH="false" flipV="false">
            <a:off x="5461000" y="19685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3A8A"/>
                </a:solidFill>
                <a:latin typeface="Noto Sans SC"/>
                <a:ea typeface="Noto Sans SC"/>
                <a:cs typeface="Noto Sans SC"/>
                <a:sym typeface="Noto Sans SC"/>
              </a:rPr>
              <a:t>02 核心层：价值凝聚</a:t>
            </a:r>
            <a:endParaRPr lang="en-US" sz="1100"/>
          </a:p>
        </p:txBody>
      </p:sp>
      <p:cxnSp>
        <p:nvCxnSpPr>
          <p:cNvPr name="Connector 17" id="17"/>
          <p:cNvCxnSpPr/>
          <p:nvPr/>
        </p:nvCxnSpPr>
        <p:spPr>
          <a:xfrm rot="-14323" flipH="false" flipV="false">
            <a:off x="4826013" y="2787650"/>
            <a:ext cx="3048000" cy="12700"/>
          </a:xfrm>
          <a:prstGeom prst="straightConnector1">
            <a:avLst/>
          </a:prstGeom>
          <a:solidFill>
            <a:srgbClr val="DEE0E3">
              <a:alpha val="100000"/>
            </a:srgbClr>
          </a:solidFill>
          <a:ln w="12700" cmpd="sng" cap="flat">
            <a:solidFill>
              <a:srgbClr val="1D4ED8">
                <a:alpha val="20000"/>
              </a:srgbClr>
            </a:solidFill>
            <a:prstDash val="dash"/>
            <a:round/>
            <a:headEnd type="none" w="med" len="med"/>
            <a:tailEnd type="none" w="med" len="med"/>
          </a:ln>
        </p:spPr>
      </p:cxnSp>
      <p:sp>
        <p:nvSpPr>
          <p:cNvPr name="AutoShape 18" id="18"/>
          <p:cNvSpPr/>
          <p:nvPr/>
        </p:nvSpPr>
        <p:spPr>
          <a:xfrm rot="0" flipH="false" flipV="false">
            <a:off x="4762500" y="3048000"/>
            <a:ext cx="3175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4155"/>
                </a:solidFill>
                <a:latin typeface="Noto Sans SC"/>
                <a:ea typeface="Noto Sans SC"/>
                <a:cs typeface="Noto Sans SC"/>
                <a:sym typeface="Noto Sans SC"/>
              </a:rPr>
              <a:t>汇聚核心班底与忠实用户的共同体。</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75569"/>
                </a:solidFill>
                <a:latin typeface="Noto Sans SC"/>
                <a:ea typeface="Noto Sans SC"/>
                <a:cs typeface="Noto Sans SC"/>
                <a:sym typeface="Noto Sans SC"/>
              </a:rPr>
              <a:t>构建“十三钗+十八罗汉+多层经营者网络”的稳固架构，凝聚一群认同共同使命、践行系统价值的忠实用户，形成利益与信念的深度绑定。</a:t>
            </a:r>
          </a:p>
        </p:txBody>
      </p:sp>
      <p:sp>
        <p:nvSpPr>
          <p:cNvPr name="AutoShape 19" id="19"/>
          <p:cNvSpPr/>
          <p:nvPr/>
        </p:nvSpPr>
        <p:spPr>
          <a:xfrm rot="0" flipH="false" flipV="false">
            <a:off x="4762500" y="5207000"/>
            <a:ext cx="3175000" cy="508000"/>
          </a:xfrm>
          <a:prstGeom prst="roundRect">
            <a:avLst>
              <a:gd name="adj" fmla="val 0"/>
            </a:avLst>
          </a:prstGeom>
          <a:solidFill>
            <a:srgbClr val="1D4ED8">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826000" y="5270500"/>
            <a:ext cx="304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1D4ED8"/>
                </a:solidFill>
                <a:latin typeface="Noto Sans SC"/>
                <a:ea typeface="Noto Sans SC"/>
                <a:cs typeface="Noto Sans SC"/>
                <a:sym typeface="Noto Sans SC"/>
              </a:rPr>
              <a:t>强班底 · 高粘性 · 使命共担</a:t>
            </a:r>
            <a:endParaRPr lang="en-US" sz="1100"/>
          </a:p>
        </p:txBody>
      </p:sp>
      <p:cxnSp>
        <p:nvCxnSpPr>
          <p:cNvPr name="Connector 21" id="21"/>
          <p:cNvCxnSpPr/>
          <p:nvPr/>
        </p:nvCxnSpPr>
        <p:spPr>
          <a:xfrm rot="-228844" flipH="false" flipV="false">
            <a:off x="8318711" y="3740150"/>
            <a:ext cx="190500" cy="12700"/>
          </a:xfrm>
          <a:prstGeom prst="straightConnector1">
            <a:avLst/>
          </a:prstGeom>
          <a:solidFill>
            <a:srgbClr val="DEE0E3">
              <a:alpha val="100000"/>
            </a:srgbClr>
          </a:solidFill>
          <a:ln w="25400" cmpd="sng" cap="flat">
            <a:solidFill>
              <a:srgbClr val="CBD5E1">
                <a:alpha val="100000"/>
              </a:srgbClr>
            </a:solidFill>
            <a:prstDash val="solid"/>
            <a:round/>
            <a:headEnd type="none" w="lg" len="lg"/>
            <a:tailEnd type="arrow" w="sm" len="sm"/>
          </a:ln>
        </p:spPr>
      </p:cxnSp>
      <p:sp>
        <p:nvSpPr>
          <p:cNvPr name="AutoShape 22" id="22"/>
          <p:cNvSpPr/>
          <p:nvPr/>
        </p:nvSpPr>
        <p:spPr>
          <a:xfrm rot="0" flipH="false" flipV="false">
            <a:off x="8445500" y="1651000"/>
            <a:ext cx="3492500" cy="4191000"/>
          </a:xfrm>
          <a:prstGeom prst="roundRect">
            <a:avLst>
              <a:gd name="adj" fmla="val 0"/>
            </a:avLst>
          </a:prstGeom>
          <a:solidFill>
            <a:srgbClr val="93C5FD">
              <a:alpha val="60000"/>
            </a:srgbClr>
          </a:solidFill>
          <a:ln cmpd="sng" cap="flat">
            <a:solidFill>
              <a:srgbClr val="6DA5E4">
                <a:alpha val="6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445500" y="1651000"/>
            <a:ext cx="3492500" cy="76200"/>
          </a:xfrm>
          <a:prstGeom prst="roundRect">
            <a:avLst>
              <a:gd name="adj" fmla="val 0"/>
            </a:avLst>
          </a:prstGeom>
          <a:solidFill>
            <a:srgbClr val="1E40AF">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699500" y="1968500"/>
            <a:ext cx="508000" cy="508000"/>
          </a:xfrm>
          <a:prstGeom prst="rect">
            <a:avLst/>
          </a:prstGeom>
        </p:spPr>
      </p:pic>
      <p:sp>
        <p:nvSpPr>
          <p:cNvPr name="AutoShape 25" id="25"/>
          <p:cNvSpPr/>
          <p:nvPr/>
        </p:nvSpPr>
        <p:spPr>
          <a:xfrm rot="0" flipH="false" flipV="false">
            <a:off x="9334500" y="1968500"/>
            <a:ext cx="2476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E3A8A"/>
                </a:solidFill>
                <a:latin typeface="Noto Sans SC"/>
                <a:ea typeface="Noto Sans SC"/>
                <a:cs typeface="Noto Sans SC"/>
                <a:sym typeface="Noto Sans SC"/>
              </a:rPr>
              <a:t>03 终极层：系统共生</a:t>
            </a:r>
            <a:endParaRPr lang="en-US" sz="1100"/>
          </a:p>
        </p:txBody>
      </p:sp>
      <p:cxnSp>
        <p:nvCxnSpPr>
          <p:cNvPr name="Connector 26" id="26"/>
          <p:cNvCxnSpPr/>
          <p:nvPr/>
        </p:nvCxnSpPr>
        <p:spPr>
          <a:xfrm rot="-14628" flipH="false" flipV="false">
            <a:off x="8699514" y="2787650"/>
            <a:ext cx="2984500" cy="12700"/>
          </a:xfrm>
          <a:prstGeom prst="straightConnector1">
            <a:avLst/>
          </a:prstGeom>
          <a:solidFill>
            <a:srgbClr val="DEE0E3">
              <a:alpha val="100000"/>
            </a:srgbClr>
          </a:solidFill>
          <a:ln w="12700" cmpd="sng" cap="flat">
            <a:solidFill>
              <a:srgbClr val="1E40AF">
                <a:alpha val="20000"/>
              </a:srgbClr>
            </a:solidFill>
            <a:prstDash val="dash"/>
            <a:round/>
            <a:headEnd type="none" w="med" len="med"/>
            <a:tailEnd type="none" w="med" len="med"/>
          </a:ln>
        </p:spPr>
      </p:cxnSp>
      <p:sp>
        <p:nvSpPr>
          <p:cNvPr name="AutoShape 27" id="27"/>
          <p:cNvSpPr/>
          <p:nvPr/>
        </p:nvSpPr>
        <p:spPr>
          <a:xfrm rot="0" flipH="false" flipV="false">
            <a:off x="8636000" y="30480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500">
                <a:solidFill>
                  <a:srgbClr val="334155"/>
                </a:solidFill>
                <a:latin typeface="Noto Sans SC"/>
                <a:ea typeface="Noto Sans SC"/>
                <a:cs typeface="Noto Sans SC"/>
                <a:sym typeface="Noto Sans SC"/>
              </a:rPr>
              <a:t>构建去中心化的核心价值生态。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475569"/>
                </a:solidFill>
                <a:latin typeface="Noto Sans SC"/>
                <a:ea typeface="Noto Sans SC"/>
                <a:cs typeface="Noto Sans SC"/>
                <a:sym typeface="Noto Sans SC"/>
              </a:rPr>
              <a:t>建立不受单一平台约束的核心团队，MelBeacon作为系统之上的“配套设施”，为所有经营者提供完善的支持体系，实现人人可依靠、可共享的终极价值网络。</a:t>
            </a:r>
          </a:p>
        </p:txBody>
      </p:sp>
      <p:sp>
        <p:nvSpPr>
          <p:cNvPr name="AutoShape 28" id="28"/>
          <p:cNvSpPr/>
          <p:nvPr/>
        </p:nvSpPr>
        <p:spPr>
          <a:xfrm rot="0" flipH="false" flipV="false">
            <a:off x="8636000" y="5207000"/>
            <a:ext cx="3111500" cy="508000"/>
          </a:xfrm>
          <a:prstGeom prst="roundRect">
            <a:avLst>
              <a:gd name="adj" fmla="val 0"/>
            </a:avLst>
          </a:prstGeom>
          <a:solidFill>
            <a:srgbClr val="1E40A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699500" y="5270500"/>
            <a:ext cx="29845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300">
                <a:solidFill>
                  <a:srgbClr val="1E40AF"/>
                </a:solidFill>
                <a:latin typeface="Noto Sans SC"/>
                <a:ea typeface="Noto Sans SC"/>
                <a:cs typeface="Noto Sans SC"/>
                <a:sym typeface="Noto Sans SC"/>
              </a:rPr>
              <a:t>去中心化 · 系统支撑 · 生态繁荣</a:t>
            </a:r>
            <a:endParaRPr lang="en-US" sz="1100"/>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81C44">
                <a:alpha val="100000"/>
              </a:srgbClr>
            </a:gs>
            <a:gs pos="50000">
              <a:srgbClr val="0F2D5F">
                <a:alpha val="100000"/>
              </a:srgbClr>
            </a:gs>
            <a:gs pos="100000">
              <a:srgbClr val="051230">
                <a:alpha val="100000"/>
              </a:srgbClr>
            </a:gs>
          </a:gsLst>
          <a:lin ang="2700000"/>
        </a:gradFill>
      </p:bgPr>
    </p:bg>
    <p:spTree>
      <p:nvGrpSpPr>
        <p:cNvPr id="1" name=""/>
        <p:cNvGrpSpPr/>
        <p:nvPr/>
      </p:nvGrpSpPr>
      <p:grpSpPr>
        <a:xfrm>
          <a:off x="0" y="0"/>
          <a:ext cx="0" cy="0"/>
          <a:chOff x="0" y="0"/>
          <a:chExt cx="0" cy="0"/>
        </a:xfrm>
      </p:grpSpPr>
      <p:sp>
        <p:nvSpPr>
          <p:cNvPr name="AutoShape 2" id="2"/>
          <p:cNvSpPr/>
          <p:nvPr/>
        </p:nvSpPr>
        <p:spPr>
          <a:xfrm rot="0" flipH="false" flipV="false">
            <a:off x="-1905000" y="-1905000"/>
            <a:ext cx="7620000" cy="7620000"/>
          </a:xfrm>
          <a:prstGeom prst="ellipse">
            <a:avLst/>
          </a:prstGeom>
          <a:solidFill>
            <a:srgbClr val="FFFFFF">
              <a:alpha val="3000"/>
            </a:srgbClr>
          </a:solidFill>
          <a:ln cmpd="sng" cap="flat">
            <a:solidFill>
              <a:srgbClr val="E6CFCF">
                <a:alpha val="3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0" y="3175000"/>
            <a:ext cx="6350000" cy="6350000"/>
          </a:xfrm>
          <a:prstGeom prst="ellipse">
            <a:avLst/>
          </a:prstGeom>
          <a:solidFill>
            <a:srgbClr val="FFD700">
              <a:alpha val="3000"/>
            </a:srgbClr>
          </a:solidFill>
          <a:ln cmpd="sng" cap="flat">
            <a:solidFill>
              <a:srgbClr val="E6C100">
                <a:alpha val="3000"/>
              </a:srgbClr>
            </a:solid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1905000" y="1524000"/>
            <a:ext cx="76200" cy="76200"/>
          </a:xfrm>
          <a:prstGeom prst="ellipse">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0" y="2286000"/>
            <a:ext cx="50800" cy="50800"/>
          </a:xfrm>
          <a:prstGeom prst="ellipse">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270000" y="5080000"/>
            <a:ext cx="63500" cy="63500"/>
          </a:xfrm>
          <a:prstGeom prst="ellipse">
            <a:avLst/>
          </a:prstGeom>
          <a:solidFill>
            <a:srgbClr val="FFFFFF">
              <a:alpha val="2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0" flipH="false" flipV="false">
            <a:off x="5588000" y="1778000"/>
            <a:ext cx="1016000" cy="1016000"/>
          </a:xfrm>
          <a:prstGeom prst="rect">
            <a:avLst/>
          </a:prstGeom>
        </p:spPr>
      </p:pic>
      <p:sp>
        <p:nvSpPr>
          <p:cNvPr name="AutoShape 8" id="8"/>
          <p:cNvSpPr/>
          <p:nvPr/>
        </p:nvSpPr>
        <p:spPr>
          <a:xfrm rot="0" flipH="false" flipV="false">
            <a:off x="381000" y="3302000"/>
            <a:ext cx="11430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0000"/>
              </a:lnSpc>
              <a:defRPr/>
            </a:pPr>
            <a:r>
              <a:rPr lang="en-US" b="true" i="false" strike="noStrike" u="none" sz="4000">
                <a:solidFill>
                  <a:srgbClr val="FFFFFF"/>
                </a:solidFill>
                <a:latin typeface="Noto Sans SC"/>
                <a:ea typeface="Noto Sans SC"/>
                <a:cs typeface="Noto Sans SC"/>
                <a:sym typeface="Noto Sans SC"/>
              </a:rPr>
              <a:t>助人达成目标，共创美好未来</a:t>
            </a:r>
            <a:endParaRPr lang="en-US" sz="1100"/>
          </a:p>
        </p:txBody>
      </p:sp>
      <p:cxnSp>
        <p:nvCxnSpPr>
          <p:cNvPr name="Connector 9" id="9"/>
          <p:cNvCxnSpPr/>
          <p:nvPr/>
        </p:nvCxnSpPr>
        <p:spPr>
          <a:xfrm rot="-11459" flipH="false" flipV="false">
            <a:off x="4191011" y="4819650"/>
            <a:ext cx="3810000" cy="12700"/>
          </a:xfrm>
          <a:prstGeom prst="line">
            <a:avLst/>
          </a:prstGeom>
          <a:solidFill>
            <a:srgbClr val="DEE0E3">
              <a:alpha val="100000"/>
            </a:srgbClr>
          </a:solidFill>
          <a:ln w="12700" cmpd="sng" cap="flat">
            <a:solidFill>
              <a:srgbClr val="FFFFFF">
                <a:alpha val="30000"/>
              </a:srgbClr>
            </a:solidFill>
            <a:prstDash val="solid"/>
            <a:round/>
            <a:headEnd type="none" w="med" len="med"/>
            <a:tailEnd type="none" w="med" len="med"/>
          </a:ln>
        </p:spPr>
      </p:cxnSp>
      <p:sp>
        <p:nvSpPr>
          <p:cNvPr name="AutoShape 10" id="10"/>
          <p:cNvSpPr/>
          <p:nvPr/>
        </p:nvSpPr>
        <p:spPr>
          <a:xfrm rot="0" flipH="false" flipV="false">
            <a:off x="381000" y="5080000"/>
            <a:ext cx="1143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85098"/>
                  </a:srgbClr>
                </a:solidFill>
                <a:latin typeface="Noto Sans SC"/>
                <a:ea typeface="Noto Sans SC"/>
                <a:cs typeface="Noto Sans SC"/>
                <a:sym typeface="Noto Sans SC"/>
              </a:rPr>
              <a:t>—— 美乐家使命宣言</a:t>
            </a:r>
            <a:endParaRPr lang="en-US" sz="1100"/>
          </a:p>
        </p:txBody>
      </p:sp>
      <p:sp>
        <p:nvSpPr>
          <p:cNvPr name="AutoShape 11" id="11"/>
          <p:cNvSpPr/>
          <p:nvPr/>
        </p:nvSpPr>
        <p:spPr>
          <a:xfrm rot="0" flipH="false" flipV="false">
            <a:off x="0" y="6223000"/>
            <a:ext cx="12192000" cy="635000"/>
          </a:xfrm>
          <a:prstGeom prst="roundRect">
            <a:avLst>
              <a:gd name="adj" fmla="val 0"/>
            </a:avLst>
          </a:prstGeom>
          <a:solidFill>
            <a:srgbClr val="000000">
              <a:alpha val="20000"/>
            </a:srgbClr>
          </a:solidFill>
          <a:ln cmpd="sng" cap="flat">
            <a:solidFill>
              <a:srgbClr val="000000">
                <a:alpha val="2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0" y="62865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60000"/>
                  </a:srgbClr>
                </a:solidFill>
                <a:latin typeface="Noto Sans SC"/>
                <a:ea typeface="Noto Sans SC"/>
                <a:cs typeface="Noto Sans SC"/>
                <a:sym typeface="Noto Sans SC"/>
              </a:rPr>
              <a:t>MelBeacon Division By Peak Team —— 出自巅峰系统的灯塔团队</a:t>
            </a:r>
            <a:endParaRPr lang="en-US" sz="1100"/>
          </a:p>
        </p:txBody>
      </p:sp>
      <p:pic>
        <p:nvPicPr>
          <p:cNvPr name="Picture 13" id="13"/>
          <p:cNvPicPr>
            <a:picLocks noChangeAspect="true"/>
          </p:cNvPicPr>
          <p:nvPr/>
        </p:nvPicPr>
        <p:blipFill>
          <a:blip r:embed="rId5"/>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{"Label":"1","ContentProducer":"001191110102MACQD9K64010000","ProduceID":"7656679765692271836","ReservedCode1":"","ContentPropagator":"","PropagateID":"","ReservedCode2":""}</vt:lpwstr>
  </property>
</Properties>
</file>