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0" autoAdjust="0"/>
    <p:restoredTop sz="94660"/>
  </p:normalViewPr>
  <p:slideViewPr>
    <p:cSldViewPr snapToGrid="0">
      <p:cViewPr varScale="1">
        <p:scale>
          <a:sx n="89" d="100"/>
          <a:sy n="89" d="100"/>
        </p:scale>
        <p:origin x="65" y="1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131DFA-397F-42BE-A5EC-209937DFD76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5F98ECB-684C-4F5D-A8CE-1A8589060B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4A21273-802E-461B-BC45-ED5B9ABEDBC5}"/>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5" name="页脚占位符 4">
            <a:extLst>
              <a:ext uri="{FF2B5EF4-FFF2-40B4-BE49-F238E27FC236}">
                <a16:creationId xmlns:a16="http://schemas.microsoft.com/office/drawing/2014/main" id="{8AAB57F1-AA67-4DDA-9ADE-116D9953C6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B8366D-D715-4BFF-A450-159D61D9CF38}"/>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1640719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82250-63A6-441B-9B1C-43D69261997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9729635-6A65-4711-AF23-00D9578ED76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813F488-C13D-4BEC-A07C-E43756524088}"/>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5" name="页脚占位符 4">
            <a:extLst>
              <a:ext uri="{FF2B5EF4-FFF2-40B4-BE49-F238E27FC236}">
                <a16:creationId xmlns:a16="http://schemas.microsoft.com/office/drawing/2014/main" id="{07D35EF5-0FD8-4A1A-9B63-EF916ED3D3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9FAD802-5E95-4D78-A3A2-5C61470B3541}"/>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3112293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21D14F-9D6A-44A8-B6F1-6AB5AF7844A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1C74E2F-524C-4471-BC47-1CC3EDAA02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73AE1A7-BE4E-4F8F-A156-4DD04BAEAEE1}"/>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5" name="页脚占位符 4">
            <a:extLst>
              <a:ext uri="{FF2B5EF4-FFF2-40B4-BE49-F238E27FC236}">
                <a16:creationId xmlns:a16="http://schemas.microsoft.com/office/drawing/2014/main" id="{0DC9B5E3-179B-41D3-AC20-EDE1674A4A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85FB4E-949E-413E-B635-39DEEA3050AD}"/>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663732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9BD19-C315-481E-9DDC-DE3A4DB88A1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6F2AB6-0E05-4FE6-AD59-B36C23F2FD9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B04B6B2-7F06-4CD9-A045-49FFF2F34E0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C805E6F-F07A-4D9D-9240-92880E6112AC}"/>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6" name="页脚占位符 5">
            <a:extLst>
              <a:ext uri="{FF2B5EF4-FFF2-40B4-BE49-F238E27FC236}">
                <a16:creationId xmlns:a16="http://schemas.microsoft.com/office/drawing/2014/main" id="{6467F4AE-BCAC-4C7A-B124-8E59668805F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B206FFE-2FF2-4D87-ABD5-093230B0C5D7}"/>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4076547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BB1E43-51CE-4B4F-A6E5-62E1C215C75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2C91C4-D92F-4F81-936B-C1B2C239BC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FA16509-52B2-4ECD-958B-AF619297ED4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D00477F-CFC0-405C-9DE0-42AD09AEC1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143EC74-08BB-483E-B399-E89A4B72AC0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9CA6272-FC86-4B15-AA88-D061DBF1CB17}"/>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8" name="页脚占位符 7">
            <a:extLst>
              <a:ext uri="{FF2B5EF4-FFF2-40B4-BE49-F238E27FC236}">
                <a16:creationId xmlns:a16="http://schemas.microsoft.com/office/drawing/2014/main" id="{0565F20B-F471-4184-93C0-6BDB4599F6C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BED2287-09CB-4D24-A870-1704ED0DCDB0}"/>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1417094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F87AE-D398-4627-9A27-87464EA015A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5CEEC0A-6DE0-4EC2-9E1D-EFB7941A8940}"/>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4" name="页脚占位符 3">
            <a:extLst>
              <a:ext uri="{FF2B5EF4-FFF2-40B4-BE49-F238E27FC236}">
                <a16:creationId xmlns:a16="http://schemas.microsoft.com/office/drawing/2014/main" id="{912407BE-60FB-4218-A559-94E758A136E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685B9E3-303D-4EF3-9049-E4DE4226AF18}"/>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643585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A0B59DC-B3CD-4B7E-B9EA-9D6B8749B040}"/>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3" name="页脚占位符 2">
            <a:extLst>
              <a:ext uri="{FF2B5EF4-FFF2-40B4-BE49-F238E27FC236}">
                <a16:creationId xmlns:a16="http://schemas.microsoft.com/office/drawing/2014/main" id="{D15A5E57-D10F-4762-908A-7B7E8085125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725FEAA-BFF8-4A38-A19B-713C39F2EA2E}"/>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1371265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A2CE0F-CD89-451B-ADB2-43A704E9BAB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18B887F-E385-4814-9FA4-F38C95CEF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B73D968-013A-49EA-AEBA-802ED1068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4C5F194-934A-4BC6-B228-9BEBA14A8E80}"/>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6" name="页脚占位符 5">
            <a:extLst>
              <a:ext uri="{FF2B5EF4-FFF2-40B4-BE49-F238E27FC236}">
                <a16:creationId xmlns:a16="http://schemas.microsoft.com/office/drawing/2014/main" id="{DD709664-30AD-4D12-9CF0-FC062D2A49B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1494B4-9270-4118-8F3D-A726181B803B}"/>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1234919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D4C51C-5879-4124-85A1-8309C10135B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FC79A41-6AC6-4DCB-A5F0-F212484FAA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C95719C-96CF-4555-8F7B-0ECE38C1A4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9B3144-D742-466C-904C-C111C49FD54F}"/>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6" name="页脚占位符 5">
            <a:extLst>
              <a:ext uri="{FF2B5EF4-FFF2-40B4-BE49-F238E27FC236}">
                <a16:creationId xmlns:a16="http://schemas.microsoft.com/office/drawing/2014/main" id="{15EA56FD-5F63-463B-B206-D69429B37F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BC62B2E-4F4B-4210-828B-6E62DC283B7F}"/>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2192562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FD2B6C-E06E-4828-B790-B9F5450A06C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8BFB66B-D3DC-490B-9D76-F69C1066B7D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918CD8C-DC55-4C45-8B31-5A2B86005A34}"/>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5" name="页脚占位符 4">
            <a:extLst>
              <a:ext uri="{FF2B5EF4-FFF2-40B4-BE49-F238E27FC236}">
                <a16:creationId xmlns:a16="http://schemas.microsoft.com/office/drawing/2014/main" id="{2DD9A58E-E2A8-41BD-B4BC-D2EE216AE1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8B01AC-2DBC-45CB-926A-356DFC4760F8}"/>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308961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04D546F-B837-43AA-83FD-026EE8031FF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CDDEFEA-6BB0-4E41-8E54-FDE6DE3E57E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BE07BF-81EF-49C7-8EE5-29589F5FD715}"/>
              </a:ext>
            </a:extLst>
          </p:cNvPr>
          <p:cNvSpPr>
            <a:spLocks noGrp="1"/>
          </p:cNvSpPr>
          <p:nvPr>
            <p:ph type="dt" sz="half" idx="10"/>
          </p:nvPr>
        </p:nvSpPr>
        <p:spPr/>
        <p:txBody>
          <a:bodyPr/>
          <a:lstStyle/>
          <a:p>
            <a:fld id="{F06E1033-4E75-4791-9513-777DA0D599B6}" type="datetimeFigureOut">
              <a:rPr lang="zh-CN" altLang="en-US" smtClean="0"/>
              <a:t>2022/2/3</a:t>
            </a:fld>
            <a:endParaRPr lang="zh-CN" altLang="en-US"/>
          </a:p>
        </p:txBody>
      </p:sp>
      <p:sp>
        <p:nvSpPr>
          <p:cNvPr id="5" name="页脚占位符 4">
            <a:extLst>
              <a:ext uri="{FF2B5EF4-FFF2-40B4-BE49-F238E27FC236}">
                <a16:creationId xmlns:a16="http://schemas.microsoft.com/office/drawing/2014/main" id="{F1C57304-625C-4E58-BE09-0378BB22D6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5E2BD4-F652-4C4B-B8CD-EF557AF81F1B}"/>
              </a:ext>
            </a:extLst>
          </p:cNvPr>
          <p:cNvSpPr>
            <a:spLocks noGrp="1"/>
          </p:cNvSpPr>
          <p:nvPr>
            <p:ph type="sldNum" sz="quarter" idx="12"/>
          </p:nvPr>
        </p:nvSpPr>
        <p:spPr/>
        <p:txBody>
          <a:body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815871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72BFBA-529D-4C72-BADB-4172914D8F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71BBF34-BC33-42AA-BA99-BB9CE2415F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66405F-3245-4C01-8F0E-FE0727FC16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6E1033-4E75-4791-9513-777DA0D599B6}" type="datetimeFigureOut">
              <a:rPr lang="zh-CN" altLang="en-US" smtClean="0"/>
              <a:t>2022/2/3</a:t>
            </a:fld>
            <a:endParaRPr lang="zh-CN" altLang="en-US"/>
          </a:p>
        </p:txBody>
      </p:sp>
      <p:sp>
        <p:nvSpPr>
          <p:cNvPr id="5" name="页脚占位符 4">
            <a:extLst>
              <a:ext uri="{FF2B5EF4-FFF2-40B4-BE49-F238E27FC236}">
                <a16:creationId xmlns:a16="http://schemas.microsoft.com/office/drawing/2014/main" id="{F2B8645F-795C-4356-BB20-2DCF45AB1B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816EB06-7F5B-4D2B-B109-4B27C58149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DD3062-29F2-422F-A4DC-C93861E2E5D4}" type="slidenum">
              <a:rPr lang="zh-CN" altLang="en-US" smtClean="0"/>
              <a:t>‹#›</a:t>
            </a:fld>
            <a:endParaRPr lang="zh-CN" altLang="en-US"/>
          </a:p>
        </p:txBody>
      </p:sp>
    </p:spTree>
    <p:extLst>
      <p:ext uri="{BB962C8B-B14F-4D97-AF65-F5344CB8AC3E}">
        <p14:creationId xmlns:p14="http://schemas.microsoft.com/office/powerpoint/2010/main" val="1858811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aike.baidu.com/item/%E4%BA%BA%E5%B7%A5%E6%99%BA%E8%83%BD/9180" TargetMode="External"/><Relationship Id="rId2" Type="http://schemas.openxmlformats.org/officeDocument/2006/relationships/hyperlink" Target="https://baike.baidu.com/item/%E5%A4%A7%E6%95%B0%E6%8D%AE/1356941" TargetMode="External"/><Relationship Id="rId1" Type="http://schemas.openxmlformats.org/officeDocument/2006/relationships/slideLayout" Target="../slideLayouts/slideLayout1.xml"/><Relationship Id="rId4" Type="http://schemas.openxmlformats.org/officeDocument/2006/relationships/hyperlink" Target="https://baike.baidu.com/item/%E6%99%BA%E8%83%BD%E7%BB%88%E7%AB%AF/1014715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9FBFA68-83B3-4833-9FD0-855AB8FBA04A}"/>
              </a:ext>
            </a:extLst>
          </p:cNvPr>
          <p:cNvSpPr txBox="1"/>
          <p:nvPr/>
        </p:nvSpPr>
        <p:spPr>
          <a:xfrm>
            <a:off x="97168" y="1770072"/>
            <a:ext cx="11997664" cy="4801314"/>
          </a:xfrm>
          <a:prstGeom prst="rect">
            <a:avLst/>
          </a:prstGeom>
          <a:noFill/>
        </p:spPr>
        <p:txBody>
          <a:bodyPr wrap="square" rtlCol="0">
            <a:spAutoFit/>
          </a:bodyPr>
          <a:lstStyle/>
          <a:p>
            <a:r>
              <a:rPr lang="zh-CN" altLang="en-US" dirty="0"/>
              <a:t>新零售：</a:t>
            </a:r>
            <a:r>
              <a:rPr lang="zh-CN" altLang="en-US" b="0" i="0" dirty="0">
                <a:solidFill>
                  <a:srgbClr val="333333"/>
                </a:solidFill>
                <a:effectLst/>
                <a:latin typeface="Helvetica Neue"/>
              </a:rPr>
              <a:t>企业以互联网为依托，通过运用</a:t>
            </a:r>
            <a:r>
              <a:rPr lang="zh-CN" altLang="en-US" b="0" i="0" u="none" strike="noStrike" dirty="0">
                <a:solidFill>
                  <a:srgbClr val="FF0000"/>
                </a:solidFill>
                <a:effectLst/>
                <a:latin typeface="Helvetica Neue"/>
                <a:hlinkClick r:id="rId2">
                  <a:extLst>
                    <a:ext uri="{A12FA001-AC4F-418D-AE19-62706E023703}">
                      <ahyp:hlinkClr xmlns:ahyp="http://schemas.microsoft.com/office/drawing/2018/hyperlinkcolor" val="tx"/>
                    </a:ext>
                  </a:extLst>
                </a:hlinkClick>
              </a:rPr>
              <a:t>大数据</a:t>
            </a:r>
            <a:r>
              <a:rPr lang="zh-CN" altLang="en-US" b="0" i="0" dirty="0">
                <a:solidFill>
                  <a:srgbClr val="FF0000"/>
                </a:solidFill>
                <a:effectLst/>
                <a:latin typeface="Helvetica Neue"/>
              </a:rPr>
              <a:t>、</a:t>
            </a:r>
            <a:r>
              <a:rPr lang="zh-CN" altLang="en-US" b="0" i="0" u="none" strike="noStrike" dirty="0">
                <a:solidFill>
                  <a:srgbClr val="FF0000"/>
                </a:solidFill>
                <a:effectLst/>
                <a:latin typeface="Helvetica Neue"/>
                <a:hlinkClick r:id="rId3">
                  <a:extLst>
                    <a:ext uri="{A12FA001-AC4F-418D-AE19-62706E023703}">
                      <ahyp:hlinkClr xmlns:ahyp="http://schemas.microsoft.com/office/drawing/2018/hyperlinkcolor" val="tx"/>
                    </a:ext>
                  </a:extLst>
                </a:hlinkClick>
              </a:rPr>
              <a:t>人工智能</a:t>
            </a:r>
            <a:r>
              <a:rPr lang="zh-CN" altLang="en-US" b="0" i="0" dirty="0">
                <a:solidFill>
                  <a:srgbClr val="333333"/>
                </a:solidFill>
                <a:effectLst/>
                <a:latin typeface="Helvetica Neue"/>
              </a:rPr>
              <a:t>等先进技术手段，对商品的生产、流通与销售过程进行升级改造，进而重塑业态结构与生态圈，并对</a:t>
            </a:r>
            <a:r>
              <a:rPr lang="zh-CN" altLang="en-US" b="0" i="0" dirty="0">
                <a:solidFill>
                  <a:srgbClr val="FF0000"/>
                </a:solidFill>
                <a:effectLst/>
                <a:latin typeface="Helvetica Neue"/>
              </a:rPr>
              <a:t>线上服务、线下体验以及现代物流进行</a:t>
            </a:r>
            <a:r>
              <a:rPr lang="zh-CN" altLang="en-US" b="0" i="0" dirty="0">
                <a:solidFill>
                  <a:srgbClr val="333333"/>
                </a:solidFill>
                <a:effectLst/>
                <a:latin typeface="Helvetica Neue"/>
              </a:rPr>
              <a:t>深度融合的零售新模式。</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dirty="0"/>
              <a:t>新零售的成因：</a:t>
            </a:r>
            <a:endParaRPr lang="en-US" altLang="zh-CN" dirty="0"/>
          </a:p>
          <a:p>
            <a:r>
              <a:rPr lang="en-US" altLang="zh-CN" b="0" i="0" dirty="0">
                <a:solidFill>
                  <a:srgbClr val="333333"/>
                </a:solidFill>
                <a:effectLst/>
                <a:latin typeface="Helvetica Neue"/>
              </a:rPr>
              <a:t>1</a:t>
            </a:r>
            <a:r>
              <a:rPr lang="zh-CN" altLang="en-US" b="0" i="0" dirty="0">
                <a:solidFill>
                  <a:srgbClr val="333333"/>
                </a:solidFill>
                <a:effectLst/>
                <a:latin typeface="Helvetica Neue"/>
              </a:rPr>
              <a:t>）线上零售遭遇天花板</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虽然线上零售一段时期以来替代了传统零售的功能，但从两大电商平台，天猫和京东的获客成本可以看出，电商的线上流量红利见顶；与此同时线下边际获客成本几乎不变，且实体零售进入整改关键期，因此导致的线下渠道价值正面临重估。</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2</a:t>
            </a:r>
            <a:r>
              <a:rPr lang="zh-CN" altLang="en-US" b="0" i="0" dirty="0">
                <a:solidFill>
                  <a:srgbClr val="333333"/>
                </a:solidFill>
                <a:effectLst/>
                <a:latin typeface="Helvetica Neue"/>
              </a:rPr>
              <a:t>）移动支付等新技术开拓了线下场景</a:t>
            </a:r>
            <a:r>
              <a:rPr lang="zh-CN" altLang="en-US" b="0" i="0" u="none" strike="noStrike" dirty="0">
                <a:solidFill>
                  <a:srgbClr val="136EC2"/>
                </a:solidFill>
                <a:effectLst/>
                <a:latin typeface="Helvetica Neue"/>
                <a:hlinkClick r:id="rId4"/>
              </a:rPr>
              <a:t>智能终端</a:t>
            </a:r>
            <a:r>
              <a:rPr lang="zh-CN" altLang="en-US" b="0" i="0" dirty="0">
                <a:solidFill>
                  <a:srgbClr val="333333"/>
                </a:solidFill>
                <a:effectLst/>
                <a:latin typeface="Helvetica Neue"/>
              </a:rPr>
              <a:t>的普及，以及由此带来的移动支付、大数据、虚拟现实等技术革新，进一步开拓了线下场景和</a:t>
            </a:r>
            <a:r>
              <a:rPr lang="zh-CN" altLang="en-US" b="0" i="0" dirty="0">
                <a:solidFill>
                  <a:srgbClr val="FF0000"/>
                </a:solidFill>
                <a:effectLst/>
                <a:latin typeface="Helvetica Neue"/>
              </a:rPr>
              <a:t>消费社交</a:t>
            </a:r>
            <a:r>
              <a:rPr lang="zh-CN" altLang="en-US" b="0" i="0" dirty="0">
                <a:solidFill>
                  <a:srgbClr val="333333"/>
                </a:solidFill>
                <a:effectLst/>
                <a:latin typeface="Helvetica Neue"/>
              </a:rPr>
              <a:t>，让消费不再受时间和空间制约。</a:t>
            </a:r>
            <a:endParaRPr lang="en-US" altLang="zh-CN" dirty="0">
              <a:solidFill>
                <a:srgbClr val="333333"/>
              </a:solidFill>
              <a:latin typeface="Helvetica Neue"/>
            </a:endParaRPr>
          </a:p>
          <a:p>
            <a:pPr algn="l"/>
            <a:r>
              <a:rPr lang="en-US" altLang="zh-CN" b="0" i="0" dirty="0">
                <a:solidFill>
                  <a:srgbClr val="333333"/>
                </a:solidFill>
                <a:effectLst/>
                <a:latin typeface="Helvetica Neue"/>
              </a:rPr>
              <a:t>3</a:t>
            </a:r>
            <a:r>
              <a:rPr lang="zh-CN" altLang="en-US" b="0" i="0" dirty="0">
                <a:solidFill>
                  <a:srgbClr val="333333"/>
                </a:solidFill>
                <a:effectLst/>
                <a:latin typeface="Helvetica Neue"/>
              </a:rPr>
              <a:t>）新中产阶级崛起</a:t>
            </a:r>
          </a:p>
          <a:p>
            <a:pPr algn="l"/>
            <a:r>
              <a:rPr lang="zh-CN" altLang="en-US" b="0" i="0" dirty="0">
                <a:solidFill>
                  <a:srgbClr val="333333"/>
                </a:solidFill>
                <a:effectLst/>
                <a:latin typeface="Helvetica Neue"/>
              </a:rPr>
              <a:t>新中产阶级画像：</a:t>
            </a:r>
            <a:r>
              <a:rPr lang="en-US" altLang="zh-CN" b="0" i="0" dirty="0">
                <a:solidFill>
                  <a:srgbClr val="333333"/>
                </a:solidFill>
                <a:effectLst/>
                <a:latin typeface="Helvetica Neue"/>
              </a:rPr>
              <a:t>80/90</a:t>
            </a:r>
            <a:r>
              <a:rPr lang="zh-CN" altLang="en-US" b="0" i="0" dirty="0">
                <a:solidFill>
                  <a:srgbClr val="333333"/>
                </a:solidFill>
                <a:effectLst/>
                <a:latin typeface="Helvetica Neue"/>
              </a:rPr>
              <a:t>后、接受过高等教育、追求自我提升，逐渐成为社会的中流砥柱。</a:t>
            </a:r>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新中产消费观的最大特征：理性化倾向明显。相较于价格，他们在意</a:t>
            </a:r>
            <a:r>
              <a:rPr lang="zh-CN" altLang="en-US" b="0" i="0" dirty="0">
                <a:solidFill>
                  <a:srgbClr val="FF0000"/>
                </a:solidFill>
                <a:effectLst/>
                <a:latin typeface="Helvetica Neue"/>
              </a:rPr>
              <a:t>质量以及相应的性价比</a:t>
            </a:r>
            <a:r>
              <a:rPr lang="zh-CN" altLang="en-US" b="0" i="0" dirty="0">
                <a:solidFill>
                  <a:srgbClr val="333333"/>
                </a:solidFill>
                <a:effectLst/>
                <a:latin typeface="Helvetica Neue"/>
              </a:rPr>
              <a:t>，对于高质量的商品和服务，他们愿意为之付出更高的代价。不菲的收入与体面的工作给中产带来片刻的欣慰，但不安与焦虑才是中产光鲜外表下最戳心的痛点，</a:t>
            </a:r>
            <a:r>
              <a:rPr lang="zh-CN" altLang="en-US" b="0" i="0" dirty="0">
                <a:solidFill>
                  <a:srgbClr val="FF0000"/>
                </a:solidFill>
                <a:effectLst/>
                <a:latin typeface="Helvetica Neue"/>
              </a:rPr>
              <a:t>消费升级</a:t>
            </a:r>
            <a:r>
              <a:rPr lang="zh-CN" altLang="en-US" b="0" i="0" dirty="0">
                <a:solidFill>
                  <a:srgbClr val="333333"/>
                </a:solidFill>
                <a:effectLst/>
                <a:latin typeface="Helvetica Neue"/>
              </a:rPr>
              <a:t>或许正是他们面对这种焦虑选择的解决方案。</a:t>
            </a:r>
          </a:p>
          <a:p>
            <a:endParaRPr lang="zh-CN" altLang="en-US" dirty="0"/>
          </a:p>
        </p:txBody>
      </p:sp>
      <p:sp>
        <p:nvSpPr>
          <p:cNvPr id="6" name="文本框 5">
            <a:extLst>
              <a:ext uri="{FF2B5EF4-FFF2-40B4-BE49-F238E27FC236}">
                <a16:creationId xmlns:a16="http://schemas.microsoft.com/office/drawing/2014/main" id="{EB27A210-CBF9-4EF2-A54C-950E0D7FADD8}"/>
              </a:ext>
            </a:extLst>
          </p:cNvPr>
          <p:cNvSpPr txBox="1"/>
          <p:nvPr/>
        </p:nvSpPr>
        <p:spPr>
          <a:xfrm>
            <a:off x="97168" y="343666"/>
            <a:ext cx="7352021" cy="646331"/>
          </a:xfrm>
          <a:prstGeom prst="rect">
            <a:avLst/>
          </a:prstGeom>
          <a:noFill/>
        </p:spPr>
        <p:txBody>
          <a:bodyPr wrap="square" rtlCol="0">
            <a:spAutoFit/>
          </a:bodyPr>
          <a:lstStyle/>
          <a:p>
            <a:r>
              <a:rPr lang="zh-CN" altLang="en-US" dirty="0"/>
              <a:t>美乐家是什么？经营者的身份定位？</a:t>
            </a:r>
            <a:endParaRPr lang="en-US" altLang="zh-CN" dirty="0"/>
          </a:p>
          <a:p>
            <a:r>
              <a:rPr lang="zh-CN" altLang="en-US" dirty="0"/>
              <a:t>我是做新零售共生企业群的。</a:t>
            </a:r>
          </a:p>
        </p:txBody>
      </p:sp>
    </p:spTree>
    <p:extLst>
      <p:ext uri="{BB962C8B-B14F-4D97-AF65-F5344CB8AC3E}">
        <p14:creationId xmlns:p14="http://schemas.microsoft.com/office/powerpoint/2010/main" val="315839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610F356-6E66-4171-A5C0-E5AB844D4E07}"/>
              </a:ext>
            </a:extLst>
          </p:cNvPr>
          <p:cNvSpPr txBox="1"/>
          <p:nvPr/>
        </p:nvSpPr>
        <p:spPr>
          <a:xfrm>
            <a:off x="98191" y="202517"/>
            <a:ext cx="12022212" cy="6740307"/>
          </a:xfrm>
          <a:prstGeom prst="rect">
            <a:avLst/>
          </a:prstGeom>
          <a:noFill/>
        </p:spPr>
        <p:txBody>
          <a:bodyPr wrap="square" rtlCol="0">
            <a:spAutoFit/>
          </a:bodyPr>
          <a:lstStyle/>
          <a:p>
            <a:r>
              <a:rPr lang="zh-CN" altLang="en-US" dirty="0"/>
              <a:t>新零售的</a:t>
            </a:r>
            <a:r>
              <a:rPr lang="en-US" altLang="zh-CN" dirty="0"/>
              <a:t>4</a:t>
            </a:r>
            <a:r>
              <a:rPr lang="zh-CN" altLang="en-US" dirty="0"/>
              <a:t>大特征：</a:t>
            </a:r>
            <a:endParaRPr lang="en-US" altLang="zh-CN" dirty="0"/>
          </a:p>
          <a:p>
            <a:endParaRPr lang="en-US" altLang="zh-CN" dirty="0"/>
          </a:p>
          <a:p>
            <a:r>
              <a:rPr lang="zh-CN" altLang="en-US" dirty="0"/>
              <a:t>生态型：</a:t>
            </a:r>
            <a:r>
              <a:rPr lang="zh-CN" altLang="en-US" b="0" i="0" dirty="0">
                <a:solidFill>
                  <a:srgbClr val="333333"/>
                </a:solidFill>
                <a:effectLst/>
                <a:latin typeface="Helvetica Neue"/>
              </a:rPr>
              <a:t>“新零售”的商业生态构建将涵盖网上页面、实体店面、支付终端、数据体系、物流平台、营销路径等诸多方面，并嵌入购物、娱乐、阅读、学习等多元化功能，进而推动企业线上服务、线下体验、金融支持、物流支撑等四大能力的全面提升，</a:t>
            </a:r>
            <a:r>
              <a:rPr lang="zh-CN" altLang="en-US" b="0" i="0" dirty="0">
                <a:solidFill>
                  <a:srgbClr val="FF0000"/>
                </a:solidFill>
                <a:effectLst/>
                <a:latin typeface="Helvetica Neue"/>
              </a:rPr>
              <a:t>使消费者对购物过程便利性与舒适性的要求能够得到更好满足，并由此增加用户粘性</a:t>
            </a:r>
            <a:r>
              <a:rPr lang="zh-CN" altLang="en-US" b="0" i="0" dirty="0">
                <a:solidFill>
                  <a:srgbClr val="333333"/>
                </a:solidFill>
                <a:effectLst/>
                <a:latin typeface="Helvetica Neue"/>
              </a:rPr>
              <a:t>。（回购率</a:t>
            </a:r>
            <a:r>
              <a:rPr lang="en-US" altLang="zh-CN" b="0" i="0" dirty="0">
                <a:solidFill>
                  <a:srgbClr val="333333"/>
                </a:solidFill>
                <a:effectLst/>
                <a:latin typeface="Helvetica Neue"/>
              </a:rPr>
              <a:t>95%</a:t>
            </a:r>
            <a:r>
              <a:rPr lang="zh-CN" altLang="en-US" b="0" i="0" dirty="0">
                <a:solidFill>
                  <a:srgbClr val="333333"/>
                </a:solidFill>
                <a:effectLst/>
                <a:latin typeface="Helvetica Neue"/>
              </a:rPr>
              <a:t>的底层逻辑重塑在行业生态形式上）</a:t>
            </a:r>
            <a:endParaRPr lang="en-US" altLang="zh-CN" b="0" i="0" dirty="0">
              <a:solidFill>
                <a:srgbClr val="333333"/>
              </a:solidFill>
              <a:effectLst/>
              <a:latin typeface="Helvetica Neue"/>
            </a:endParaRPr>
          </a:p>
          <a:p>
            <a:endParaRPr lang="en-US" altLang="zh-CN" dirty="0"/>
          </a:p>
          <a:p>
            <a:r>
              <a:rPr lang="zh-CN" altLang="en-US" dirty="0"/>
              <a:t>无界化：</a:t>
            </a:r>
            <a:r>
              <a:rPr lang="zh-CN" altLang="en-US" b="0" i="0" dirty="0">
                <a:solidFill>
                  <a:srgbClr val="333333"/>
                </a:solidFill>
                <a:effectLst/>
                <a:latin typeface="Helvetica Neue"/>
              </a:rPr>
              <a:t>企业通过对</a:t>
            </a:r>
            <a:r>
              <a:rPr lang="zh-CN" altLang="en-US" b="0" i="0" dirty="0">
                <a:solidFill>
                  <a:srgbClr val="FF0000"/>
                </a:solidFill>
                <a:effectLst/>
                <a:latin typeface="Helvetica Neue"/>
              </a:rPr>
              <a:t>线上与线下平台</a:t>
            </a:r>
            <a:r>
              <a:rPr lang="zh-CN" altLang="en-US" b="0" i="0" dirty="0">
                <a:solidFill>
                  <a:srgbClr val="333333"/>
                </a:solidFill>
                <a:effectLst/>
                <a:latin typeface="Helvetica Neue"/>
              </a:rPr>
              <a:t>、</a:t>
            </a:r>
            <a:r>
              <a:rPr lang="zh-CN" altLang="en-US" b="0" i="0" dirty="0">
                <a:solidFill>
                  <a:srgbClr val="FF0000"/>
                </a:solidFill>
                <a:effectLst/>
                <a:latin typeface="Helvetica Neue"/>
              </a:rPr>
              <a:t>有形与无形资源</a:t>
            </a:r>
            <a:r>
              <a:rPr lang="zh-CN" altLang="en-US" b="0" i="0" dirty="0">
                <a:solidFill>
                  <a:srgbClr val="333333"/>
                </a:solidFill>
                <a:effectLst/>
                <a:latin typeface="Helvetica Neue"/>
              </a:rPr>
              <a:t>进行高效整合，以</a:t>
            </a:r>
            <a:r>
              <a:rPr lang="zh-CN" altLang="en-US" b="0" i="0" dirty="0">
                <a:solidFill>
                  <a:srgbClr val="FF0000"/>
                </a:solidFill>
                <a:effectLst/>
                <a:latin typeface="Helvetica Neue"/>
              </a:rPr>
              <a:t>“全渠道”</a:t>
            </a:r>
            <a:r>
              <a:rPr lang="zh-CN" altLang="en-US" b="0" i="0" dirty="0">
                <a:solidFill>
                  <a:srgbClr val="333333"/>
                </a:solidFill>
                <a:effectLst/>
                <a:latin typeface="Helvetica Neue"/>
              </a:rPr>
              <a:t>方式清除各零售渠道间的种种壁垒，模糊经营过程中各个主体的既有界限，打破过去传统经营模式下所存在的时空边界、产品边界等现实阻隔。（生活馆、官网、微信小程序）（</a:t>
            </a:r>
            <a:r>
              <a:rPr lang="en-US" altLang="zh-CN" b="0" i="0" dirty="0">
                <a:solidFill>
                  <a:srgbClr val="333333"/>
                </a:solidFill>
                <a:effectLst/>
                <a:latin typeface="Helvetica Neue"/>
              </a:rPr>
              <a:t>CDM</a:t>
            </a:r>
            <a:r>
              <a:rPr lang="zh-CN" altLang="en-US" b="0" i="0" dirty="0">
                <a:solidFill>
                  <a:srgbClr val="333333"/>
                </a:solidFill>
                <a:effectLst/>
                <a:latin typeface="Helvetica Neue"/>
              </a:rPr>
              <a:t>消费者直购系统就是一种全渠道的零售尝试，</a:t>
            </a:r>
            <a:r>
              <a:rPr lang="en-US" altLang="zh-CN" b="0" i="0" dirty="0">
                <a:solidFill>
                  <a:srgbClr val="333333"/>
                </a:solidFill>
                <a:effectLst/>
                <a:latin typeface="Helvetica Neue"/>
              </a:rPr>
              <a:t>CDM</a:t>
            </a:r>
            <a:r>
              <a:rPr lang="zh-CN" altLang="en-US" b="0" i="0" dirty="0">
                <a:solidFill>
                  <a:srgbClr val="333333"/>
                </a:solidFill>
                <a:effectLst/>
                <a:latin typeface="Helvetica Neue"/>
              </a:rPr>
              <a:t>的底层思维和互联网社群思维是不谋而合的，可以说这是一种不仅仅依赖线上的一种社群思维，所以做法上我们可以通过线上社群和线下社群的方式来扩展）</a:t>
            </a:r>
            <a:endParaRPr lang="en-US" altLang="zh-CN" b="0" i="0" dirty="0">
              <a:solidFill>
                <a:srgbClr val="333333"/>
              </a:solidFill>
              <a:effectLst/>
              <a:latin typeface="Helvetica Neue"/>
            </a:endParaRPr>
          </a:p>
          <a:p>
            <a:endParaRPr lang="en-US" altLang="zh-CN" dirty="0"/>
          </a:p>
          <a:p>
            <a:r>
              <a:rPr lang="zh-CN" altLang="en-US" dirty="0"/>
              <a:t>智慧型：满足</a:t>
            </a:r>
            <a:r>
              <a:rPr lang="zh-CN" altLang="en-US" b="0" i="0" dirty="0">
                <a:solidFill>
                  <a:srgbClr val="333333"/>
                </a:solidFill>
                <a:effectLst/>
                <a:latin typeface="Helvetica Neue"/>
              </a:rPr>
              <a:t>人们对购物过程中个性化、即时化、便利化、互动化、精准化、碎片化等要求（开箱中要充分表现出的特点）</a:t>
            </a:r>
            <a:endParaRPr lang="en-US" altLang="zh-CN" b="0" i="0" dirty="0">
              <a:solidFill>
                <a:srgbClr val="333333"/>
              </a:solidFill>
              <a:effectLst/>
              <a:latin typeface="Helvetica Neue"/>
            </a:endParaRPr>
          </a:p>
          <a:p>
            <a:endParaRPr lang="en-US" altLang="zh-CN" dirty="0"/>
          </a:p>
          <a:p>
            <a:r>
              <a:rPr lang="zh-CN" altLang="en-US" dirty="0"/>
              <a:t>体验式：</a:t>
            </a:r>
            <a:r>
              <a:rPr lang="zh-CN" altLang="en-US" b="0" i="0" dirty="0">
                <a:solidFill>
                  <a:srgbClr val="333333"/>
                </a:solidFill>
                <a:effectLst/>
                <a:latin typeface="Helvetica Neue"/>
              </a:rPr>
              <a:t>人们的消费观念将逐渐从价格消费向价值消费进行过渡和转变，购物体验的好坏将愈发成为决定消费者是否进行买单的关键性因素。（这里注意产品嘉年华和各市场活动</a:t>
            </a:r>
            <a:r>
              <a:rPr lang="en-US" altLang="zh-CN" b="0" i="0" dirty="0">
                <a:solidFill>
                  <a:srgbClr val="333333"/>
                </a:solidFill>
                <a:effectLst/>
                <a:latin typeface="Helvetica Neue"/>
              </a:rPr>
              <a:t>+</a:t>
            </a:r>
            <a:r>
              <a:rPr lang="zh-CN" altLang="en-US" b="0" i="0" dirty="0">
                <a:solidFill>
                  <a:srgbClr val="333333"/>
                </a:solidFill>
                <a:effectLst/>
                <a:latin typeface="Helvetica Neue"/>
              </a:rPr>
              <a:t>生活馆才是我们的完整体验终端。）</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体验式”的经营方式就是通过利用线下实体店面，将产品嵌入到所创设的各种真实生活场景之中，赋予消费者全面深入了解商品和服务的直接机会，从而触发消费者视觉、听觉、味觉等方面的综合反馈，在增进人们参与感与获得感的同时，也使线下平台的价值得以进一步发现。</a:t>
            </a:r>
            <a:endParaRPr lang="en-US" altLang="zh-CN" dirty="0"/>
          </a:p>
          <a:p>
            <a:endParaRPr lang="en-US" altLang="zh-CN" dirty="0"/>
          </a:p>
          <a:p>
            <a:r>
              <a:rPr lang="zh-CN" altLang="en-US" b="0" i="0" dirty="0">
                <a:solidFill>
                  <a:srgbClr val="333333"/>
                </a:solidFill>
                <a:effectLst/>
                <a:latin typeface="Helvetica Neue"/>
              </a:rPr>
              <a:t>新零售的商业系统是由主体企业与</a:t>
            </a:r>
            <a:r>
              <a:rPr lang="zh-CN" altLang="en-US" b="0" i="0" dirty="0">
                <a:solidFill>
                  <a:srgbClr val="FF0000"/>
                </a:solidFill>
                <a:effectLst/>
                <a:latin typeface="Helvetica Neue"/>
              </a:rPr>
              <a:t>共生企业群（经营者的角色定位）</a:t>
            </a:r>
            <a:r>
              <a:rPr lang="zh-CN" altLang="en-US" b="0" i="0" dirty="0">
                <a:solidFill>
                  <a:srgbClr val="333333"/>
                </a:solidFill>
                <a:effectLst/>
                <a:latin typeface="Helvetica Neue"/>
              </a:rPr>
              <a:t>以及消费者所共同组成的，且表现为一种联系紧密、动态平衡、互为依赖的状态。</a:t>
            </a:r>
            <a:endParaRPr lang="zh-CN" altLang="en-US" dirty="0"/>
          </a:p>
        </p:txBody>
      </p:sp>
    </p:spTree>
    <p:extLst>
      <p:ext uri="{BB962C8B-B14F-4D97-AF65-F5344CB8AC3E}">
        <p14:creationId xmlns:p14="http://schemas.microsoft.com/office/powerpoint/2010/main" val="658545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2CF0EED-B394-4249-92E8-C9994478790D}"/>
              </a:ext>
            </a:extLst>
          </p:cNvPr>
          <p:cNvSpPr txBox="1"/>
          <p:nvPr/>
        </p:nvSpPr>
        <p:spPr>
          <a:xfrm>
            <a:off x="484816" y="282298"/>
            <a:ext cx="11132360" cy="6463308"/>
          </a:xfrm>
          <a:prstGeom prst="rect">
            <a:avLst/>
          </a:prstGeom>
          <a:noFill/>
        </p:spPr>
        <p:txBody>
          <a:bodyPr wrap="square" rtlCol="0">
            <a:spAutoFit/>
          </a:bodyPr>
          <a:lstStyle/>
          <a:p>
            <a:r>
              <a:rPr lang="zh-CN" altLang="en-US" dirty="0"/>
              <a:t>什么叫经营美乐家？</a:t>
            </a:r>
            <a:endParaRPr lang="en-US" altLang="zh-CN" dirty="0"/>
          </a:p>
          <a:p>
            <a:r>
              <a:rPr lang="zh-CN" altLang="en-US" dirty="0"/>
              <a:t>美乐家为我们提供所有产品以及产品的升级和研发，包括生产、仓储、物流、部分售后以及财务，我们这个身份像是产品经理一样，为终端用户服务。</a:t>
            </a:r>
            <a:endParaRPr lang="en-US" altLang="zh-CN" dirty="0"/>
          </a:p>
          <a:p>
            <a:r>
              <a:rPr lang="zh-CN" altLang="en-US" dirty="0"/>
              <a:t>对客户及潜在客户进行</a:t>
            </a:r>
            <a:r>
              <a:rPr lang="zh-CN" altLang="en-US" b="0" i="0" dirty="0">
                <a:solidFill>
                  <a:srgbClr val="333333"/>
                </a:solidFill>
                <a:effectLst/>
                <a:latin typeface="Helvetica Neue"/>
              </a:rPr>
              <a:t>需求收集，需求分析，通过使需求落地跟进客户进而转化潜在客户和转化客户进入团队、通过客户及团队人员的数据跟踪对团队进行培训，帮助团队人员定位运营、销售、客服等不同工作。</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潜在用户获客渠道：</a:t>
            </a:r>
            <a:endParaRPr lang="en-US" altLang="zh-CN" b="0" i="0" dirty="0">
              <a:solidFill>
                <a:srgbClr val="333333"/>
              </a:solidFill>
              <a:effectLst/>
              <a:latin typeface="Helvetica Neue"/>
            </a:endParaRPr>
          </a:p>
          <a:p>
            <a:r>
              <a:rPr lang="zh-CN" altLang="en-US" dirty="0"/>
              <a:t>双线并行：线上社群</a:t>
            </a:r>
            <a:r>
              <a:rPr lang="en-US" altLang="zh-CN" dirty="0"/>
              <a:t>+</a:t>
            </a:r>
            <a:r>
              <a:rPr lang="zh-CN" altLang="en-US" dirty="0"/>
              <a:t>线下社群</a:t>
            </a:r>
            <a:endParaRPr lang="en-US" altLang="zh-CN" dirty="0"/>
          </a:p>
          <a:p>
            <a:r>
              <a:rPr lang="zh-CN" altLang="en-US" dirty="0"/>
              <a:t>根据我们的产品分类进行不同类别的社群运营，通过我们所售产品的特点来普及需求，引发购买动机，进行潜在客户转化。直播</a:t>
            </a:r>
            <a:r>
              <a:rPr lang="en-US" altLang="zh-CN" dirty="0"/>
              <a:t>+</a:t>
            </a:r>
            <a:r>
              <a:rPr lang="zh-CN" altLang="en-US" dirty="0"/>
              <a:t>社群转播的方式进行知识付费定位精准客户。（适合线上的产品类别有运动类、体重控制类、营养辅助类、美妆类和个人护理类）</a:t>
            </a:r>
            <a:endParaRPr lang="en-US" altLang="zh-CN" dirty="0"/>
          </a:p>
          <a:p>
            <a:r>
              <a:rPr lang="zh-CN" altLang="en-US" dirty="0"/>
              <a:t>精油类产品最好的方式是组织线下活动</a:t>
            </a:r>
            <a:endParaRPr lang="en-US" altLang="zh-CN" dirty="0"/>
          </a:p>
          <a:p>
            <a:r>
              <a:rPr lang="zh-CN" altLang="en-US" dirty="0"/>
              <a:t>清洁类的产品短视频的方式可以最直观的体现产品的效果</a:t>
            </a:r>
            <a:endParaRPr lang="en-US" altLang="zh-CN" dirty="0"/>
          </a:p>
          <a:p>
            <a:r>
              <a:rPr lang="zh-CN" altLang="en-US" dirty="0"/>
              <a:t>线下读书会的价值转化</a:t>
            </a:r>
            <a:endParaRPr lang="en-US" altLang="zh-CN" dirty="0"/>
          </a:p>
          <a:p>
            <a:endParaRPr lang="en-US" altLang="zh-CN" dirty="0"/>
          </a:p>
          <a:p>
            <a:r>
              <a:rPr lang="zh-CN" altLang="en-US" dirty="0"/>
              <a:t>转化后的服务</a:t>
            </a:r>
            <a:r>
              <a:rPr lang="zh-CN" altLang="en-US" dirty="0">
                <a:sym typeface="Wingdings" panose="05000000000000000000" pitchFamily="2" charset="2"/>
              </a:rPr>
              <a:t>：（目的使每个用户使用我们的品牌产品种类大于</a:t>
            </a:r>
            <a:r>
              <a:rPr lang="en-US" altLang="zh-CN" dirty="0">
                <a:sym typeface="Wingdings" panose="05000000000000000000" pitchFamily="2" charset="2"/>
              </a:rPr>
              <a:t>5</a:t>
            </a:r>
            <a:r>
              <a:rPr lang="zh-CN" altLang="en-US" dirty="0">
                <a:sym typeface="Wingdings" panose="05000000000000000000" pitchFamily="2" charset="2"/>
              </a:rPr>
              <a:t>种，产品数量大于</a:t>
            </a:r>
            <a:r>
              <a:rPr lang="en-US" altLang="zh-CN" dirty="0">
                <a:sym typeface="Wingdings" panose="05000000000000000000" pitchFamily="2" charset="2"/>
              </a:rPr>
              <a:t>25</a:t>
            </a:r>
            <a:r>
              <a:rPr lang="zh-CN" altLang="en-US" dirty="0">
                <a:sym typeface="Wingdings" panose="05000000000000000000" pitchFamily="2" charset="2"/>
              </a:rPr>
              <a:t>种）</a:t>
            </a:r>
            <a:endParaRPr lang="en-US" altLang="zh-CN" dirty="0"/>
          </a:p>
          <a:p>
            <a:r>
              <a:rPr lang="zh-CN" altLang="en-US" dirty="0"/>
              <a:t>第一次开箱：体现服务和产品的质量</a:t>
            </a:r>
            <a:endParaRPr lang="en-US" altLang="zh-CN" dirty="0"/>
          </a:p>
          <a:p>
            <a:r>
              <a:rPr lang="zh-CN" altLang="en-US" dirty="0"/>
              <a:t>首月跟进：持续挖需和服务质量</a:t>
            </a:r>
            <a:endParaRPr lang="en-US" altLang="zh-CN" dirty="0"/>
          </a:p>
          <a:p>
            <a:r>
              <a:rPr lang="zh-CN" altLang="en-US" dirty="0"/>
              <a:t>首月的开箱及跟进目的是让新用户感受到我们的服务质量以及过硬的产品质量和相对性价比，要将公司的产品优势充分地传递出去</a:t>
            </a:r>
            <a:endParaRPr lang="en-US" altLang="zh-CN" dirty="0"/>
          </a:p>
          <a:p>
            <a:r>
              <a:rPr lang="zh-CN" altLang="en-US" dirty="0"/>
              <a:t>次月跟进：创造需求的过程和渗透式的将公司的经营优势传递出去</a:t>
            </a:r>
            <a:endParaRPr lang="en-US" altLang="zh-CN" dirty="0"/>
          </a:p>
          <a:p>
            <a:r>
              <a:rPr lang="zh-CN" altLang="en-US" dirty="0"/>
              <a:t>第三个月：能否转化客户进入团队经营的时刻，方法就是制造焦虑和赋予价值</a:t>
            </a:r>
            <a:endParaRPr lang="en-US" altLang="zh-CN" dirty="0"/>
          </a:p>
        </p:txBody>
      </p:sp>
    </p:spTree>
    <p:extLst>
      <p:ext uri="{BB962C8B-B14F-4D97-AF65-F5344CB8AC3E}">
        <p14:creationId xmlns:p14="http://schemas.microsoft.com/office/powerpoint/2010/main" val="611242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A5357D4-220C-49C0-861F-5501841CB486}"/>
              </a:ext>
            </a:extLst>
          </p:cNvPr>
          <p:cNvSpPr txBox="1"/>
          <p:nvPr/>
        </p:nvSpPr>
        <p:spPr>
          <a:xfrm>
            <a:off x="288435" y="190244"/>
            <a:ext cx="11635586" cy="1754326"/>
          </a:xfrm>
          <a:prstGeom prst="rect">
            <a:avLst/>
          </a:prstGeom>
          <a:noFill/>
        </p:spPr>
        <p:txBody>
          <a:bodyPr wrap="square" rtlCol="0">
            <a:spAutoFit/>
          </a:bodyPr>
          <a:lstStyle/>
          <a:p>
            <a:r>
              <a:rPr lang="zh-CN" altLang="en-US" dirty="0"/>
              <a:t>开始经营前需要具备的能力：</a:t>
            </a:r>
            <a:endParaRPr lang="en-US" altLang="zh-CN" dirty="0"/>
          </a:p>
          <a:p>
            <a:r>
              <a:rPr lang="en-US" altLang="zh-CN" dirty="0"/>
              <a:t>1.</a:t>
            </a:r>
            <a:r>
              <a:rPr lang="zh-CN" altLang="en-US" dirty="0"/>
              <a:t>掌握</a:t>
            </a:r>
            <a:r>
              <a:rPr lang="en-US" altLang="zh-CN" dirty="0"/>
              <a:t>5</a:t>
            </a:r>
            <a:r>
              <a:rPr lang="zh-CN" altLang="en-US" dirty="0"/>
              <a:t>类产品每类至少</a:t>
            </a:r>
            <a:r>
              <a:rPr lang="en-US" altLang="zh-CN" dirty="0"/>
              <a:t>5</a:t>
            </a:r>
            <a:r>
              <a:rPr lang="zh-CN" altLang="en-US" dirty="0"/>
              <a:t>种明星产品全面的内容</a:t>
            </a:r>
            <a:endParaRPr lang="en-US" altLang="zh-CN" dirty="0"/>
          </a:p>
          <a:p>
            <a:r>
              <a:rPr lang="en-US" altLang="zh-CN" dirty="0"/>
              <a:t>2.</a:t>
            </a:r>
            <a:r>
              <a:rPr lang="zh-CN" altLang="en-US" dirty="0"/>
              <a:t>充分学习美乐家公司的企业历史和企业文化 </a:t>
            </a:r>
            <a:endParaRPr lang="en-US" altLang="zh-CN" dirty="0"/>
          </a:p>
          <a:p>
            <a:r>
              <a:rPr lang="en-US" altLang="zh-CN" dirty="0"/>
              <a:t>3.</a:t>
            </a:r>
            <a:r>
              <a:rPr lang="zh-CN" altLang="en-US" dirty="0"/>
              <a:t>具备上</a:t>
            </a:r>
            <a:r>
              <a:rPr lang="en-US" altLang="zh-CN" dirty="0"/>
              <a:t>	D</a:t>
            </a:r>
            <a:r>
              <a:rPr lang="zh-CN" altLang="en-US" dirty="0"/>
              <a:t>的</a:t>
            </a:r>
            <a:r>
              <a:rPr lang="en-US" altLang="zh-CN" dirty="0"/>
              <a:t>A</a:t>
            </a:r>
            <a:r>
              <a:rPr lang="zh-CN" altLang="en-US" dirty="0"/>
              <a:t>类名单</a:t>
            </a:r>
            <a:endParaRPr lang="en-US" altLang="zh-CN" dirty="0"/>
          </a:p>
          <a:p>
            <a:r>
              <a:rPr lang="en-US" altLang="zh-CN" dirty="0"/>
              <a:t>4.</a:t>
            </a:r>
            <a:r>
              <a:rPr lang="zh-CN" altLang="en-US" dirty="0"/>
              <a:t>学会开箱与跟进的内容和逻辑</a:t>
            </a:r>
            <a:endParaRPr lang="en-US" altLang="zh-CN" dirty="0"/>
          </a:p>
          <a:p>
            <a:r>
              <a:rPr lang="en-US" altLang="zh-CN" dirty="0"/>
              <a:t>5.</a:t>
            </a:r>
            <a:r>
              <a:rPr lang="zh-CN" altLang="en-US" dirty="0"/>
              <a:t>学会转化潜在经营者的思维逻辑</a:t>
            </a:r>
            <a:endParaRPr lang="en-US" altLang="zh-CN" dirty="0"/>
          </a:p>
        </p:txBody>
      </p:sp>
    </p:spTree>
    <p:extLst>
      <p:ext uri="{BB962C8B-B14F-4D97-AF65-F5344CB8AC3E}">
        <p14:creationId xmlns:p14="http://schemas.microsoft.com/office/powerpoint/2010/main" val="1156952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57281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C7EDCC"/>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TotalTime>
  <Words>1202</Words>
  <Application>Microsoft Office PowerPoint</Application>
  <PresentationFormat>宽屏</PresentationFormat>
  <Paragraphs>49</Paragraphs>
  <Slides>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vt:i4>
      </vt:variant>
    </vt:vector>
  </HeadingPairs>
  <TitlesOfParts>
    <vt:vector size="10" baseType="lpstr">
      <vt:lpstr>Helvetica Neue</vt: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AG-hnoy 涵</dc:creator>
  <cp:lastModifiedBy>AG-hnoy 涵</cp:lastModifiedBy>
  <cp:revision>1</cp:revision>
  <dcterms:created xsi:type="dcterms:W3CDTF">2022-02-02T22:14:35Z</dcterms:created>
  <dcterms:modified xsi:type="dcterms:W3CDTF">2022-02-03T04:50:38Z</dcterms:modified>
</cp:coreProperties>
</file>